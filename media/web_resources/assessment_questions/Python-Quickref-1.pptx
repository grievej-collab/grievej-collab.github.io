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0" r:id="rId1"/>
  </p:sldMasterIdLst>
  <p:notesMasterIdLst>
    <p:notesMasterId r:id="rId17"/>
  </p:notesMasterIdLst>
  <p:sldIdLst>
    <p:sldId id="256" r:id="rId2"/>
    <p:sldId id="262" r:id="rId3"/>
    <p:sldId id="257" r:id="rId4"/>
    <p:sldId id="258" r:id="rId5"/>
    <p:sldId id="259" r:id="rId6"/>
    <p:sldId id="265" r:id="rId7"/>
    <p:sldId id="260" r:id="rId8"/>
    <p:sldId id="261" r:id="rId9"/>
    <p:sldId id="263" r:id="rId10"/>
    <p:sldId id="269" r:id="rId11"/>
    <p:sldId id="266" r:id="rId12"/>
    <p:sldId id="267" r:id="rId13"/>
    <p:sldId id="264" r:id="rId14"/>
    <p:sldId id="270" r:id="rId15"/>
    <p:sldId id="271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155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AF86A3-040D-F348-9D49-8A527FAB23D4}" type="datetimeFigureOut">
              <a:rPr lang="en-US" smtClean="0"/>
              <a:t>6/24/2022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CC3DB-73FA-864D-86BD-72C36F74F9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088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CC3DB-73FA-864D-86BD-72C36F74F96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719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432C8-69A7-458B-9684-2BFA64B31948}" type="datetime2">
              <a:rPr lang="en-US" smtClean="0"/>
              <a:t>Friday, June 24, 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6A3A3-94A6-4E5B-AF39-173ACA3E61CC}" type="datetime2">
              <a:rPr lang="en-US" smtClean="0"/>
              <a:t>Friday, June 24, 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3D019-A32C-4EAD-B8E6-DBDA699692FD}" type="datetime2">
              <a:rPr lang="en-US" smtClean="0"/>
              <a:t>Friday, June 24, 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BA98F-560C-4997-81C4-81D4D9187EAB}" type="datetime2">
              <a:rPr lang="en-US" smtClean="0"/>
              <a:t>Friday, June 24, 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972B2-CA5C-437D-87D0-8081271A9E4B}" type="datetime2">
              <a:rPr lang="en-US" smtClean="0"/>
              <a:t>Friday, June 24, 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D4847-11EF-4466-A8AD-85CDB7B49118}" type="datetime2">
              <a:rPr lang="en-US" smtClean="0"/>
              <a:t>Friday, June 24, 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457A-3AB9-4880-8A0C-9F8524491207}" type="datetime2">
              <a:rPr lang="en-US" smtClean="0"/>
              <a:t>Friday, June 24, 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976D3-5B7F-4300-ABED-C91F1B2AE209}" type="datetime2">
              <a:rPr lang="en-US" smtClean="0"/>
              <a:t>Friday, June 24, 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CA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C1E59-17DD-41CE-97CA-624A472382D4}" type="datetime2">
              <a:rPr lang="en-US" smtClean="0"/>
              <a:t>Friday, June 24, 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057FC-95B6-4D89-AFDA-ABA33EE921E5}" type="datetime2">
              <a:rPr lang="en-US" smtClean="0"/>
              <a:t>Friday, June 24, 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549AC-EB31-477F-92A9-B1988E232878}" type="datetime2">
              <a:rPr lang="en-US" smtClean="0"/>
              <a:t>Friday, June 24, 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A80CB818-7379-467D-8E76-EF9D9074A26C}" type="datetime2">
              <a:rPr lang="en-US" smtClean="0"/>
              <a:t>Friday, June 24, 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0CFEC368-1D7A-4F81-ABF6-AE0E36BAF64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doc.pyschools.com/html/list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</a:t>
            </a:r>
            <a:r>
              <a:rPr lang="en-US" dirty="0" err="1"/>
              <a:t>QuickREF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Comp </a:t>
            </a:r>
            <a:r>
              <a:rPr lang="en-US" dirty="0" err="1"/>
              <a:t>Sci</a:t>
            </a:r>
            <a:r>
              <a:rPr lang="en-US" dirty="0"/>
              <a:t> 20 – Running Through the Basics</a:t>
            </a:r>
          </a:p>
        </p:txBody>
      </p:sp>
    </p:spTree>
    <p:extLst>
      <p:ext uri="{BB962C8B-B14F-4D97-AF65-F5344CB8AC3E}">
        <p14:creationId xmlns:p14="http://schemas.microsoft.com/office/powerpoint/2010/main" val="3969559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Always remember: Whitespace Matters!</a:t>
            </a:r>
          </a:p>
          <a:p>
            <a:r>
              <a:rPr lang="en-US" dirty="0"/>
              <a:t>If you do not indent your code correctly, it will not work.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 = 5</a:t>
            </a:r>
          </a:p>
          <a:p>
            <a:pPr marL="0" indent="0">
              <a:buNone/>
            </a:pPr>
            <a:r>
              <a:rPr lang="en-US" dirty="0"/>
              <a:t>if a &gt; 3:</a:t>
            </a:r>
          </a:p>
          <a:p>
            <a:pPr marL="0" indent="0">
              <a:buNone/>
            </a:pPr>
            <a:r>
              <a:rPr lang="en-US" dirty="0"/>
              <a:t>    print(“Yeah, it’s bigger”)        # this will work just fine</a:t>
            </a:r>
          </a:p>
          <a:p>
            <a:pPr marL="0" indent="0">
              <a:buNone/>
            </a:pPr>
            <a:r>
              <a:rPr lang="en-US" dirty="0"/>
              <a:t>----------------------------------------------------------------------------</a:t>
            </a:r>
          </a:p>
          <a:p>
            <a:pPr marL="0" indent="0">
              <a:buNone/>
            </a:pPr>
            <a:r>
              <a:rPr lang="en-US" dirty="0"/>
              <a:t>a = 5</a:t>
            </a:r>
          </a:p>
          <a:p>
            <a:pPr marL="0" indent="0">
              <a:buNone/>
            </a:pPr>
            <a:r>
              <a:rPr lang="en-US" dirty="0"/>
              <a:t>if a &gt; 3:</a:t>
            </a:r>
          </a:p>
          <a:p>
            <a:pPr marL="0" indent="0">
              <a:buNone/>
            </a:pPr>
            <a:r>
              <a:rPr lang="en-US" dirty="0"/>
              <a:t>print(“Yeah, it’s bigger”)            # this will not work!</a:t>
            </a:r>
          </a:p>
        </p:txBody>
      </p:sp>
    </p:spTree>
    <p:extLst>
      <p:ext uri="{BB962C8B-B14F-4D97-AF65-F5344CB8AC3E}">
        <p14:creationId xmlns:p14="http://schemas.microsoft.com/office/powerpoint/2010/main" val="1416717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 and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Variables can’t be keywords, and should start with a letter</a:t>
            </a:r>
          </a:p>
          <a:p>
            <a:endParaRPr lang="en-US" dirty="0"/>
          </a:p>
          <a:p>
            <a:r>
              <a:rPr lang="en-US" dirty="0"/>
              <a:t>The fundamental data types we need to know are:</a:t>
            </a:r>
          </a:p>
          <a:p>
            <a:pPr lvl="1"/>
            <a:r>
              <a:rPr lang="en-US" dirty="0" err="1"/>
              <a:t>int</a:t>
            </a:r>
            <a:r>
              <a:rPr lang="en-US" dirty="0"/>
              <a:t> (integer)</a:t>
            </a:r>
          </a:p>
          <a:p>
            <a:pPr lvl="1"/>
            <a:r>
              <a:rPr lang="en-US" dirty="0"/>
              <a:t>float (floating point)</a:t>
            </a:r>
          </a:p>
          <a:p>
            <a:pPr lvl="1"/>
            <a:r>
              <a:rPr lang="en-US" dirty="0" err="1"/>
              <a:t>str</a:t>
            </a:r>
            <a:r>
              <a:rPr lang="en-US" dirty="0"/>
              <a:t> (string)</a:t>
            </a:r>
          </a:p>
          <a:p>
            <a:pPr lvl="1"/>
            <a:r>
              <a:rPr lang="en-US" dirty="0" err="1"/>
              <a:t>bool</a:t>
            </a:r>
            <a:r>
              <a:rPr lang="en-US" dirty="0"/>
              <a:t> (</a:t>
            </a:r>
            <a:r>
              <a:rPr lang="en-US" dirty="0" err="1"/>
              <a:t>boolean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Can check the data type of a variable like this:</a:t>
            </a:r>
          </a:p>
          <a:p>
            <a:pPr marL="0" indent="0">
              <a:buNone/>
            </a:pPr>
            <a:r>
              <a:rPr lang="en-US" dirty="0"/>
              <a:t>	&gt;&gt;&gt; a = 5.4</a:t>
            </a:r>
          </a:p>
          <a:p>
            <a:pPr marL="0" indent="0">
              <a:buNone/>
            </a:pPr>
            <a:r>
              <a:rPr lang="en-US" dirty="0"/>
              <a:t>	&gt;&gt;&gt; type(a)    #would return ‘float’</a:t>
            </a:r>
          </a:p>
        </p:txBody>
      </p:sp>
    </p:spTree>
    <p:extLst>
      <p:ext uri="{BB962C8B-B14F-4D97-AF65-F5344CB8AC3E}">
        <p14:creationId xmlns:p14="http://schemas.microsoft.com/office/powerpoint/2010/main" val="3761619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 Between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convert between data types using:</a:t>
            </a:r>
          </a:p>
          <a:p>
            <a:pPr lvl="1"/>
            <a:r>
              <a:rPr lang="en-US" dirty="0" err="1"/>
              <a:t>str</a:t>
            </a:r>
            <a:r>
              <a:rPr lang="en-US" dirty="0"/>
              <a:t>(x)</a:t>
            </a:r>
          </a:p>
          <a:p>
            <a:pPr lvl="1"/>
            <a:r>
              <a:rPr lang="en-US" dirty="0" err="1"/>
              <a:t>int</a:t>
            </a:r>
            <a:r>
              <a:rPr lang="en-US" dirty="0"/>
              <a:t>(x)</a:t>
            </a:r>
          </a:p>
          <a:p>
            <a:pPr lvl="1"/>
            <a:r>
              <a:rPr lang="en-US" dirty="0"/>
              <a:t>float(x)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&gt;&gt;&gt; a = 4</a:t>
            </a:r>
          </a:p>
          <a:p>
            <a:pPr marL="0" indent="0">
              <a:buNone/>
            </a:pPr>
            <a:r>
              <a:rPr lang="en-US" dirty="0"/>
              <a:t>	&gt;&gt;&gt; b = </a:t>
            </a:r>
            <a:r>
              <a:rPr lang="en-US" dirty="0" err="1"/>
              <a:t>str</a:t>
            </a:r>
            <a:r>
              <a:rPr lang="en-US" dirty="0"/>
              <a:t>(a)   #b is now the string ‘4’</a:t>
            </a:r>
          </a:p>
          <a:p>
            <a:pPr marL="0" indent="0">
              <a:buNone/>
            </a:pPr>
            <a:r>
              <a:rPr lang="en-US" dirty="0"/>
              <a:t>	&gt;&gt;&gt; c = float(b)  #c is now the float 4.0</a:t>
            </a:r>
          </a:p>
        </p:txBody>
      </p:sp>
    </p:spTree>
    <p:extLst>
      <p:ext uri="{BB962C8B-B14F-4D97-AF65-F5344CB8AC3E}">
        <p14:creationId xmlns:p14="http://schemas.microsoft.com/office/powerpoint/2010/main" val="140899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Math Operators</a:t>
            </a:r>
          </a:p>
        </p:txBody>
      </p:sp>
      <p:pic>
        <p:nvPicPr>
          <p:cNvPr id="4" name="Content Placeholder 3" descr="Screen Shot 2013-07-08 at 10.09.01 A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5173" b="-2517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351855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Shortcuts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some handy </a:t>
            </a:r>
            <a:r>
              <a:rPr lang="en-US" dirty="0" err="1"/>
              <a:t>shorcuts</a:t>
            </a:r>
            <a:r>
              <a:rPr lang="en-US" dirty="0"/>
              <a:t> you can use, seen below:</a:t>
            </a:r>
          </a:p>
          <a:p>
            <a:pPr marL="0" indent="0">
              <a:buNone/>
            </a:pPr>
            <a:r>
              <a:rPr lang="en-US" dirty="0"/>
              <a:t>	&gt;&gt;&gt; a = 5</a:t>
            </a:r>
          </a:p>
          <a:p>
            <a:pPr marL="0" indent="0">
              <a:buNone/>
            </a:pPr>
            <a:r>
              <a:rPr lang="en-US" dirty="0"/>
              <a:t>	&gt;&gt;&gt; a = a + 1 	# a is now 6</a:t>
            </a:r>
          </a:p>
          <a:p>
            <a:pPr marL="0" indent="0">
              <a:buNone/>
            </a:pPr>
            <a:r>
              <a:rPr lang="en-US" dirty="0"/>
              <a:t>	&gt;&gt;&gt; a += 1		# a is now 7</a:t>
            </a:r>
          </a:p>
          <a:p>
            <a:pPr marL="0" indent="0">
              <a:buNone/>
            </a:pPr>
            <a:r>
              <a:rPr lang="en-US" dirty="0"/>
              <a:t>	&gt;&gt;&gt; a = a - 2		# a is now 5</a:t>
            </a:r>
          </a:p>
          <a:p>
            <a:pPr marL="0" indent="0">
              <a:buNone/>
            </a:pPr>
            <a:r>
              <a:rPr lang="en-US" dirty="0"/>
              <a:t>	&gt;&gt;&gt; a -= 2		# a is now 3</a:t>
            </a:r>
          </a:p>
          <a:p>
            <a:pPr marL="0" indent="0">
              <a:buNone/>
            </a:pPr>
            <a:r>
              <a:rPr lang="en-US" dirty="0"/>
              <a:t>	&gt;&gt;&gt; a = a * 2		# a is now 6</a:t>
            </a:r>
          </a:p>
          <a:p>
            <a:pPr marL="0" indent="0">
              <a:buNone/>
            </a:pPr>
            <a:r>
              <a:rPr lang="en-US" dirty="0"/>
              <a:t>	&gt;&gt;&gt; a *= 2		# a is now 12</a:t>
            </a:r>
          </a:p>
          <a:p>
            <a:pPr marL="0" indent="0">
              <a:buNone/>
            </a:pPr>
            <a:r>
              <a:rPr lang="en-US" dirty="0"/>
              <a:t>	&gt;&gt;&gt; a = a / 2		# a is now 6</a:t>
            </a:r>
          </a:p>
          <a:p>
            <a:pPr marL="0" indent="0">
              <a:buNone/>
            </a:pPr>
            <a:r>
              <a:rPr lang="en-US" dirty="0"/>
              <a:t>	&gt;&gt;&gt; a /= 3		# a is now 2</a:t>
            </a:r>
          </a:p>
        </p:txBody>
      </p:sp>
    </p:spTree>
    <p:extLst>
      <p:ext uri="{BB962C8B-B14F-4D97-AF65-F5344CB8AC3E}">
        <p14:creationId xmlns:p14="http://schemas.microsoft.com/office/powerpoint/2010/main" val="454292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Control Structures</a:t>
            </a:r>
          </a:p>
        </p:txBody>
      </p:sp>
      <p:pic>
        <p:nvPicPr>
          <p:cNvPr id="4" name="Content Placeholder 3" descr="Screen Shot 2013-07-08 at 10.10.47 A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172" r="-617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481099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Python Control Structures - Cont.</a:t>
            </a:r>
          </a:p>
        </p:txBody>
      </p:sp>
      <p:pic>
        <p:nvPicPr>
          <p:cNvPr id="4" name="Content Placeholder 3" descr="Screen Shot 2013-07-08 at 10.15.00 A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0176" b="-1017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904904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Just like you were able to teach Guido new instructions, you can teach Python new instructions (called functions)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err="1">
                <a:latin typeface="Consolas"/>
                <a:cs typeface="Consolas"/>
              </a:rPr>
              <a:t>def</a:t>
            </a:r>
            <a:r>
              <a:rPr lang="en-US" dirty="0">
                <a:latin typeface="Consolas"/>
                <a:cs typeface="Consolas"/>
              </a:rPr>
              <a:t> </a:t>
            </a:r>
            <a:r>
              <a:rPr lang="en-US" dirty="0" err="1">
                <a:latin typeface="Consolas"/>
                <a:cs typeface="Consolas"/>
              </a:rPr>
              <a:t>addingFunction</a:t>
            </a:r>
            <a:r>
              <a:rPr lang="en-US" dirty="0">
                <a:latin typeface="Consolas"/>
                <a:cs typeface="Consolas"/>
              </a:rPr>
              <a:t>(parameter1, parameter2):</a:t>
            </a:r>
          </a:p>
          <a:p>
            <a:pPr marL="0" indent="0">
              <a:buNone/>
            </a:pPr>
            <a:r>
              <a:rPr lang="en-US" dirty="0">
                <a:latin typeface="Consolas"/>
                <a:cs typeface="Consolas"/>
              </a:rPr>
              <a:t>    ”””A function that takes two parameters and        </a:t>
            </a:r>
            <a:br>
              <a:rPr lang="en-US" dirty="0">
                <a:latin typeface="Consolas"/>
                <a:cs typeface="Consolas"/>
              </a:rPr>
            </a:br>
            <a:r>
              <a:rPr lang="en-US" dirty="0">
                <a:latin typeface="Consolas"/>
                <a:cs typeface="Consolas"/>
              </a:rPr>
              <a:t>    adds them together”””</a:t>
            </a:r>
          </a:p>
          <a:p>
            <a:pPr marL="0" indent="0">
              <a:buNone/>
            </a:pPr>
            <a:r>
              <a:rPr lang="en-US" dirty="0">
                <a:latin typeface="Consolas"/>
                <a:cs typeface="Consolas"/>
              </a:rPr>
              <a:t>    result = parameter1 + parameter2</a:t>
            </a:r>
          </a:p>
          <a:p>
            <a:pPr marL="0" indent="0">
              <a:buNone/>
            </a:pPr>
            <a:r>
              <a:rPr lang="en-US" dirty="0">
                <a:latin typeface="Consolas"/>
                <a:cs typeface="Consolas"/>
              </a:rPr>
              <a:t>    return result</a:t>
            </a:r>
          </a:p>
          <a:p>
            <a:pPr marL="0" indent="0">
              <a:buNone/>
            </a:pPr>
            <a:endParaRPr lang="en-US" dirty="0">
              <a:latin typeface="Consolas"/>
              <a:cs typeface="Consolas"/>
            </a:endParaRPr>
          </a:p>
          <a:p>
            <a:pPr marL="0" indent="0">
              <a:buNone/>
            </a:pPr>
            <a:r>
              <a:rPr lang="en-US" dirty="0" err="1">
                <a:latin typeface="Consolas"/>
                <a:cs typeface="Consolas"/>
              </a:rPr>
              <a:t>addingFunction</a:t>
            </a:r>
            <a:r>
              <a:rPr lang="en-US" dirty="0">
                <a:latin typeface="Consolas"/>
                <a:cs typeface="Consolas"/>
              </a:rPr>
              <a:t>(4, 3)    #would equal 7</a:t>
            </a:r>
          </a:p>
        </p:txBody>
      </p:sp>
    </p:spTree>
    <p:extLst>
      <p:ext uri="{BB962C8B-B14F-4D97-AF65-F5344CB8AC3E}">
        <p14:creationId xmlns:p14="http://schemas.microsoft.com/office/powerpoint/2010/main" val="1234408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Python Functions/Modules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things are done so often, it seems like a waste for everyone to continually write the same code over and over. This is where Python modules come in…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&gt;&gt;&gt; import math</a:t>
            </a:r>
          </a:p>
          <a:p>
            <a:pPr marL="0" indent="0">
              <a:buNone/>
            </a:pPr>
            <a:r>
              <a:rPr lang="en-US" dirty="0"/>
              <a:t>	&gt;&gt;&gt; </a:t>
            </a:r>
            <a:r>
              <a:rPr lang="en-US" dirty="0" err="1"/>
              <a:t>math.sqrt</a:t>
            </a:r>
            <a:r>
              <a:rPr lang="en-US" dirty="0"/>
              <a:t>(16)	#would return 4</a:t>
            </a:r>
          </a:p>
          <a:p>
            <a:pPr marL="0" indent="0">
              <a:buNone/>
            </a:pPr>
            <a:r>
              <a:rPr lang="en-US" dirty="0"/>
              <a:t>	&gt;&gt;&gt; </a:t>
            </a:r>
            <a:r>
              <a:rPr lang="en-US" dirty="0" err="1"/>
              <a:t>math.cos</a:t>
            </a:r>
            <a:r>
              <a:rPr lang="en-US" dirty="0"/>
              <a:t>(0)	#would return 1</a:t>
            </a:r>
          </a:p>
          <a:p>
            <a:pPr marL="0" indent="0">
              <a:buNone/>
            </a:pPr>
            <a:r>
              <a:rPr lang="en-US" dirty="0"/>
              <a:t>	&gt;&gt;&gt; import </a:t>
            </a:r>
            <a:r>
              <a:rPr lang="en-US" dirty="0" err="1"/>
              <a:t>webbrowser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&gt;&gt;&gt; </a:t>
            </a:r>
            <a:r>
              <a:rPr lang="en-US" dirty="0" err="1"/>
              <a:t>webbrowser.open</a:t>
            </a:r>
            <a:r>
              <a:rPr lang="en-US" dirty="0"/>
              <a:t>(“http://</a:t>
            </a:r>
            <a:r>
              <a:rPr lang="en-US" dirty="0" err="1"/>
              <a:t>wmcicompsci.ca</a:t>
            </a:r>
            <a:r>
              <a:rPr lang="en-US" dirty="0"/>
              <a:t>”)</a:t>
            </a:r>
          </a:p>
          <a:p>
            <a:pPr marL="0" indent="0">
              <a:buNone/>
            </a:pPr>
            <a:r>
              <a:rPr lang="en-US" dirty="0"/>
              <a:t>	&gt;&gt;&gt; import random</a:t>
            </a:r>
          </a:p>
          <a:p>
            <a:pPr marL="0" indent="0">
              <a:buNone/>
            </a:pPr>
            <a:r>
              <a:rPr lang="en-US" dirty="0"/>
              <a:t>	&gt;&gt;&gt; </a:t>
            </a:r>
            <a:r>
              <a:rPr lang="en-US" dirty="0" err="1"/>
              <a:t>random.randint</a:t>
            </a:r>
            <a:r>
              <a:rPr lang="en-US" dirty="0"/>
              <a:t>(1,10) 	#an </a:t>
            </a:r>
            <a:r>
              <a:rPr lang="en-US" dirty="0" err="1"/>
              <a:t>int</a:t>
            </a:r>
            <a:r>
              <a:rPr lang="en-US" dirty="0"/>
              <a:t> from 1 to 10</a:t>
            </a:r>
          </a:p>
        </p:txBody>
      </p:sp>
    </p:spTree>
    <p:extLst>
      <p:ext uri="{BB962C8B-B14F-4D97-AF65-F5344CB8AC3E}">
        <p14:creationId xmlns:p14="http://schemas.microsoft.com/office/powerpoint/2010/main" val="11116684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</a:t>
            </a:r>
            <a:r>
              <a:rPr lang="en-US" dirty="0" err="1"/>
              <a:t>Input/Output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Standard Input</a:t>
            </a:r>
          </a:p>
          <a:p>
            <a:pPr lvl="1"/>
            <a:r>
              <a:rPr lang="en-US" dirty="0"/>
              <a:t>input(“Put your string prompt here: “)</a:t>
            </a:r>
          </a:p>
          <a:p>
            <a:pPr lvl="1"/>
            <a:r>
              <a:rPr lang="en-US" dirty="0"/>
              <a:t>will always return a string as the result – you will need to convert it to an </a:t>
            </a:r>
            <a:r>
              <a:rPr lang="en-US" dirty="0" err="1"/>
              <a:t>int</a:t>
            </a:r>
            <a:r>
              <a:rPr lang="en-US" dirty="0"/>
              <a:t> or a float if you are expecting a number</a:t>
            </a:r>
          </a:p>
          <a:p>
            <a:endParaRPr lang="en-US" dirty="0"/>
          </a:p>
          <a:p>
            <a:r>
              <a:rPr lang="en-US" dirty="0"/>
              <a:t>Standard Output</a:t>
            </a:r>
          </a:p>
          <a:p>
            <a:pPr lvl="1"/>
            <a:r>
              <a:rPr lang="en-US" dirty="0"/>
              <a:t>print(“Whatever it is you want to print. Any data type is fine.”)</a:t>
            </a:r>
          </a:p>
          <a:p>
            <a:pPr lvl="1"/>
            <a:r>
              <a:rPr lang="en-US" dirty="0"/>
              <a:t>will print to the standard output (usually the python console/interpreter)</a:t>
            </a:r>
          </a:p>
          <a:p>
            <a:endParaRPr lang="en-US" dirty="0"/>
          </a:p>
          <a:p>
            <a:r>
              <a:rPr lang="en-US" dirty="0"/>
              <a:t>Can also read/write to files on disk, on the web, etc. but we’ll check that out a bit later.</a:t>
            </a:r>
          </a:p>
        </p:txBody>
      </p:sp>
    </p:spTree>
    <p:extLst>
      <p:ext uri="{BB962C8B-B14F-4D97-AF65-F5344CB8AC3E}">
        <p14:creationId xmlns:p14="http://schemas.microsoft.com/office/powerpoint/2010/main" val="895591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bit more Python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Going slightly beyond the basics…</a:t>
            </a:r>
          </a:p>
        </p:txBody>
      </p:sp>
    </p:spTree>
    <p:extLst>
      <p:ext uri="{BB962C8B-B14F-4D97-AF65-F5344CB8AC3E}">
        <p14:creationId xmlns:p14="http://schemas.microsoft.com/office/powerpoint/2010/main" val="3782595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string is a sequence of characters, usually used to store text. </a:t>
            </a:r>
          </a:p>
          <a:p>
            <a:r>
              <a:rPr lang="en-US" dirty="0"/>
              <a:t>creation: </a:t>
            </a:r>
          </a:p>
          <a:p>
            <a:pPr lvl="1"/>
            <a:r>
              <a:rPr lang="en-US" dirty="0" err="1"/>
              <a:t>the_string</a:t>
            </a:r>
            <a:r>
              <a:rPr lang="en-US" dirty="0"/>
              <a:t> = “Hello World!”</a:t>
            </a:r>
          </a:p>
          <a:p>
            <a:pPr lvl="1"/>
            <a:r>
              <a:rPr lang="en-US" dirty="0" err="1"/>
              <a:t>the_string</a:t>
            </a:r>
            <a:r>
              <a:rPr lang="en-US" dirty="0"/>
              <a:t> = ‘Hello World!’ </a:t>
            </a:r>
          </a:p>
          <a:p>
            <a:r>
              <a:rPr lang="en-US" dirty="0"/>
              <a:t>accessing particular character(s):</a:t>
            </a:r>
          </a:p>
          <a:p>
            <a:pPr lvl="1"/>
            <a:r>
              <a:rPr lang="en-US" dirty="0" err="1"/>
              <a:t>the_string</a:t>
            </a:r>
            <a:r>
              <a:rPr lang="en-US" dirty="0"/>
              <a:t>[4] 	# returns ‘o’</a:t>
            </a:r>
          </a:p>
          <a:p>
            <a:pPr lvl="1"/>
            <a:r>
              <a:rPr lang="en-US" dirty="0" err="1"/>
              <a:t>the_string</a:t>
            </a:r>
            <a:r>
              <a:rPr lang="en-US" dirty="0"/>
              <a:t>[1:3]	# returns ‘el’</a:t>
            </a:r>
          </a:p>
          <a:p>
            <a:pPr lvl="1"/>
            <a:r>
              <a:rPr lang="en-US" dirty="0" err="1"/>
              <a:t>the_string</a:t>
            </a:r>
            <a:r>
              <a:rPr lang="en-US" dirty="0"/>
              <a:t>[:5]	# returns ‘Hello’</a:t>
            </a:r>
          </a:p>
          <a:p>
            <a:pPr lvl="1"/>
            <a:r>
              <a:rPr lang="en-US" dirty="0" err="1"/>
              <a:t>the_string</a:t>
            </a:r>
            <a:r>
              <a:rPr lang="en-US" dirty="0"/>
              <a:t>[8:]	# returns ‘</a:t>
            </a:r>
            <a:r>
              <a:rPr lang="en-US" dirty="0" err="1"/>
              <a:t>rld</a:t>
            </a:r>
            <a:r>
              <a:rPr lang="en-US" dirty="0"/>
              <a:t>!’</a:t>
            </a:r>
          </a:p>
          <a:p>
            <a:pPr lvl="1"/>
            <a:r>
              <a:rPr lang="en-US" dirty="0" err="1"/>
              <a:t>the_string</a:t>
            </a:r>
            <a:r>
              <a:rPr lang="en-US" dirty="0"/>
              <a:t>[-2]	# returns ‘d’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20811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Lists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creation:</a:t>
            </a:r>
          </a:p>
          <a:p>
            <a:pPr lvl="1"/>
            <a:r>
              <a:rPr lang="tr-TR" dirty="0" err="1"/>
              <a:t>thelist</a:t>
            </a:r>
            <a:r>
              <a:rPr lang="tr-TR" dirty="0"/>
              <a:t> = [5,3,‘p’,9,‘e’] 			</a:t>
            </a:r>
            <a:r>
              <a:rPr lang="tr-TR" dirty="0" err="1"/>
              <a:t>thelist</a:t>
            </a:r>
            <a:r>
              <a:rPr lang="tr-TR" dirty="0"/>
              <a:t> is </a:t>
            </a:r>
            <a:r>
              <a:rPr lang="tr-TR" dirty="0" err="1"/>
              <a:t>now</a:t>
            </a:r>
            <a:r>
              <a:rPr lang="tr-TR" dirty="0"/>
              <a:t> [5,3,’p’,9,’e’] </a:t>
            </a:r>
          </a:p>
          <a:p>
            <a:r>
              <a:rPr lang="en-US" dirty="0"/>
              <a:t>accessing:</a:t>
            </a:r>
          </a:p>
          <a:p>
            <a:pPr lvl="1"/>
            <a:r>
              <a:rPr lang="en-US" dirty="0" err="1"/>
              <a:t>thelist</a:t>
            </a:r>
            <a:r>
              <a:rPr lang="en-US" dirty="0"/>
              <a:t>[0] 				returns 5</a:t>
            </a:r>
          </a:p>
          <a:p>
            <a:r>
              <a:rPr lang="en-US" dirty="0"/>
              <a:t>slicing:</a:t>
            </a:r>
          </a:p>
          <a:p>
            <a:pPr lvl="1"/>
            <a:r>
              <a:rPr lang="en-US" dirty="0" err="1"/>
              <a:t>thelist</a:t>
            </a:r>
            <a:r>
              <a:rPr lang="en-US" dirty="0"/>
              <a:t>[1:3]				returns [3, ‘p’]</a:t>
            </a:r>
          </a:p>
          <a:p>
            <a:pPr lvl="1"/>
            <a:r>
              <a:rPr lang="en-US" dirty="0" err="1"/>
              <a:t>thelist</a:t>
            </a:r>
            <a:r>
              <a:rPr lang="en-US" dirty="0"/>
              <a:t>[2:]				returns [‘p’, 9, ‘e’]</a:t>
            </a:r>
          </a:p>
          <a:p>
            <a:r>
              <a:rPr lang="en-US" dirty="0"/>
              <a:t>length:</a:t>
            </a:r>
          </a:p>
          <a:p>
            <a:pPr lvl="1"/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thelist</a:t>
            </a:r>
            <a:r>
              <a:rPr lang="en-US" dirty="0"/>
              <a:t>)				returns 5</a:t>
            </a:r>
          </a:p>
          <a:p>
            <a:r>
              <a:rPr lang="en-US" dirty="0"/>
              <a:t>add:</a:t>
            </a:r>
          </a:p>
          <a:p>
            <a:pPr lvl="1"/>
            <a:r>
              <a:rPr lang="en-US" dirty="0" err="1"/>
              <a:t>thelist.append</a:t>
            </a:r>
            <a:r>
              <a:rPr lang="en-US" dirty="0"/>
              <a:t>(37)			</a:t>
            </a:r>
            <a:r>
              <a:rPr lang="en-US" dirty="0" err="1"/>
              <a:t>thelist</a:t>
            </a:r>
            <a:r>
              <a:rPr lang="en-US" dirty="0"/>
              <a:t> is now </a:t>
            </a:r>
            <a:r>
              <a:rPr lang="tr-TR" dirty="0"/>
              <a:t>[5,3,’p’,9,’e’,37]</a:t>
            </a:r>
          </a:p>
          <a:p>
            <a:r>
              <a:rPr lang="tr-TR" dirty="0" err="1"/>
              <a:t>remove</a:t>
            </a:r>
            <a:r>
              <a:rPr lang="tr-TR" dirty="0"/>
              <a:t>:</a:t>
            </a:r>
          </a:p>
          <a:p>
            <a:pPr lvl="1"/>
            <a:r>
              <a:rPr lang="tr-TR" dirty="0" err="1"/>
              <a:t>thelist.remove</a:t>
            </a:r>
            <a:r>
              <a:rPr lang="tr-TR" dirty="0"/>
              <a:t>(‘e’)			</a:t>
            </a:r>
            <a:r>
              <a:rPr lang="tr-TR" dirty="0" err="1"/>
              <a:t>the</a:t>
            </a:r>
            <a:r>
              <a:rPr lang="en-US" dirty="0"/>
              <a:t>list is now </a:t>
            </a:r>
            <a:r>
              <a:rPr lang="tr-TR" dirty="0"/>
              <a:t>[5,3,’p’,9,37]</a:t>
            </a:r>
          </a:p>
          <a:p>
            <a:pPr lvl="1"/>
            <a:r>
              <a:rPr lang="tr-TR" dirty="0"/>
              <a:t>del </a:t>
            </a:r>
            <a:r>
              <a:rPr lang="tr-TR" dirty="0" err="1"/>
              <a:t>thelist</a:t>
            </a:r>
            <a:r>
              <a:rPr lang="tr-TR" dirty="0"/>
              <a:t>[0]				</a:t>
            </a:r>
            <a:r>
              <a:rPr lang="tr-TR" dirty="0" err="1"/>
              <a:t>the</a:t>
            </a:r>
            <a:r>
              <a:rPr lang="en-US" dirty="0"/>
              <a:t>list is now </a:t>
            </a:r>
            <a:r>
              <a:rPr lang="tr-TR" dirty="0"/>
              <a:t>[3,’p’,9,37]</a:t>
            </a:r>
          </a:p>
          <a:p>
            <a:r>
              <a:rPr lang="tr-TR" dirty="0" err="1"/>
              <a:t>finding</a:t>
            </a:r>
            <a:r>
              <a:rPr lang="tr-TR" dirty="0"/>
              <a:t>:</a:t>
            </a:r>
          </a:p>
          <a:p>
            <a:pPr lvl="1"/>
            <a:r>
              <a:rPr lang="tr-TR" dirty="0"/>
              <a:t>9 in </a:t>
            </a:r>
            <a:r>
              <a:rPr lang="tr-TR" dirty="0" err="1"/>
              <a:t>thelist</a:t>
            </a:r>
            <a:r>
              <a:rPr lang="tr-TR" dirty="0"/>
              <a:t>				</a:t>
            </a:r>
            <a:r>
              <a:rPr lang="tr-TR" dirty="0" err="1"/>
              <a:t>returns</a:t>
            </a:r>
            <a:r>
              <a:rPr lang="tr-TR" dirty="0"/>
              <a:t> True</a:t>
            </a:r>
          </a:p>
          <a:p>
            <a:pPr lvl="1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475111" y="887778"/>
            <a:ext cx="2933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More Details @ </a:t>
            </a:r>
            <a:r>
              <a:rPr lang="en-US" dirty="0" err="1">
                <a:hlinkClick r:id="rId3"/>
              </a:rPr>
              <a:t>PySchools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4910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and Text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read/write to text files quite easily:</a:t>
            </a:r>
          </a:p>
          <a:p>
            <a:r>
              <a:rPr lang="en-US" dirty="0"/>
              <a:t>Read</a:t>
            </a:r>
          </a:p>
          <a:p>
            <a:pPr lvl="1"/>
            <a:r>
              <a:rPr lang="en-US" dirty="0" err="1"/>
              <a:t>thisfile</a:t>
            </a:r>
            <a:r>
              <a:rPr lang="en-US" dirty="0"/>
              <a:t> = open(“</a:t>
            </a:r>
            <a:r>
              <a:rPr lang="en-US" dirty="0" err="1"/>
              <a:t>datadirectory</a:t>
            </a:r>
            <a:r>
              <a:rPr lang="en-US" dirty="0"/>
              <a:t>/</a:t>
            </a:r>
            <a:r>
              <a:rPr lang="en-US" dirty="0" err="1"/>
              <a:t>file.txt</a:t>
            </a:r>
            <a:r>
              <a:rPr lang="en-US" dirty="0"/>
              <a:t>”, ‘r’) </a:t>
            </a:r>
          </a:p>
          <a:p>
            <a:pPr lvl="1"/>
            <a:r>
              <a:rPr lang="en-US" dirty="0" err="1"/>
              <a:t>thisfile.read</a:t>
            </a:r>
            <a:r>
              <a:rPr lang="en-US" dirty="0"/>
              <a:t>() 		#reads entire file into one string</a:t>
            </a:r>
          </a:p>
          <a:p>
            <a:pPr lvl="1"/>
            <a:r>
              <a:rPr lang="en-US" dirty="0" err="1"/>
              <a:t>thisfile.readline</a:t>
            </a:r>
            <a:r>
              <a:rPr lang="en-US" dirty="0"/>
              <a:t>() 		#reads one line of a file</a:t>
            </a:r>
          </a:p>
          <a:p>
            <a:pPr lvl="1"/>
            <a:r>
              <a:rPr lang="en-US" dirty="0" err="1"/>
              <a:t>thisfile.readlines</a:t>
            </a:r>
            <a:r>
              <a:rPr lang="en-US" dirty="0"/>
              <a:t>() 		#reads entire file into a list of strings, 				one per line </a:t>
            </a:r>
          </a:p>
          <a:p>
            <a:pPr lvl="1"/>
            <a:r>
              <a:rPr lang="en-US" dirty="0"/>
              <a:t>for </a:t>
            </a:r>
            <a:r>
              <a:rPr lang="en-US" dirty="0" err="1"/>
              <a:t>eachline</a:t>
            </a:r>
            <a:r>
              <a:rPr lang="en-US" dirty="0"/>
              <a:t> in </a:t>
            </a:r>
            <a:r>
              <a:rPr lang="en-US" dirty="0" err="1"/>
              <a:t>thisfile</a:t>
            </a:r>
            <a:r>
              <a:rPr lang="en-US" dirty="0"/>
              <a:t>: 	#steps through lines in a file </a:t>
            </a:r>
          </a:p>
          <a:p>
            <a:r>
              <a:rPr lang="en-US" dirty="0"/>
              <a:t>Write</a:t>
            </a:r>
          </a:p>
          <a:p>
            <a:pPr lvl="1"/>
            <a:r>
              <a:rPr lang="en-US" dirty="0" err="1"/>
              <a:t>thisfile</a:t>
            </a:r>
            <a:r>
              <a:rPr lang="en-US" dirty="0"/>
              <a:t> = open(“</a:t>
            </a:r>
            <a:r>
              <a:rPr lang="en-US" dirty="0" err="1"/>
              <a:t>datadirectory</a:t>
            </a:r>
            <a:r>
              <a:rPr lang="en-US" dirty="0"/>
              <a:t>/</a:t>
            </a:r>
            <a:r>
              <a:rPr lang="en-US" dirty="0" err="1"/>
              <a:t>file.txt</a:t>
            </a:r>
            <a:r>
              <a:rPr lang="en-US" dirty="0"/>
              <a:t>”, ‘w’)</a:t>
            </a:r>
          </a:p>
          <a:p>
            <a:pPr lvl="1"/>
            <a:r>
              <a:rPr lang="en-US" dirty="0" err="1"/>
              <a:t>thisfile.write</a:t>
            </a:r>
            <a:r>
              <a:rPr lang="en-US" dirty="0"/>
              <a:t>(“something”)	#adds ‘something’ to the end of the file</a:t>
            </a:r>
          </a:p>
        </p:txBody>
      </p:sp>
    </p:spTree>
    <p:extLst>
      <p:ext uri="{BB962C8B-B14F-4D97-AF65-F5344CB8AC3E}">
        <p14:creationId xmlns:p14="http://schemas.microsoft.com/office/powerpoint/2010/main" val="761632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Clarity.thmx</Template>
  <TotalTime>293</TotalTime>
  <Words>1010</Words>
  <Application>Microsoft Office PowerPoint</Application>
  <PresentationFormat>On-screen Show (4:3)</PresentationFormat>
  <Paragraphs>120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Clarity</vt:lpstr>
      <vt:lpstr>Python QuickREF</vt:lpstr>
      <vt:lpstr>Whitespace</vt:lpstr>
      <vt:lpstr>Variables and Data Types</vt:lpstr>
      <vt:lpstr>Convert Between Data Types</vt:lpstr>
      <vt:lpstr>Summary of Math Operators</vt:lpstr>
      <vt:lpstr>Math Shortcuts</vt:lpstr>
      <vt:lpstr>Python Control Structures</vt:lpstr>
      <vt:lpstr>Python Control Structures - Cont.</vt:lpstr>
      <vt:lpstr>Python Functions</vt:lpstr>
      <vt:lpstr>Standard Python Functions/Modules</vt:lpstr>
      <vt:lpstr>Python Input/Output</vt:lpstr>
      <vt:lpstr>A bit more Python</vt:lpstr>
      <vt:lpstr>Python Strings</vt:lpstr>
      <vt:lpstr>Python Lists </vt:lpstr>
      <vt:lpstr>Python and Text Files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Quickstart</dc:title>
  <dc:creator>Dan Schellenberg</dc:creator>
  <cp:lastModifiedBy>Scott, Stefan</cp:lastModifiedBy>
  <cp:revision>16</cp:revision>
  <dcterms:created xsi:type="dcterms:W3CDTF">2013-07-08T15:53:56Z</dcterms:created>
  <dcterms:modified xsi:type="dcterms:W3CDTF">2022-06-24T17:00:21Z</dcterms:modified>
</cp:coreProperties>
</file>