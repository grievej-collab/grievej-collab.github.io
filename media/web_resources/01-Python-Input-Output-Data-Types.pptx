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2" r:id="rId9"/>
    <p:sldId id="267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CCFFFF"/>
    <a:srgbClr val="81D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FBC307-F1A9-4BF9-AB3A-C57D8E13CE15}" v="2" dt="2026-03-31T14:50:13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434" autoAdjust="0"/>
  </p:normalViewPr>
  <p:slideViewPr>
    <p:cSldViewPr snapToGrid="0">
      <p:cViewPr varScale="1">
        <p:scale>
          <a:sx n="109" d="100"/>
          <a:sy n="109" d="100"/>
        </p:scale>
        <p:origin x="116" y="6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9E82811B-E95F-4D23-ACDE-24F96468CA56}"/>
    <pc:docChg chg="undo custSel addSld modSld sldOrd">
      <pc:chgData name="Scott, Stefan" userId="881558bf-77e1-4109-9642-244265a79c16" providerId="ADAL" clId="{9E82811B-E95F-4D23-ACDE-24F96468CA56}" dt="2026-03-31T18:51:52.852" v="870" actId="313"/>
      <pc:docMkLst>
        <pc:docMk/>
      </pc:docMkLst>
      <pc:sldChg chg="modSp mod">
        <pc:chgData name="Scott, Stefan" userId="881558bf-77e1-4109-9642-244265a79c16" providerId="ADAL" clId="{9E82811B-E95F-4D23-ACDE-24F96468CA56}" dt="2026-03-31T14:49:54.374" v="864" actId="20577"/>
        <pc:sldMkLst>
          <pc:docMk/>
          <pc:sldMk cId="1891517994" sldId="257"/>
        </pc:sldMkLst>
        <pc:spChg chg="mod">
          <ac:chgData name="Scott, Stefan" userId="881558bf-77e1-4109-9642-244265a79c16" providerId="ADAL" clId="{9E82811B-E95F-4D23-ACDE-24F96468CA56}" dt="2026-03-31T14:49:54.374" v="864" actId="20577"/>
          <ac:spMkLst>
            <pc:docMk/>
            <pc:sldMk cId="1891517994" sldId="257"/>
            <ac:spMk id="3" creationId="{00000000-0000-0000-0000-000000000000}"/>
          </ac:spMkLst>
        </pc:spChg>
      </pc:sldChg>
      <pc:sldChg chg="modSp modAnim">
        <pc:chgData name="Scott, Stefan" userId="881558bf-77e1-4109-9642-244265a79c16" providerId="ADAL" clId="{9E82811B-E95F-4D23-ACDE-24F96468CA56}" dt="2026-03-31T14:50:13.636" v="866" actId="20577"/>
        <pc:sldMkLst>
          <pc:docMk/>
          <pc:sldMk cId="3939564648" sldId="258"/>
        </pc:sldMkLst>
        <pc:spChg chg="mod">
          <ac:chgData name="Scott, Stefan" userId="881558bf-77e1-4109-9642-244265a79c16" providerId="ADAL" clId="{9E82811B-E95F-4D23-ACDE-24F96468CA56}" dt="2026-03-31T14:50:13.636" v="866" actId="20577"/>
          <ac:spMkLst>
            <pc:docMk/>
            <pc:sldMk cId="3939564648" sldId="258"/>
            <ac:spMk id="3" creationId="{00000000-0000-0000-0000-000000000000}"/>
          </ac:spMkLst>
        </pc:spChg>
      </pc:sldChg>
      <pc:sldChg chg="modSp mod ord">
        <pc:chgData name="Scott, Stefan" userId="881558bf-77e1-4109-9642-244265a79c16" providerId="ADAL" clId="{9E82811B-E95F-4D23-ACDE-24F96468CA56}" dt="2026-03-31T18:51:52.852" v="870" actId="313"/>
        <pc:sldMkLst>
          <pc:docMk/>
          <pc:sldMk cId="57303608" sldId="267"/>
        </pc:sldMkLst>
        <pc:spChg chg="mod">
          <ac:chgData name="Scott, Stefan" userId="881558bf-77e1-4109-9642-244265a79c16" providerId="ADAL" clId="{9E82811B-E95F-4D23-ACDE-24F96468CA56}" dt="2026-03-31T18:51:52.852" v="870" actId="313"/>
          <ac:spMkLst>
            <pc:docMk/>
            <pc:sldMk cId="57303608" sldId="267"/>
            <ac:spMk id="6" creationId="{BEBB4C73-4076-E492-17B3-AB5FDE2017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Syntax-based Programming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of Python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1" y="1455313"/>
            <a:ext cx="9792215" cy="5177307"/>
          </a:xfrm>
        </p:spPr>
        <p:txBody>
          <a:bodyPr>
            <a:normAutofit/>
          </a:bodyPr>
          <a:lstStyle/>
          <a:p>
            <a:r>
              <a:rPr lang="en-US" dirty="0"/>
              <a:t>Python is an</a:t>
            </a:r>
            <a:r>
              <a:rPr lang="en-US" b="1" dirty="0"/>
              <a:t> interpreted </a:t>
            </a:r>
            <a:r>
              <a:rPr lang="en-US" dirty="0"/>
              <a:t>programming language, that utilizes many of the concepts we’ve already encountered:</a:t>
            </a: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Program runs one instruction at a time, from top to bottom</a:t>
            </a: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Branches can be made ( IF / ELIF / ELSE )</a:t>
            </a: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Repetition with loops (WHILE, FOR)</a:t>
            </a: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functions made with </a:t>
            </a:r>
            <a:r>
              <a:rPr lang="en-US" b="1" dirty="0"/>
              <a:t>def</a:t>
            </a:r>
            <a:r>
              <a:rPr lang="en-US" dirty="0"/>
              <a:t> keyword.</a:t>
            </a: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Variables can be created to store one piece of information at a time.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05188"/>
            <a:ext cx="9727820" cy="2145595"/>
          </a:xfrm>
        </p:spPr>
        <p:txBody>
          <a:bodyPr/>
          <a:lstStyle/>
          <a:p>
            <a:r>
              <a:rPr lang="en-US" dirty="0"/>
              <a:t>There are several basic </a:t>
            </a:r>
            <a:r>
              <a:rPr lang="en-US" b="1" dirty="0"/>
              <a:t>data types (String, Boolean, Integer, Float)</a:t>
            </a:r>
            <a:r>
              <a:rPr lang="en-US" dirty="0"/>
              <a:t>. Every variable you create will hold a certain type of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don’t need to specify what type of information will go in the variable; Python will determine this when something is stored in it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58629" y="4167075"/>
            <a:ext cx="9727820" cy="499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u="sng" dirty="0"/>
              <a:t>What types are the following variables?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1492" y="4861398"/>
            <a:ext cx="2528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variable_one</a:t>
            </a:r>
            <a:r>
              <a:rPr lang="en-US" dirty="0"/>
              <a:t> = 4.0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71492" y="5306096"/>
            <a:ext cx="2528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variable_two</a:t>
            </a:r>
            <a:r>
              <a:rPr lang="en-US" dirty="0"/>
              <a:t> = 365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1492" y="5769736"/>
            <a:ext cx="3507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variable_three</a:t>
            </a:r>
            <a:r>
              <a:rPr lang="en-US" dirty="0"/>
              <a:t> = “4.0 / 365”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77825" y="4861397"/>
            <a:ext cx="308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variable_four</a:t>
            </a:r>
            <a:r>
              <a:rPr lang="en-US" dirty="0"/>
              <a:t> = 4.0 / 365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77825" y="5306096"/>
            <a:ext cx="5185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variable_five</a:t>
            </a:r>
            <a:r>
              <a:rPr lang="en-US" dirty="0"/>
              <a:t> = </a:t>
            </a:r>
            <a:r>
              <a:rPr lang="en-US" dirty="0" err="1"/>
              <a:t>variable_one</a:t>
            </a:r>
            <a:r>
              <a:rPr lang="en-US" dirty="0"/>
              <a:t> &lt; </a:t>
            </a:r>
            <a:r>
              <a:rPr lang="en-US" dirty="0" err="1"/>
              <a:t>variable_two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85387" y="4861397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FLOAT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5387" y="5303091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INTEGER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619" y="5769736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1037" y="4861397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FLOAT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6449" y="5323062"/>
            <a:ext cx="12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39395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391398"/>
            <a:ext cx="9404723" cy="140053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209989"/>
          </a:xfrm>
        </p:spPr>
        <p:txBody>
          <a:bodyPr/>
          <a:lstStyle/>
          <a:p>
            <a:r>
              <a:rPr lang="en-US" dirty="0"/>
              <a:t>Variables naming has a few rules and conventions: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Must start with a letter. Should be lowercase.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No reserved words (don’t name your variable </a:t>
            </a:r>
            <a:r>
              <a:rPr lang="en-US" b="1" dirty="0"/>
              <a:t>print, integer, </a:t>
            </a:r>
            <a:r>
              <a:rPr lang="en-US" b="1" dirty="0" err="1"/>
              <a:t>def</a:t>
            </a:r>
            <a:r>
              <a:rPr lang="en-US" b="1" dirty="0"/>
              <a:t>, …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If the variable name is multi-word, use </a:t>
            </a:r>
            <a:r>
              <a:rPr lang="en-US" b="1" dirty="0"/>
              <a:t>snake case</a:t>
            </a:r>
            <a:r>
              <a:rPr lang="en-US" dirty="0"/>
              <a:t> (separate with _ )</a:t>
            </a:r>
            <a:r>
              <a:rPr lang="en-US" b="1" dirty="0"/>
              <a:t>:</a:t>
            </a:r>
          </a:p>
          <a:p>
            <a:pPr marL="857250" lvl="2" indent="0">
              <a:buNone/>
            </a:pPr>
            <a:r>
              <a:rPr lang="en-US" dirty="0" err="1"/>
              <a:t>rectangle_width</a:t>
            </a:r>
            <a:r>
              <a:rPr lang="en-US" dirty="0"/>
              <a:t>		</a:t>
            </a:r>
            <a:r>
              <a:rPr lang="en-US" dirty="0" err="1"/>
              <a:t>average_speed</a:t>
            </a:r>
            <a:r>
              <a:rPr lang="en-US" dirty="0"/>
              <a:t>		</a:t>
            </a:r>
            <a:r>
              <a:rPr lang="en-US" dirty="0" err="1"/>
              <a:t>currency_cad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CA" dirty="0">
                <a:solidFill>
                  <a:srgbClr val="FFC000"/>
                </a:solidFill>
              </a:rPr>
              <a:t>FORMATTING, ASSIGNMENT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2" y="4622253"/>
            <a:ext cx="8946541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To store a value inside a variable, use the = operator: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rectangle_width</a:t>
            </a:r>
            <a:r>
              <a:rPr lang="en-US" dirty="0"/>
              <a:t> = 15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rectangle_height</a:t>
            </a:r>
            <a:r>
              <a:rPr lang="en-US" dirty="0"/>
              <a:t> = </a:t>
            </a:r>
            <a:r>
              <a:rPr lang="en-US" dirty="0" err="1"/>
              <a:t>rectangle_width</a:t>
            </a:r>
            <a:r>
              <a:rPr lang="en-US" dirty="0"/>
              <a:t> * 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0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391398"/>
            <a:ext cx="9404723" cy="140053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209989"/>
          </a:xfrm>
        </p:spPr>
        <p:txBody>
          <a:bodyPr/>
          <a:lstStyle/>
          <a:p>
            <a:r>
              <a:rPr lang="en-US" dirty="0"/>
              <a:t>When comparing two things, we often want to know if they are equal. To do this, use the </a:t>
            </a:r>
            <a:r>
              <a:rPr lang="en-US" b="1" dirty="0"/>
              <a:t>==</a:t>
            </a:r>
            <a:r>
              <a:rPr lang="en-US" dirty="0"/>
              <a:t> operator.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dirty="0"/>
              <a:t>A common error is to use =. Remember, = is used to assign a value to a variable, == is for comparison.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CA" dirty="0">
                <a:solidFill>
                  <a:srgbClr val="FFC000"/>
                </a:solidFill>
              </a:rPr>
              <a:t>COMPARISON, EQUALITY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0556" y="4362742"/>
            <a:ext cx="8946541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03311" y="3609115"/>
            <a:ext cx="8946541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Other common comparison </a:t>
            </a:r>
            <a:r>
              <a:rPr lang="en-US" i="1" dirty="0"/>
              <a:t>(relational)</a:t>
            </a:r>
            <a:r>
              <a:rPr lang="en-US" dirty="0"/>
              <a:t> operators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i="1" dirty="0"/>
              <a:t>&gt;     		&lt;       		&lt;=     		&gt;=  			!=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4845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391398"/>
            <a:ext cx="9404723" cy="806337"/>
          </a:xfrm>
        </p:spPr>
        <p:txBody>
          <a:bodyPr/>
          <a:lstStyle/>
          <a:p>
            <a:r>
              <a:rPr lang="en-US" dirty="0"/>
              <a:t>Math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066" y="1643261"/>
            <a:ext cx="9332988" cy="630494"/>
          </a:xfrm>
        </p:spPr>
        <p:txBody>
          <a:bodyPr>
            <a:normAutofit/>
          </a:bodyPr>
          <a:lstStyle/>
          <a:p>
            <a:r>
              <a:rPr lang="en-US" dirty="0"/>
              <a:t>We can do math in Python. Here are some frequently-used operators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9DAB98-8854-F7F9-801D-6EF695E70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41906"/>
              </p:ext>
            </p:extLst>
          </p:nvPr>
        </p:nvGraphicFramePr>
        <p:xfrm>
          <a:off x="1864632" y="2597451"/>
          <a:ext cx="8128000" cy="3002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5332">
                  <a:extLst>
                    <a:ext uri="{9D8B030D-6E8A-4147-A177-3AD203B41FA5}">
                      <a16:colId xmlns:a16="http://schemas.microsoft.com/office/drawing/2014/main" val="1820779821"/>
                    </a:ext>
                  </a:extLst>
                </a:gridCol>
                <a:gridCol w="3539218">
                  <a:extLst>
                    <a:ext uri="{9D8B030D-6E8A-4147-A177-3AD203B41FA5}">
                      <a16:colId xmlns:a16="http://schemas.microsoft.com/office/drawing/2014/main" val="3711372948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32152362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61733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Symbols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Operations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Output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84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+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Addition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1 + 2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43121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Subtraction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2 - 1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92558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*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Multiplication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2 *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3195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/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Division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5 /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2.5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89534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//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Truncating Division (quotient)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5 //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566312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Modulo (remainder)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5 %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77121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**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Power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5 ** 2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25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6371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34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391398"/>
            <a:ext cx="9404723" cy="140053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887350"/>
          </a:xfrm>
        </p:spPr>
        <p:txBody>
          <a:bodyPr/>
          <a:lstStyle/>
          <a:p>
            <a:r>
              <a:rPr lang="en-US" dirty="0"/>
              <a:t>Any comparison between two items is evaluated to either be True or False.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CA" dirty="0">
                <a:solidFill>
                  <a:srgbClr val="FFC000"/>
                </a:solidFill>
              </a:rPr>
              <a:t>COMPARISON, EQUALITY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0556" y="4362742"/>
            <a:ext cx="8946541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03312" y="4262907"/>
            <a:ext cx="2863382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i="1" dirty="0"/>
              <a:t>5 &lt; 10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“tiger” == “Tiger”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“t” &gt; “s”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3%2 == 0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33773" y="4262907"/>
            <a:ext cx="3437995" cy="2209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 startAt="5"/>
            </a:pPr>
            <a:r>
              <a:rPr lang="en-US" i="1" dirty="0"/>
              <a:t>“apple” != “apple”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i="1" dirty="0"/>
              <a:t>1 == True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i="1" dirty="0"/>
              <a:t>True != False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i="1" dirty="0"/>
              <a:t>12.0 &gt;= round(12.4)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56" y="4327302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0537" y="4768046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3538" y="5607077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697" y="4288665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7502" y="5161673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2770" y="4741357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5211" y="5171887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568" y="5599088"/>
            <a:ext cx="10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DEFF"/>
                </a:solidFill>
              </a:rPr>
              <a:t>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5938" y="3008064"/>
            <a:ext cx="10200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Look at the following comparisons. Predict whether they will evaluate to True or False, then verify by trying them in your Python Interpreter: </a:t>
            </a:r>
          </a:p>
        </p:txBody>
      </p:sp>
    </p:spTree>
    <p:extLst>
      <p:ext uri="{BB962C8B-B14F-4D97-AF65-F5344CB8AC3E}">
        <p14:creationId xmlns:p14="http://schemas.microsoft.com/office/powerpoint/2010/main" val="398407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391398"/>
            <a:ext cx="9404723" cy="806337"/>
          </a:xfrm>
        </p:spPr>
        <p:txBody>
          <a:bodyPr/>
          <a:lstStyle/>
          <a:p>
            <a:r>
              <a:rPr lang="en-US" dirty="0" err="1"/>
              <a:t>Input/Output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066" y="1643260"/>
            <a:ext cx="8946541" cy="22099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Input can be taken from the user with the </a:t>
            </a:r>
            <a:r>
              <a:rPr lang="en-US" b="1" dirty="0"/>
              <a:t>input() </a:t>
            </a:r>
            <a:r>
              <a:rPr lang="en-US" dirty="0"/>
              <a:t>function: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input(“Instructions for user here”)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instruction is replaced with user input. Typically it should be stored in a variable or printed to the screen: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i="1" dirty="0"/>
              <a:t>age = input(“What is your age?”)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i="1" dirty="0"/>
              <a:t>print (“Hello, “ + input(“What’s your name?”) 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56066" y="4165372"/>
            <a:ext cx="8946541" cy="22099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Output can be sent to the screen with the </a:t>
            </a:r>
            <a:r>
              <a:rPr lang="en-US" b="1" dirty="0"/>
              <a:t>print() function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Can either print literal string value: “some characters”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Or a String variable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print(“Hello world!”)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err="1"/>
              <a:t>some_string</a:t>
            </a:r>
            <a:r>
              <a:rPr lang="en-US" dirty="0"/>
              <a:t> = “Hi there!”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print(</a:t>
            </a:r>
            <a:r>
              <a:rPr lang="en-US" dirty="0" err="1"/>
              <a:t>some_string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792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9BFA2B-1962-8BF2-AC40-6E3BB259A9DC}"/>
              </a:ext>
            </a:extLst>
          </p:cNvPr>
          <p:cNvSpPr/>
          <p:nvPr/>
        </p:nvSpPr>
        <p:spPr>
          <a:xfrm>
            <a:off x="3268909" y="2327945"/>
            <a:ext cx="1990988" cy="6639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C25A8-DC73-6C4B-9FFB-A1490726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9" y="50046"/>
            <a:ext cx="7617046" cy="906299"/>
          </a:xfrm>
        </p:spPr>
        <p:txBody>
          <a:bodyPr/>
          <a:lstStyle/>
          <a:p>
            <a:r>
              <a:rPr lang="en-US" dirty="0"/>
              <a:t>Operations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58AA9-07FD-0AA8-1DD7-B63D8DDCF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87" y="956345"/>
            <a:ext cx="8946541" cy="1140903"/>
          </a:xfrm>
        </p:spPr>
        <p:txBody>
          <a:bodyPr>
            <a:normAutofit/>
          </a:bodyPr>
          <a:lstStyle/>
          <a:p>
            <a:r>
              <a:rPr lang="en-US" sz="1800" dirty="0"/>
              <a:t>Depending on the data type of operands, some symbols represent </a:t>
            </a:r>
            <a:r>
              <a:rPr lang="en-US" sz="1800" b="1" dirty="0"/>
              <a:t>different operations.     </a:t>
            </a:r>
          </a:p>
          <a:p>
            <a:pPr marL="0" indent="0">
              <a:buNone/>
            </a:pPr>
            <a:r>
              <a:rPr lang="en-US" sz="1200" dirty="0"/>
              <a:t>For each of the following, identify </a:t>
            </a:r>
            <a:r>
              <a:rPr lang="en-US" sz="1200" u="sng" dirty="0"/>
              <a:t>data types</a:t>
            </a:r>
            <a:r>
              <a:rPr lang="en-US" sz="1200" dirty="0"/>
              <a:t> and </a:t>
            </a:r>
            <a:r>
              <a:rPr lang="en-US" sz="1200" u="sng" dirty="0"/>
              <a:t>operation:</a:t>
            </a:r>
            <a:endParaRPr lang="en-US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14DE21-04F6-60F0-F2ED-9DB164275F2D}"/>
              </a:ext>
            </a:extLst>
          </p:cNvPr>
          <p:cNvSpPr txBox="1">
            <a:spLocks/>
          </p:cNvSpPr>
          <p:nvPr/>
        </p:nvSpPr>
        <p:spPr>
          <a:xfrm>
            <a:off x="436387" y="2492231"/>
            <a:ext cx="3190454" cy="401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“Frank”     +      “Hotdog”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BC94B8-C6D7-CC3B-8383-C45C95BFF612}"/>
              </a:ext>
            </a:extLst>
          </p:cNvPr>
          <p:cNvSpPr txBox="1">
            <a:spLocks/>
          </p:cNvSpPr>
          <p:nvPr/>
        </p:nvSpPr>
        <p:spPr>
          <a:xfrm>
            <a:off x="541249" y="3763862"/>
            <a:ext cx="2727660" cy="401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5.0             +         55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BB4C73-4076-E492-17B3-AB5FDE20177C}"/>
              </a:ext>
            </a:extLst>
          </p:cNvPr>
          <p:cNvSpPr txBox="1">
            <a:spLocks/>
          </p:cNvSpPr>
          <p:nvPr/>
        </p:nvSpPr>
        <p:spPr>
          <a:xfrm>
            <a:off x="5731238" y="2494505"/>
            <a:ext cx="3228203" cy="47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“Frank”     *      “Hotdog”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5FF083-C6C0-C419-8321-B9FCC37EFBF6}"/>
              </a:ext>
            </a:extLst>
          </p:cNvPr>
          <p:cNvSpPr txBox="1">
            <a:spLocks/>
          </p:cNvSpPr>
          <p:nvPr/>
        </p:nvSpPr>
        <p:spPr>
          <a:xfrm>
            <a:off x="5819327" y="3761588"/>
            <a:ext cx="2727660" cy="401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5.0             *         55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EDD808-0911-7E33-EBBD-88C392CFF49F}"/>
              </a:ext>
            </a:extLst>
          </p:cNvPr>
          <p:cNvSpPr txBox="1">
            <a:spLocks/>
          </p:cNvSpPr>
          <p:nvPr/>
        </p:nvSpPr>
        <p:spPr>
          <a:xfrm>
            <a:off x="541249" y="5200128"/>
            <a:ext cx="3625283" cy="554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5.0             +       “Hotdog”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3BC61F-4CAF-A272-B27C-A99EC9FA86EF}"/>
              </a:ext>
            </a:extLst>
          </p:cNvPr>
          <p:cNvSpPr txBox="1">
            <a:spLocks/>
          </p:cNvSpPr>
          <p:nvPr/>
        </p:nvSpPr>
        <p:spPr>
          <a:xfrm>
            <a:off x="5819326" y="5200128"/>
            <a:ext cx="3286923" cy="554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dirty="0"/>
              <a:t>5.0             *       “Hotdog”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1FBD7-44AD-BB7A-39EE-13358A578588}"/>
              </a:ext>
            </a:extLst>
          </p:cNvPr>
          <p:cNvSpPr txBox="1"/>
          <p:nvPr/>
        </p:nvSpPr>
        <p:spPr>
          <a:xfrm>
            <a:off x="698113" y="2202111"/>
            <a:ext cx="224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STR        +           STR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565A6A-D90A-A93D-3674-2AC683077A23}"/>
              </a:ext>
            </a:extLst>
          </p:cNvPr>
          <p:cNvSpPr txBox="1"/>
          <p:nvPr/>
        </p:nvSpPr>
        <p:spPr>
          <a:xfrm>
            <a:off x="590455" y="3492817"/>
            <a:ext cx="235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FLOAT       +         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88388-B34C-F00C-701D-C815B0AFABEE}"/>
              </a:ext>
            </a:extLst>
          </p:cNvPr>
          <p:cNvSpPr txBox="1"/>
          <p:nvPr/>
        </p:nvSpPr>
        <p:spPr>
          <a:xfrm>
            <a:off x="541249" y="4937122"/>
            <a:ext cx="2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FLOAT       +            STR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10A74-B62F-E032-DBC9-4C8F479A3087}"/>
              </a:ext>
            </a:extLst>
          </p:cNvPr>
          <p:cNvSpPr txBox="1"/>
          <p:nvPr/>
        </p:nvSpPr>
        <p:spPr>
          <a:xfrm>
            <a:off x="3315049" y="2323372"/>
            <a:ext cx="204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Concatenation</a:t>
            </a:r>
          </a:p>
          <a:p>
            <a:r>
              <a:rPr lang="en-US" dirty="0">
                <a:solidFill>
                  <a:srgbClr val="FFC000"/>
                </a:solidFill>
              </a:rPr>
              <a:t>(String join)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A8C9F-1E13-79F8-3EE0-F9EAA3CA8C80}"/>
              </a:ext>
            </a:extLst>
          </p:cNvPr>
          <p:cNvSpPr/>
          <p:nvPr/>
        </p:nvSpPr>
        <p:spPr>
          <a:xfrm>
            <a:off x="3231160" y="3498931"/>
            <a:ext cx="1990988" cy="6639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DD46C9-630B-99C8-A734-BAE2BFD5BB36}"/>
              </a:ext>
            </a:extLst>
          </p:cNvPr>
          <p:cNvSpPr txBox="1"/>
          <p:nvPr/>
        </p:nvSpPr>
        <p:spPr>
          <a:xfrm>
            <a:off x="3246323" y="3644351"/>
            <a:ext cx="194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Addition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D050D-C7A1-37C6-D895-978EBFB2B7F2}"/>
              </a:ext>
            </a:extLst>
          </p:cNvPr>
          <p:cNvSpPr/>
          <p:nvPr/>
        </p:nvSpPr>
        <p:spPr>
          <a:xfrm>
            <a:off x="3529749" y="4865889"/>
            <a:ext cx="1692399" cy="663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569C5-759E-E618-F43F-F33C00BC03B8}"/>
              </a:ext>
            </a:extLst>
          </p:cNvPr>
          <p:cNvSpPr txBox="1"/>
          <p:nvPr/>
        </p:nvSpPr>
        <p:spPr>
          <a:xfrm>
            <a:off x="3544912" y="5011309"/>
            <a:ext cx="165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Undefined!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2B990D-6B97-CF72-8D22-8A12B3A5F33F}"/>
              </a:ext>
            </a:extLst>
          </p:cNvPr>
          <p:cNvSpPr/>
          <p:nvPr/>
        </p:nvSpPr>
        <p:spPr>
          <a:xfrm>
            <a:off x="8916098" y="5048676"/>
            <a:ext cx="2534874" cy="6639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C26DB5-A2ED-B75D-4157-73922031DB70}"/>
              </a:ext>
            </a:extLst>
          </p:cNvPr>
          <p:cNvSpPr txBox="1"/>
          <p:nvPr/>
        </p:nvSpPr>
        <p:spPr>
          <a:xfrm>
            <a:off x="8962238" y="5044103"/>
            <a:ext cx="2545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Repetition</a:t>
            </a:r>
          </a:p>
          <a:p>
            <a:r>
              <a:rPr lang="en-US" dirty="0">
                <a:solidFill>
                  <a:srgbClr val="FFC000"/>
                </a:solidFill>
              </a:rPr>
              <a:t>(“</a:t>
            </a:r>
            <a:r>
              <a:rPr lang="en-US" dirty="0" err="1">
                <a:solidFill>
                  <a:srgbClr val="FFC000"/>
                </a:solidFill>
              </a:rPr>
              <a:t>HotdogHotdog</a:t>
            </a:r>
            <a:r>
              <a:rPr lang="en-US" dirty="0">
                <a:solidFill>
                  <a:srgbClr val="FFC000"/>
                </a:solidFill>
              </a:rPr>
              <a:t>…”)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39F98-06CE-A81A-1A42-F6E55795264C}"/>
              </a:ext>
            </a:extLst>
          </p:cNvPr>
          <p:cNvSpPr/>
          <p:nvPr/>
        </p:nvSpPr>
        <p:spPr>
          <a:xfrm>
            <a:off x="8723152" y="2160254"/>
            <a:ext cx="1692399" cy="663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91897D-60CE-C516-89DD-4DF514CC9EAB}"/>
              </a:ext>
            </a:extLst>
          </p:cNvPr>
          <p:cNvSpPr txBox="1"/>
          <p:nvPr/>
        </p:nvSpPr>
        <p:spPr>
          <a:xfrm>
            <a:off x="8738315" y="2305674"/>
            <a:ext cx="165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Undefined!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315FC-C78B-7ADE-F908-744F7DB6B4F2}"/>
              </a:ext>
            </a:extLst>
          </p:cNvPr>
          <p:cNvSpPr/>
          <p:nvPr/>
        </p:nvSpPr>
        <p:spPr>
          <a:xfrm>
            <a:off x="8788648" y="3556333"/>
            <a:ext cx="1990988" cy="6639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FD71A-90B4-0CCD-5872-01DEA42776DE}"/>
              </a:ext>
            </a:extLst>
          </p:cNvPr>
          <p:cNvSpPr txBox="1"/>
          <p:nvPr/>
        </p:nvSpPr>
        <p:spPr>
          <a:xfrm>
            <a:off x="8803811" y="3701753"/>
            <a:ext cx="194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Multiplication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D12EA-673D-DEFD-7687-6A1632DC8F32}"/>
              </a:ext>
            </a:extLst>
          </p:cNvPr>
          <p:cNvSpPr txBox="1"/>
          <p:nvPr/>
        </p:nvSpPr>
        <p:spPr>
          <a:xfrm>
            <a:off x="5831047" y="2197486"/>
            <a:ext cx="2511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STR           *          STR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5E103-4D7E-66B5-C85D-EAF6D49A7B5F}"/>
              </a:ext>
            </a:extLst>
          </p:cNvPr>
          <p:cNvSpPr txBox="1"/>
          <p:nvPr/>
        </p:nvSpPr>
        <p:spPr>
          <a:xfrm>
            <a:off x="5831047" y="3491744"/>
            <a:ext cx="2511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FLOAT       *         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1CA265-D3E9-58CE-ABD9-8A1F99D1E7A1}"/>
              </a:ext>
            </a:extLst>
          </p:cNvPr>
          <p:cNvSpPr txBox="1"/>
          <p:nvPr/>
        </p:nvSpPr>
        <p:spPr>
          <a:xfrm>
            <a:off x="5683274" y="4937122"/>
            <a:ext cx="2727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</a:rPr>
              <a:t>FLOAT          *           STR</a:t>
            </a:r>
          </a:p>
        </p:txBody>
      </p:sp>
    </p:spTree>
    <p:extLst>
      <p:ext uri="{BB962C8B-B14F-4D97-AF65-F5344CB8AC3E}">
        <p14:creationId xmlns:p14="http://schemas.microsoft.com/office/powerpoint/2010/main" val="573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/>
      <p:bldP spid="11" grpId="0"/>
      <p:bldP spid="12" grpId="0"/>
      <p:bldP spid="13" grpId="0"/>
      <p:bldP spid="15" grpId="0" animBg="1"/>
      <p:bldP spid="16" grpId="0"/>
      <p:bldP spid="17" grpId="0" animBg="1"/>
      <p:bldP spid="18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8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as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5165" y="1667836"/>
            <a:ext cx="8946541" cy="2033307"/>
          </a:xfrm>
        </p:spPr>
        <p:txBody>
          <a:bodyPr/>
          <a:lstStyle/>
          <a:p>
            <a:r>
              <a:rPr lang="en-US" dirty="0"/>
              <a:t>Write a program that calculates the area of a rectangle.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Ask the user for the width and height. Store this information in two variables.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this information to determine the area.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Print out a message with the answer.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05165" y="4842630"/>
            <a:ext cx="8946541" cy="1376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You look at a clock and see that it is 2PM. You set an alarm to go off in 51 hours. At what time does the alarm go off?</a:t>
            </a:r>
          </a:p>
        </p:txBody>
      </p:sp>
    </p:spTree>
    <p:extLst>
      <p:ext uri="{BB962C8B-B14F-4D97-AF65-F5344CB8AC3E}">
        <p14:creationId xmlns:p14="http://schemas.microsoft.com/office/powerpoint/2010/main" val="388279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134897" y="1091663"/>
            <a:ext cx="5057103" cy="6143222"/>
          </a:xfrm>
          <a:prstGeom prst="rect">
            <a:avLst/>
          </a:prstGeom>
          <a:solidFill>
            <a:schemeClr val="tx2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229" y="2091555"/>
            <a:ext cx="6609668" cy="4313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Write a program that does the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Ask the user for their name and store it in </a:t>
            </a:r>
            <a:br>
              <a:rPr lang="en-US" dirty="0"/>
            </a:br>
            <a:r>
              <a:rPr lang="en-US" dirty="0"/>
              <a:t>a variable called </a:t>
            </a:r>
            <a:r>
              <a:rPr lang="en-US" b="1" i="1" dirty="0"/>
              <a:t>name</a:t>
            </a:r>
            <a:r>
              <a:rPr lang="en-US" i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Ask the user for an amount (in CAD) to convert to Yen, and store this amount in a variable called </a:t>
            </a:r>
            <a:r>
              <a:rPr lang="en-US" b="1" i="1" dirty="0" err="1"/>
              <a:t>amount_cad</a:t>
            </a:r>
            <a:r>
              <a:rPr lang="en-US" dirty="0"/>
              <a:t>.</a:t>
            </a:r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third variable called </a:t>
            </a:r>
            <a:r>
              <a:rPr lang="en-US" b="1" i="1" dirty="0" err="1"/>
              <a:t>amount_yen</a:t>
            </a:r>
            <a:br>
              <a:rPr lang="en-US" dirty="0"/>
            </a:br>
            <a:r>
              <a:rPr lang="en-US" dirty="0"/>
              <a:t>and calculate what the Canadian amount would equal if exchanged into Japanese Yen.</a:t>
            </a:r>
            <a:br>
              <a:rPr lang="en-US" dirty="0"/>
            </a:br>
            <a:r>
              <a:rPr lang="en-US" dirty="0"/>
              <a:t>You may either look up a current rate, or use:</a:t>
            </a:r>
            <a:br>
              <a:rPr lang="en-US" dirty="0"/>
            </a:br>
            <a:r>
              <a:rPr lang="en-US" dirty="0"/>
              <a:t>1 CAD : 110 YEN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Print out the following: “Hello, [name]. If you exchange [</a:t>
            </a:r>
            <a:r>
              <a:rPr lang="en-US" dirty="0" err="1"/>
              <a:t>amountCad</a:t>
            </a:r>
            <a:r>
              <a:rPr lang="en-US" dirty="0"/>
              <a:t>] CAD, you would receive [</a:t>
            </a:r>
            <a:r>
              <a:rPr lang="en-US" dirty="0" err="1"/>
              <a:t>amountYen</a:t>
            </a:r>
            <a:r>
              <a:rPr lang="en-US" dirty="0"/>
              <a:t>] YEN.”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CA" dirty="0">
                <a:solidFill>
                  <a:srgbClr val="FFC000"/>
                </a:solidFill>
              </a:rPr>
              <a:t>A FIRST PROGRAM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53838" y="1360124"/>
            <a:ext cx="4698276" cy="51694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PYTHON CHEAT SHEET</a:t>
            </a:r>
          </a:p>
          <a:p>
            <a:pPr marL="0" indent="0">
              <a:buNone/>
            </a:pPr>
            <a:r>
              <a:rPr lang="en-US" dirty="0"/>
              <a:t>input(String)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get user input from keyboard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/>
              <a:t>print(String)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displays a String on screen</a:t>
            </a:r>
            <a:br>
              <a:rPr lang="en-US" dirty="0">
                <a:solidFill>
                  <a:srgbClr val="CCFFFF"/>
                </a:solidFill>
              </a:rPr>
            </a:br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(non-</a:t>
            </a:r>
            <a:r>
              <a:rPr lang="en-US" dirty="0" err="1"/>
              <a:t>int</a:t>
            </a:r>
            <a:r>
              <a:rPr lang="en-US" dirty="0"/>
              <a:t> variable)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convert to an </a:t>
            </a:r>
            <a:r>
              <a:rPr lang="en-US" dirty="0" err="1">
                <a:solidFill>
                  <a:srgbClr val="CCFFFF"/>
                </a:solidFill>
              </a:rPr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str</a:t>
            </a:r>
            <a:r>
              <a:rPr lang="en-US" dirty="0"/>
              <a:t>(non-String variable)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convert a variable to String type</a:t>
            </a:r>
          </a:p>
          <a:p>
            <a:pPr marL="0" indent="0">
              <a:buNone/>
            </a:pPr>
            <a:r>
              <a:rPr lang="en-US" dirty="0"/>
              <a:t>round(float)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rounds a floating point value</a:t>
            </a:r>
          </a:p>
          <a:p>
            <a:pPr marL="0" indent="0">
              <a:buNone/>
            </a:pPr>
            <a:r>
              <a:rPr lang="en-US" dirty="0"/>
              <a:t>String + String + String …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CFFFF"/>
                </a:solidFill>
              </a:rPr>
              <a:t> join (or concatenate Strings)</a:t>
            </a:r>
          </a:p>
          <a:p>
            <a:pPr marL="0" indent="0">
              <a:buNone/>
            </a:pPr>
            <a:r>
              <a:rPr lang="en-US" dirty="0"/>
              <a:t>Multiplication</a:t>
            </a:r>
            <a:r>
              <a:rPr lang="en-US"/>
              <a:t>:     </a:t>
            </a:r>
            <a:r>
              <a:rPr lang="en-US">
                <a:solidFill>
                  <a:srgbClr val="CCFFFF"/>
                </a:solidFill>
              </a:rPr>
              <a:t> use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4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11874</TotalTime>
  <Words>1012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Computer Science 20</vt:lpstr>
      <vt:lpstr>Basic of Python</vt:lpstr>
      <vt:lpstr>Variable Types</vt:lpstr>
      <vt:lpstr>Variables</vt:lpstr>
      <vt:lpstr>Variables</vt:lpstr>
      <vt:lpstr>Math Operators</vt:lpstr>
      <vt:lpstr>Exercise</vt:lpstr>
      <vt:lpstr>Input/Output</vt:lpstr>
      <vt:lpstr>Operations and Data Types</vt:lpstr>
      <vt:lpstr>Solve as a class</vt:lpstr>
      <vt:lpstr>Exercise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</cp:lastModifiedBy>
  <cp:revision>102</cp:revision>
  <dcterms:created xsi:type="dcterms:W3CDTF">2016-08-31T14:32:10Z</dcterms:created>
  <dcterms:modified xsi:type="dcterms:W3CDTF">2026-03-31T18:52:01Z</dcterms:modified>
</cp:coreProperties>
</file>