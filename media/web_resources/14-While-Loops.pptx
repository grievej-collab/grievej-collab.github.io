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5" r:id="rId8"/>
    <p:sldId id="266" r:id="rId9"/>
    <p:sldId id="268" r:id="rId10"/>
    <p:sldId id="263" r:id="rId11"/>
    <p:sldId id="269" r:id="rId12"/>
    <p:sldId id="272" r:id="rId13"/>
    <p:sldId id="271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CEEAB0"/>
    <a:srgbClr val="66FFFF"/>
    <a:srgbClr val="E1F2CE"/>
    <a:srgbClr val="B8E08C"/>
    <a:srgbClr val="FFCC99"/>
    <a:srgbClr val="FF5050"/>
    <a:srgbClr val="FF9966"/>
    <a:srgbClr val="81DE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434" autoAdjust="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719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80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01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367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084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294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343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90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162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289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1437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3140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7319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518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890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729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01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03FDC43-65FB-4098-9D7F-4570BC948176}" type="datetimeFigureOut">
              <a:rPr lang="en-CA" smtClean="0"/>
              <a:t>2018-04-15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E6A50-E936-4F2E-ABC9-5A92FA5334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37906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Computer Science 20</a:t>
            </a:r>
            <a:endParaRPr lang="en-CA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LOOPS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2930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we’ve seen so far…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1" y="1455313"/>
            <a:ext cx="9792215" cy="4013670"/>
          </a:xfrm>
        </p:spPr>
        <p:txBody>
          <a:bodyPr>
            <a:normAutofit/>
          </a:bodyPr>
          <a:lstStyle/>
          <a:p>
            <a:r>
              <a:rPr lang="en-US" dirty="0" smtClean="0"/>
              <a:t>We’ve had a brief overview of several topics: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Variables and Data Types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Lists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Conditionals (IF – ELIF – ELSE)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Functions, Parameters, and Return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Files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03311" y="3181654"/>
            <a:ext cx="6178937" cy="1262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9151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Self-Check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284618" y="1983251"/>
            <a:ext cx="375339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if 4 &lt; 4:</a:t>
            </a:r>
          </a:p>
          <a:p>
            <a:r>
              <a:rPr lang="en-US" sz="3200" dirty="0"/>
              <a:t>	print (“A”)</a:t>
            </a:r>
          </a:p>
          <a:p>
            <a:r>
              <a:rPr lang="en-US" sz="3200" dirty="0" err="1"/>
              <a:t>elif</a:t>
            </a:r>
            <a:r>
              <a:rPr lang="en-US" sz="3200" dirty="0"/>
              <a:t> 3 &lt; 4:</a:t>
            </a:r>
          </a:p>
          <a:p>
            <a:r>
              <a:rPr lang="en-US" sz="3200" dirty="0"/>
              <a:t>	print (“B”)</a:t>
            </a:r>
          </a:p>
          <a:p>
            <a:r>
              <a:rPr lang="en-US" sz="3200" dirty="0"/>
              <a:t>else:</a:t>
            </a:r>
          </a:p>
          <a:p>
            <a:r>
              <a:rPr lang="en-US" sz="3200" dirty="0"/>
              <a:t>	print(“C”)</a:t>
            </a:r>
          </a:p>
          <a:p>
            <a:r>
              <a:rPr lang="en-US" sz="3200" dirty="0"/>
              <a:t>print(“D”)</a:t>
            </a:r>
          </a:p>
        </p:txBody>
      </p:sp>
    </p:spTree>
    <p:extLst>
      <p:ext uri="{BB962C8B-B14F-4D97-AF65-F5344CB8AC3E}">
        <p14:creationId xmlns:p14="http://schemas.microsoft.com/office/powerpoint/2010/main" val="393956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Self-Check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735977" y="1983251"/>
            <a:ext cx="424107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 = “python rocks”</a:t>
            </a:r>
            <a:br>
              <a:rPr lang="en-US" sz="3200" dirty="0" smtClean="0"/>
            </a:br>
            <a:endParaRPr lang="en-US" sz="3200" dirty="0" smtClean="0"/>
          </a:p>
          <a:p>
            <a:r>
              <a:rPr lang="en-US" sz="3200" dirty="0" smtClean="0"/>
              <a:t>print (s[4])</a:t>
            </a:r>
            <a:br>
              <a:rPr lang="en-US" sz="3200" dirty="0" smtClean="0"/>
            </a:br>
            <a:endParaRPr lang="en-US" sz="3200" dirty="0" smtClean="0"/>
          </a:p>
          <a:p>
            <a:r>
              <a:rPr lang="en-US" sz="3200" dirty="0" smtClean="0"/>
              <a:t>print (s[3:9])</a:t>
            </a:r>
            <a:br>
              <a:rPr lang="en-US" sz="3200" dirty="0" smtClean="0"/>
            </a:br>
            <a:endParaRPr lang="en-US" sz="3200" dirty="0" smtClean="0"/>
          </a:p>
          <a:p>
            <a:r>
              <a:rPr lang="en-US" sz="3200" dirty="0" smtClean="0"/>
              <a:t>print (s[:5])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127964" y="2968136"/>
            <a:ext cx="42410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E1F2CE"/>
                </a:solidFill>
              </a:rPr>
              <a:t>#prints: o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7127963" y="3882969"/>
            <a:ext cx="42410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E1F2CE"/>
                </a:solidFill>
              </a:rPr>
              <a:t>#prints: hon </a:t>
            </a:r>
            <a:r>
              <a:rPr lang="en-US" sz="3200" dirty="0" err="1" smtClean="0">
                <a:solidFill>
                  <a:srgbClr val="E1F2CE"/>
                </a:solidFill>
              </a:rPr>
              <a:t>ro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127962" y="4867854"/>
            <a:ext cx="42410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E1F2CE"/>
                </a:solidFill>
              </a:rPr>
              <a:t>#prints: </a:t>
            </a:r>
            <a:r>
              <a:rPr lang="en-US" sz="3200" dirty="0" err="1" smtClean="0">
                <a:solidFill>
                  <a:srgbClr val="E1F2CE"/>
                </a:solidFill>
              </a:rPr>
              <a:t>pytho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70918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909738"/>
          </a:xfrm>
        </p:spPr>
        <p:txBody>
          <a:bodyPr/>
          <a:lstStyle/>
          <a:p>
            <a:r>
              <a:rPr lang="en-US" dirty="0" smtClean="0"/>
              <a:t>The</a:t>
            </a:r>
            <a:r>
              <a:rPr lang="en-US" b="1" dirty="0" smtClean="0"/>
              <a:t> while </a:t>
            </a:r>
            <a:r>
              <a:rPr lang="en-US" dirty="0" smtClean="0"/>
              <a:t>keyword is used to create a loop over a block of code.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Code Block will repeat as long as the test (condition) is True.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103312" y="3642233"/>
            <a:ext cx="2737168" cy="2453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while </a:t>
            </a:r>
            <a:r>
              <a:rPr lang="en-US" b="1" i="1" dirty="0" smtClean="0"/>
              <a:t>test: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code block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more code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more code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032504" y="3162328"/>
            <a:ext cx="7924365" cy="33342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sum = 0;</a:t>
            </a:r>
            <a:br>
              <a:rPr lang="en-US" dirty="0" smtClean="0"/>
            </a:br>
            <a:r>
              <a:rPr lang="en-US" dirty="0" err="1" smtClean="0"/>
              <a:t>num</a:t>
            </a:r>
            <a:r>
              <a:rPr lang="en-US" dirty="0" smtClean="0"/>
              <a:t> = </a:t>
            </a:r>
            <a:r>
              <a:rPr lang="en-US" dirty="0" err="1" smtClean="0"/>
              <a:t>int</a:t>
            </a:r>
            <a:r>
              <a:rPr lang="en-US" dirty="0" smtClean="0"/>
              <a:t>(input(</a:t>
            </a:r>
            <a:r>
              <a:rPr lang="en-US" dirty="0" smtClean="0">
                <a:solidFill>
                  <a:srgbClr val="FFC000"/>
                </a:solidFill>
              </a:rPr>
              <a:t>“enter a number to add (-1 to quit”</a:t>
            </a:r>
            <a:r>
              <a:rPr lang="en-US" dirty="0" smtClean="0"/>
              <a:t>))</a:t>
            </a:r>
          </a:p>
          <a:p>
            <a:pPr marL="0" indent="0">
              <a:buNone/>
            </a:pPr>
            <a:r>
              <a:rPr lang="en-US" dirty="0" smtClean="0"/>
              <a:t>while </a:t>
            </a:r>
            <a:r>
              <a:rPr lang="en-US" dirty="0" err="1" smtClean="0">
                <a:solidFill>
                  <a:srgbClr val="CCFFFF"/>
                </a:solidFill>
              </a:rPr>
              <a:t>num</a:t>
            </a:r>
            <a:r>
              <a:rPr lang="en-US" dirty="0" smtClean="0">
                <a:solidFill>
                  <a:srgbClr val="CCFFFF"/>
                </a:solidFill>
              </a:rPr>
              <a:t> != -1</a:t>
            </a:r>
            <a:r>
              <a:rPr lang="en-US" b="1" i="1" dirty="0" smtClean="0">
                <a:solidFill>
                  <a:srgbClr val="CCFFFF"/>
                </a:solidFill>
              </a:rPr>
              <a:t>:</a:t>
            </a:r>
            <a:endParaRPr lang="en-US" dirty="0" smtClean="0">
              <a:solidFill>
                <a:srgbClr val="CCFFFF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sum += </a:t>
            </a:r>
            <a:r>
              <a:rPr lang="en-US" dirty="0" err="1" smtClean="0"/>
              <a:t>num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err="1"/>
              <a:t>num</a:t>
            </a:r>
            <a:r>
              <a:rPr lang="en-US" dirty="0"/>
              <a:t> = </a:t>
            </a:r>
            <a:r>
              <a:rPr lang="en-US" dirty="0" err="1" smtClean="0"/>
              <a:t>int</a:t>
            </a:r>
            <a:r>
              <a:rPr lang="en-US" dirty="0" smtClean="0"/>
              <a:t>(input</a:t>
            </a:r>
            <a:r>
              <a:rPr lang="en-US" dirty="0"/>
              <a:t>(</a:t>
            </a:r>
            <a:r>
              <a:rPr lang="en-US" dirty="0">
                <a:solidFill>
                  <a:srgbClr val="FFC000"/>
                </a:solidFill>
              </a:rPr>
              <a:t>“enter a number to add (-1 to quit</a:t>
            </a:r>
            <a:r>
              <a:rPr lang="en-US" dirty="0" smtClean="0">
                <a:solidFill>
                  <a:srgbClr val="FFC000"/>
                </a:solidFill>
              </a:rPr>
              <a:t>”)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 (</a:t>
            </a:r>
            <a:r>
              <a:rPr lang="en-US" dirty="0" smtClean="0">
                <a:solidFill>
                  <a:srgbClr val="FFC000"/>
                </a:solidFill>
              </a:rPr>
              <a:t>“Your total is: “ </a:t>
            </a:r>
            <a:r>
              <a:rPr lang="en-US" dirty="0" smtClean="0"/>
              <a:t>+ </a:t>
            </a:r>
            <a:r>
              <a:rPr lang="en-US" dirty="0" err="1" smtClean="0"/>
              <a:t>str</a:t>
            </a:r>
            <a:r>
              <a:rPr lang="en-US" dirty="0" smtClean="0"/>
              <a:t>(sum))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76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763743"/>
            <a:ext cx="5833197" cy="50048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Predict the output of the following program: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WHILE LOOPS</a:t>
            </a:r>
            <a:endParaRPr lang="en-CA" dirty="0">
              <a:solidFill>
                <a:srgbClr val="FFC00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95564" y="4999203"/>
            <a:ext cx="7583054" cy="1656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1800" b="1" dirty="0" smtClean="0"/>
              <a:t>On Your Own: </a:t>
            </a:r>
          </a:p>
          <a:p>
            <a:r>
              <a:rPr lang="en-US" sz="1800" dirty="0" smtClean="0">
                <a:solidFill>
                  <a:schemeClr val="tx1">
                    <a:lumMod val="95000"/>
                  </a:schemeClr>
                </a:solidFill>
              </a:rPr>
              <a:t>Create your own program that asks the user for a number, then prints all of the values between 0 and that number.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46112" y="2341784"/>
            <a:ext cx="3873638" cy="2474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 err="1" smtClean="0"/>
              <a:t>time_left</a:t>
            </a:r>
            <a:r>
              <a:rPr lang="en-US" dirty="0" smtClean="0"/>
              <a:t> = 10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while </a:t>
            </a:r>
            <a:r>
              <a:rPr lang="en-US" dirty="0" err="1" smtClean="0">
                <a:solidFill>
                  <a:srgbClr val="CCFFFF"/>
                </a:solidFill>
              </a:rPr>
              <a:t>time_left</a:t>
            </a:r>
            <a:r>
              <a:rPr lang="en-US" dirty="0" smtClean="0">
                <a:solidFill>
                  <a:srgbClr val="CCFFFF"/>
                </a:solidFill>
              </a:rPr>
              <a:t> &gt; 0</a:t>
            </a:r>
            <a:r>
              <a:rPr lang="en-US" dirty="0" smtClean="0"/>
              <a:t>: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	print(</a:t>
            </a:r>
            <a:r>
              <a:rPr lang="en-US" dirty="0" err="1" smtClean="0"/>
              <a:t>time_left</a:t>
            </a:r>
            <a:r>
              <a:rPr lang="en-US" dirty="0" smtClean="0"/>
              <a:t>)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</a:t>
            </a:r>
            <a:r>
              <a:rPr lang="en-US" dirty="0" err="1" smtClean="0"/>
              <a:t>time_left</a:t>
            </a:r>
            <a:r>
              <a:rPr lang="en-US" dirty="0" smtClean="0"/>
              <a:t> = </a:t>
            </a:r>
            <a:r>
              <a:rPr lang="en-US" dirty="0" err="1" smtClean="0"/>
              <a:t>time_left</a:t>
            </a:r>
            <a:r>
              <a:rPr lang="en-US" dirty="0" smtClean="0"/>
              <a:t> – 1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print </a:t>
            </a:r>
            <a:r>
              <a:rPr lang="en-US" dirty="0" smtClean="0">
                <a:solidFill>
                  <a:srgbClr val="FFC000"/>
                </a:solidFill>
              </a:rPr>
              <a:t>(“Blastoff!”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US" dirty="0" smtClean="0"/>
          </a:p>
          <a:p>
            <a:pPr marL="0" indent="0">
              <a:buFont typeface="Wingdings 3" charset="2"/>
              <a:buNone/>
            </a:pPr>
            <a:endParaRPr lang="en-US" dirty="0" smtClean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205276" y="2341784"/>
            <a:ext cx="5705077" cy="2474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 smtClean="0">
                <a:solidFill>
                  <a:srgbClr val="E1F2CE"/>
                </a:solidFill>
              </a:rPr>
              <a:t>#before the loop (variable initialization)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>
                <a:solidFill>
                  <a:srgbClr val="E1F2CE"/>
                </a:solidFill>
              </a:rPr>
              <a:t>#condition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>
                <a:solidFill>
                  <a:srgbClr val="E1F2CE"/>
                </a:solidFill>
              </a:rPr>
              <a:t>#body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>
                <a:solidFill>
                  <a:srgbClr val="E1F2CE"/>
                </a:solidFill>
              </a:rPr>
              <a:t>#body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>
                <a:solidFill>
                  <a:srgbClr val="E1F2CE"/>
                </a:solidFill>
              </a:rPr>
              <a:t>#after the loop</a:t>
            </a:r>
            <a:br>
              <a:rPr lang="en-US" dirty="0" smtClean="0">
                <a:solidFill>
                  <a:srgbClr val="E1F2CE"/>
                </a:solidFill>
              </a:rPr>
            </a:br>
            <a:endParaRPr lang="en-US" dirty="0" smtClean="0">
              <a:solidFill>
                <a:srgbClr val="E1F2CE"/>
              </a:solidFill>
            </a:endParaRPr>
          </a:p>
          <a:p>
            <a:pPr marL="0" indent="0">
              <a:buFont typeface="Wingdings 3" charset="2"/>
              <a:buNone/>
            </a:pPr>
            <a:endParaRPr lang="en-US" dirty="0" smtClean="0">
              <a:solidFill>
                <a:srgbClr val="E1F2C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0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0025"/>
          </a:xfrm>
        </p:spPr>
        <p:txBody>
          <a:bodyPr/>
          <a:lstStyle/>
          <a:p>
            <a:r>
              <a:rPr lang="en-US" dirty="0" smtClean="0"/>
              <a:t>While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702839"/>
            <a:ext cx="8924609" cy="2799491"/>
          </a:xfrm>
        </p:spPr>
        <p:txBody>
          <a:bodyPr>
            <a:normAutofit/>
          </a:bodyPr>
          <a:lstStyle/>
          <a:p>
            <a:r>
              <a:rPr lang="en-US" dirty="0" smtClean="0"/>
              <a:t>While loops in Python use a </a:t>
            </a:r>
            <a:r>
              <a:rPr lang="en-US" i="1" dirty="0" smtClean="0"/>
              <a:t>pre-test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Condition is checked before any body code is run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All body code is executed before test is checked again</a:t>
            </a:r>
            <a:r>
              <a:rPr lang="en-US" dirty="0"/>
              <a:t>	</a:t>
            </a:r>
            <a:endParaRPr lang="en-US" dirty="0" smtClean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LOOP ITERATION</a:t>
            </a:r>
            <a:endParaRPr lang="en-CA" dirty="0">
              <a:solidFill>
                <a:srgbClr val="FFC000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91095" y="3505100"/>
            <a:ext cx="9159739" cy="2608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 err="1" smtClean="0"/>
              <a:t>time_left</a:t>
            </a:r>
            <a:r>
              <a:rPr lang="en-US" dirty="0" smtClean="0"/>
              <a:t> = 10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while </a:t>
            </a:r>
            <a:r>
              <a:rPr lang="en-US" dirty="0" err="1" smtClean="0">
                <a:solidFill>
                  <a:srgbClr val="CCFFFF"/>
                </a:solidFill>
              </a:rPr>
              <a:t>time_left</a:t>
            </a:r>
            <a:r>
              <a:rPr lang="en-US" dirty="0" smtClean="0">
                <a:solidFill>
                  <a:srgbClr val="CCFFFF"/>
                </a:solidFill>
              </a:rPr>
              <a:t> &gt; 0</a:t>
            </a:r>
            <a:r>
              <a:rPr lang="en-US" dirty="0" smtClean="0"/>
              <a:t>: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	</a:t>
            </a:r>
            <a:r>
              <a:rPr lang="en-US" dirty="0" err="1" smtClean="0"/>
              <a:t>time_left</a:t>
            </a:r>
            <a:r>
              <a:rPr lang="en-US" dirty="0" smtClean="0"/>
              <a:t> = </a:t>
            </a:r>
            <a:r>
              <a:rPr lang="en-US" dirty="0" err="1" smtClean="0"/>
              <a:t>time_left</a:t>
            </a:r>
            <a:r>
              <a:rPr lang="en-US" dirty="0" smtClean="0"/>
              <a:t> - 20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</a:t>
            </a:r>
            <a:r>
              <a:rPr lang="en-US" dirty="0" smtClean="0"/>
              <a:t>print (</a:t>
            </a:r>
            <a:r>
              <a:rPr lang="en-US" dirty="0" smtClean="0">
                <a:solidFill>
                  <a:srgbClr val="FFC000"/>
                </a:solidFill>
              </a:rPr>
              <a:t>“get ready, there are” </a:t>
            </a:r>
            <a:r>
              <a:rPr lang="en-US" dirty="0" smtClean="0"/>
              <a:t>+ </a:t>
            </a:r>
            <a:r>
              <a:rPr lang="en-US" dirty="0" err="1" smtClean="0"/>
              <a:t>str</a:t>
            </a:r>
            <a:r>
              <a:rPr lang="en-US" dirty="0" smtClean="0"/>
              <a:t>(</a:t>
            </a:r>
            <a:r>
              <a:rPr lang="en-US" dirty="0" err="1" smtClean="0"/>
              <a:t>time_left</a:t>
            </a:r>
            <a:r>
              <a:rPr lang="en-US" dirty="0" smtClean="0"/>
              <a:t>) + </a:t>
            </a:r>
            <a:r>
              <a:rPr lang="en-US" dirty="0" smtClean="0">
                <a:solidFill>
                  <a:srgbClr val="FFC000"/>
                </a:solidFill>
              </a:rPr>
              <a:t>“seconds until blastoff”</a:t>
            </a:r>
            <a:r>
              <a:rPr lang="en-US" dirty="0" smtClean="0"/>
              <a:t>)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print (</a:t>
            </a:r>
            <a:r>
              <a:rPr lang="en-US" dirty="0" smtClean="0">
                <a:solidFill>
                  <a:srgbClr val="FFC000"/>
                </a:solidFill>
              </a:rPr>
              <a:t>“Blastoff!”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US" dirty="0" smtClean="0"/>
          </a:p>
          <a:p>
            <a:pPr marL="0" indent="0">
              <a:buFont typeface="Wingdings 3" charset="2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9274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0025"/>
          </a:xfrm>
        </p:spPr>
        <p:txBody>
          <a:bodyPr/>
          <a:lstStyle/>
          <a:p>
            <a:r>
              <a:rPr lang="en-US" dirty="0" smtClean="0"/>
              <a:t>While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702840"/>
            <a:ext cx="8924609" cy="1719630"/>
          </a:xfrm>
        </p:spPr>
        <p:txBody>
          <a:bodyPr>
            <a:normAutofit/>
          </a:bodyPr>
          <a:lstStyle/>
          <a:p>
            <a:r>
              <a:rPr lang="en-US" dirty="0" smtClean="0"/>
              <a:t>Regular iteration for loops can be modified with certain keywords.</a:t>
            </a:r>
          </a:p>
          <a:p>
            <a:r>
              <a:rPr lang="en-US" dirty="0" smtClean="0"/>
              <a:t>Break keyword can be used to stop a loop immediately;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BREAK</a:t>
            </a:r>
            <a:endParaRPr lang="en-CA" dirty="0">
              <a:solidFill>
                <a:srgbClr val="FFC000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91095" y="3108960"/>
            <a:ext cx="9159739" cy="3004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 smtClean="0"/>
              <a:t>while </a:t>
            </a:r>
            <a:r>
              <a:rPr lang="en-US" dirty="0" smtClean="0"/>
              <a:t>True</a:t>
            </a:r>
            <a:r>
              <a:rPr lang="en-US" dirty="0" smtClean="0"/>
              <a:t>: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</a:t>
            </a:r>
            <a:r>
              <a:rPr lang="en-US" dirty="0" smtClean="0"/>
              <a:t>text = input</a:t>
            </a:r>
            <a:r>
              <a:rPr lang="en-US" dirty="0"/>
              <a:t>(</a:t>
            </a:r>
            <a:r>
              <a:rPr lang="en-US" dirty="0">
                <a:solidFill>
                  <a:srgbClr val="FFC000"/>
                </a:solidFill>
              </a:rPr>
              <a:t>“What should I echo</a:t>
            </a:r>
            <a:r>
              <a:rPr lang="en-US" dirty="0" smtClean="0">
                <a:solidFill>
                  <a:srgbClr val="FFC000"/>
                </a:solidFill>
              </a:rPr>
              <a:t>?”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print(text)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	if text == </a:t>
            </a:r>
            <a:r>
              <a:rPr lang="en-US" dirty="0" smtClean="0">
                <a:solidFill>
                  <a:srgbClr val="FFC000"/>
                </a:solidFill>
              </a:rPr>
              <a:t>“-quit”</a:t>
            </a:r>
            <a:r>
              <a:rPr lang="en-US" dirty="0" smtClean="0"/>
              <a:t>: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</a:t>
            </a:r>
            <a:r>
              <a:rPr lang="en-US" dirty="0" smtClean="0"/>
              <a:t>	break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</a:t>
            </a:r>
            <a:r>
              <a:rPr lang="en-US" dirty="0" smtClean="0"/>
              <a:t>print(</a:t>
            </a:r>
            <a:r>
              <a:rPr lang="en-US" dirty="0" smtClean="0">
                <a:solidFill>
                  <a:srgbClr val="FFC000"/>
                </a:solidFill>
              </a:rPr>
              <a:t>“Let’s try again…”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US" dirty="0" smtClean="0"/>
          </a:p>
          <a:p>
            <a:pPr marL="0" indent="0">
              <a:buFont typeface="Wingdings 3" charset="2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0560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0025"/>
          </a:xfrm>
        </p:spPr>
        <p:txBody>
          <a:bodyPr/>
          <a:lstStyle/>
          <a:p>
            <a:r>
              <a:rPr lang="en-US" dirty="0" smtClean="0"/>
              <a:t>While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702840"/>
            <a:ext cx="8924609" cy="1719630"/>
          </a:xfrm>
        </p:spPr>
        <p:txBody>
          <a:bodyPr>
            <a:normAutofit/>
          </a:bodyPr>
          <a:lstStyle/>
          <a:p>
            <a:r>
              <a:rPr lang="en-US" dirty="0" smtClean="0"/>
              <a:t>Regular iteration for loops can be modified with certain keywords.</a:t>
            </a:r>
          </a:p>
          <a:p>
            <a:r>
              <a:rPr lang="en-US" dirty="0" smtClean="0"/>
              <a:t>Continue keyword can be used to skip the rest of the code body for the current iteration, and goes back to the pre-test before possibly looping again.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Continue</a:t>
            </a:r>
            <a:endParaRPr lang="en-CA" dirty="0">
              <a:solidFill>
                <a:srgbClr val="FFC000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91095" y="3544389"/>
            <a:ext cx="9159739" cy="3004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 err="1" smtClean="0"/>
              <a:t>num</a:t>
            </a:r>
            <a:r>
              <a:rPr lang="en-US" dirty="0" smtClean="0"/>
              <a:t> = 0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while </a:t>
            </a:r>
            <a:r>
              <a:rPr lang="en-US" dirty="0" err="1" smtClean="0">
                <a:solidFill>
                  <a:srgbClr val="CCFFFF"/>
                </a:solidFill>
              </a:rPr>
              <a:t>num</a:t>
            </a:r>
            <a:r>
              <a:rPr lang="en-US" dirty="0" smtClean="0">
                <a:solidFill>
                  <a:srgbClr val="CCFFFF"/>
                </a:solidFill>
              </a:rPr>
              <a:t> &lt; 20</a:t>
            </a:r>
            <a:r>
              <a:rPr lang="en-US" dirty="0" smtClean="0"/>
              <a:t>: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</a:t>
            </a:r>
            <a:r>
              <a:rPr lang="en-US" dirty="0" err="1" smtClean="0"/>
              <a:t>num</a:t>
            </a:r>
            <a:r>
              <a:rPr lang="en-US" dirty="0" smtClean="0"/>
              <a:t> += 1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</a:t>
            </a:r>
            <a:r>
              <a:rPr lang="en-US" dirty="0" smtClean="0"/>
              <a:t>if </a:t>
            </a:r>
            <a:r>
              <a:rPr lang="en-US" dirty="0" err="1" smtClean="0"/>
              <a:t>num</a:t>
            </a:r>
            <a:r>
              <a:rPr lang="en-US" dirty="0" smtClean="0"/>
              <a:t> == 13: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</a:t>
            </a:r>
            <a:r>
              <a:rPr lang="en-US" dirty="0" smtClean="0"/>
              <a:t>	continue      </a:t>
            </a:r>
            <a:r>
              <a:rPr lang="en-US" dirty="0" smtClean="0">
                <a:solidFill>
                  <a:srgbClr val="CEEAB0"/>
                </a:solidFill>
              </a:rPr>
              <a:t>#don’t print out an unlucky number!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</a:t>
            </a:r>
            <a:r>
              <a:rPr lang="en-US" dirty="0" smtClean="0"/>
              <a:t>print(</a:t>
            </a:r>
            <a:r>
              <a:rPr lang="en-US" dirty="0" err="1" smtClean="0"/>
              <a:t>num</a:t>
            </a:r>
            <a:r>
              <a:rPr 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3914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738949" y="3735977"/>
            <a:ext cx="6453051" cy="2508069"/>
          </a:xfrm>
          <a:prstGeom prst="rect">
            <a:avLst/>
          </a:prstGeom>
          <a:solidFill>
            <a:srgbClr val="66FFF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1: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673" y="1860279"/>
            <a:ext cx="8946541" cy="419548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 smtClean="0"/>
              <a:t>Write a program that asks the user to enter a number, and repeat the following until they enter -1 (to quit):</a:t>
            </a:r>
          </a:p>
          <a:p>
            <a:pPr lvl="1"/>
            <a:r>
              <a:rPr lang="en-US" dirty="0" smtClean="0"/>
              <a:t>Append the number to a list called numbers.</a:t>
            </a:r>
          </a:p>
          <a:p>
            <a:pPr lvl="1"/>
            <a:r>
              <a:rPr lang="en-US" dirty="0" smtClean="0"/>
              <a:t>Add the value of that number to a running total in a variable called sum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When the user enters -1 to quit, print out:</a:t>
            </a:r>
          </a:p>
          <a:p>
            <a:pPr lvl="1"/>
            <a:r>
              <a:rPr lang="en-US" dirty="0" smtClean="0"/>
              <a:t>The current list</a:t>
            </a:r>
          </a:p>
          <a:p>
            <a:pPr lvl="1"/>
            <a:r>
              <a:rPr lang="en-US" dirty="0" smtClean="0"/>
              <a:t>The current sum</a:t>
            </a:r>
          </a:p>
          <a:p>
            <a:pPr lvl="1"/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244837" y="3942279"/>
            <a:ext cx="58078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chemeClr val="tx1">
                    <a:lumMod val="95000"/>
                  </a:schemeClr>
                </a:solidFill>
              </a:rPr>
              <a:t>Python Lists Refresher:</a:t>
            </a:r>
            <a:br>
              <a:rPr lang="en-US" u="sng" dirty="0" smtClean="0">
                <a:solidFill>
                  <a:schemeClr val="tx1">
                    <a:lumMod val="95000"/>
                  </a:schemeClr>
                </a:solidFill>
              </a:rPr>
            </a:br>
            <a:endParaRPr lang="en-US" u="sng" dirty="0" smtClean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 err="1"/>
              <a:t>n</a:t>
            </a:r>
            <a:r>
              <a:rPr lang="en-US" dirty="0" err="1" smtClean="0"/>
              <a:t>ew_list</a:t>
            </a:r>
            <a:r>
              <a:rPr lang="en-US" dirty="0" smtClean="0"/>
              <a:t> = []		    </a:t>
            </a:r>
            <a:r>
              <a:rPr lang="en-US" dirty="0" smtClean="0">
                <a:solidFill>
                  <a:srgbClr val="CCFFFF"/>
                </a:solidFill>
              </a:rPr>
              <a:t># </a:t>
            </a:r>
            <a:r>
              <a:rPr lang="en-US" dirty="0">
                <a:solidFill>
                  <a:srgbClr val="CCFFFF"/>
                </a:solidFill>
              </a:rPr>
              <a:t>Create new </a:t>
            </a:r>
            <a:r>
              <a:rPr lang="en-US" dirty="0" smtClean="0">
                <a:solidFill>
                  <a:srgbClr val="CCFFFF"/>
                </a:solidFill>
              </a:rPr>
              <a:t>list</a:t>
            </a:r>
            <a:endParaRPr lang="en-US" dirty="0" smtClean="0"/>
          </a:p>
          <a:p>
            <a:r>
              <a:rPr lang="en-US" dirty="0" err="1" smtClean="0"/>
              <a:t>new_list.append</a:t>
            </a:r>
            <a:r>
              <a:rPr lang="en-US" dirty="0" smtClean="0"/>
              <a:t>(5)	    </a:t>
            </a:r>
            <a:r>
              <a:rPr lang="en-US" dirty="0">
                <a:solidFill>
                  <a:srgbClr val="CCFFFF"/>
                </a:solidFill>
              </a:rPr>
              <a:t>#Add element to list</a:t>
            </a:r>
            <a:endParaRPr lang="en-US" dirty="0" smtClean="0"/>
          </a:p>
          <a:p>
            <a:r>
              <a:rPr lang="en-US" dirty="0" err="1" smtClean="0"/>
              <a:t>new_list.append</a:t>
            </a:r>
            <a:r>
              <a:rPr lang="en-US" dirty="0" smtClean="0"/>
              <a:t>(“Word”)   </a:t>
            </a:r>
            <a:r>
              <a:rPr lang="en-US" dirty="0" smtClean="0">
                <a:solidFill>
                  <a:srgbClr val="CCFFFF"/>
                </a:solidFill>
              </a:rPr>
              <a:t>#</a:t>
            </a:r>
            <a:r>
              <a:rPr lang="en-US" dirty="0">
                <a:solidFill>
                  <a:srgbClr val="CCFFFF"/>
                </a:solidFill>
              </a:rPr>
              <a:t>Add element to </a:t>
            </a:r>
            <a:r>
              <a:rPr lang="en-US" dirty="0" smtClean="0">
                <a:solidFill>
                  <a:srgbClr val="CCFFFF"/>
                </a:solidFill>
              </a:rPr>
              <a:t>list</a:t>
            </a:r>
            <a:endParaRPr lang="en-US" dirty="0" smtClean="0"/>
          </a:p>
          <a:p>
            <a:r>
              <a:rPr lang="en-US" dirty="0" smtClean="0"/>
              <a:t>print(</a:t>
            </a:r>
            <a:r>
              <a:rPr lang="en-US" dirty="0" err="1" smtClean="0"/>
              <a:t>new_list</a:t>
            </a:r>
            <a:r>
              <a:rPr lang="en-US" dirty="0" smtClean="0"/>
              <a:t>)		    </a:t>
            </a:r>
            <a:r>
              <a:rPr lang="en-US" dirty="0" smtClean="0">
                <a:solidFill>
                  <a:srgbClr val="CCFFFF"/>
                </a:solidFill>
              </a:rPr>
              <a:t>#</a:t>
            </a:r>
            <a:r>
              <a:rPr lang="en-US" dirty="0">
                <a:solidFill>
                  <a:srgbClr val="CCFFFF"/>
                </a:solidFill>
              </a:rPr>
              <a:t>print a list</a:t>
            </a:r>
            <a:endParaRPr lang="en-CA" dirty="0">
              <a:solidFill>
                <a:srgbClr val="CCFFFF"/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594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645920"/>
            <a:ext cx="9329557" cy="46024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total  = 0</a:t>
            </a:r>
          </a:p>
          <a:p>
            <a:pPr marL="0" indent="0">
              <a:buNone/>
            </a:pPr>
            <a:r>
              <a:rPr lang="en-US" dirty="0" smtClean="0"/>
              <a:t>numbers = []</a:t>
            </a:r>
          </a:p>
          <a:p>
            <a:pPr marL="0" indent="0">
              <a:buNone/>
            </a:pPr>
            <a:r>
              <a:rPr lang="en-US" dirty="0" err="1" smtClean="0"/>
              <a:t>user_num</a:t>
            </a:r>
            <a:r>
              <a:rPr lang="en-US" dirty="0" smtClean="0"/>
              <a:t> = </a:t>
            </a:r>
            <a:r>
              <a:rPr lang="en-US" dirty="0" err="1" smtClean="0"/>
              <a:t>int</a:t>
            </a:r>
            <a:r>
              <a:rPr lang="en-US" dirty="0" smtClean="0"/>
              <a:t>(input(</a:t>
            </a:r>
            <a:r>
              <a:rPr lang="en-US" dirty="0" smtClean="0">
                <a:solidFill>
                  <a:srgbClr val="FFC000"/>
                </a:solidFill>
              </a:rPr>
              <a:t>“Please enter a number (-1 to quit)”</a:t>
            </a:r>
            <a:r>
              <a:rPr lang="en-US" dirty="0" smtClean="0"/>
              <a:t>))</a:t>
            </a:r>
          </a:p>
          <a:p>
            <a:pPr marL="0" indent="0">
              <a:buNone/>
            </a:pPr>
            <a:r>
              <a:rPr lang="en-US" dirty="0" smtClean="0"/>
              <a:t>while </a:t>
            </a:r>
            <a:r>
              <a:rPr lang="en-US" dirty="0" err="1" smtClean="0">
                <a:solidFill>
                  <a:srgbClr val="CCFFFF"/>
                </a:solidFill>
              </a:rPr>
              <a:t>user_num</a:t>
            </a:r>
            <a:r>
              <a:rPr lang="en-US" dirty="0" smtClean="0">
                <a:solidFill>
                  <a:srgbClr val="CCFFFF"/>
                </a:solidFill>
              </a:rPr>
              <a:t> != -1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total = total + </a:t>
            </a:r>
            <a:r>
              <a:rPr lang="en-US" dirty="0" err="1" smtClean="0"/>
              <a:t>user_num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numbers.append</a:t>
            </a:r>
            <a:r>
              <a:rPr lang="en-US" dirty="0" smtClean="0"/>
              <a:t>(</a:t>
            </a:r>
            <a:r>
              <a:rPr lang="en-US" dirty="0" err="1" smtClean="0"/>
              <a:t>user_num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user_num</a:t>
            </a:r>
            <a:r>
              <a:rPr lang="en-US" dirty="0"/>
              <a:t> = </a:t>
            </a:r>
            <a:r>
              <a:rPr lang="en-US" dirty="0" err="1" smtClean="0"/>
              <a:t>int</a:t>
            </a:r>
            <a:r>
              <a:rPr lang="en-US" dirty="0" smtClean="0"/>
              <a:t>(input</a:t>
            </a:r>
            <a:r>
              <a:rPr lang="en-US" dirty="0"/>
              <a:t>(</a:t>
            </a:r>
            <a:r>
              <a:rPr lang="en-US" dirty="0">
                <a:solidFill>
                  <a:srgbClr val="FFC000"/>
                </a:solidFill>
              </a:rPr>
              <a:t>“Please enter a number (-1 to quit</a:t>
            </a:r>
            <a:r>
              <a:rPr lang="en-US" dirty="0" smtClean="0">
                <a:solidFill>
                  <a:srgbClr val="FFC000"/>
                </a:solidFill>
              </a:rPr>
              <a:t>)”</a:t>
            </a:r>
            <a:r>
              <a:rPr lang="en-US" dirty="0" smtClean="0"/>
              <a:t>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print(numbers)</a:t>
            </a:r>
          </a:p>
          <a:p>
            <a:pPr marL="0" indent="0">
              <a:buNone/>
            </a:pPr>
            <a:r>
              <a:rPr lang="en-US" dirty="0" smtClean="0"/>
              <a:t>print(</a:t>
            </a:r>
            <a:r>
              <a:rPr lang="en-US" dirty="0" smtClean="0">
                <a:solidFill>
                  <a:srgbClr val="FFC000"/>
                </a:solidFill>
              </a:rPr>
              <a:t>“sum is: “ </a:t>
            </a:r>
            <a:r>
              <a:rPr lang="en-US" dirty="0" smtClean="0"/>
              <a:t>+ </a:t>
            </a:r>
            <a:r>
              <a:rPr lang="en-US" dirty="0" err="1" smtClean="0"/>
              <a:t>str</a:t>
            </a:r>
            <a:r>
              <a:rPr lang="en-US" dirty="0" smtClean="0"/>
              <a:t>(total))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6862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Modifying a list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.remove() function can be used to delete a certain value from a list.</a:t>
            </a:r>
          </a:p>
          <a:p>
            <a:r>
              <a:rPr lang="en-US" dirty="0" smtClean="0"/>
              <a:t>In the interpreter, let’s try creating a list, appending items, and deleting items.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What happens if we try to delete something that doesn’t exist?</a:t>
            </a:r>
            <a:endParaRPr lang="en-CA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46111" y="1091663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REMOVAL</a:t>
            </a:r>
            <a:endParaRPr lang="en-CA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58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2: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589" y="1280161"/>
            <a:ext cx="7291120" cy="3735976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US" dirty="0" smtClean="0"/>
              <a:t>Write a program that allows users to modify a list in this way:</a:t>
            </a:r>
          </a:p>
          <a:p>
            <a:pPr lvl="1"/>
            <a:r>
              <a:rPr lang="en-US" dirty="0" smtClean="0"/>
              <a:t>Create the following list: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fruit = [“apple”, “banana”, “kiwi”, “orange”, “mango”]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Have your program print out the current list, and then ask the user for an item </a:t>
            </a:r>
            <a:r>
              <a:rPr lang="en-US" dirty="0"/>
              <a:t>(as a string) t</a:t>
            </a:r>
            <a:r>
              <a:rPr lang="en-US" dirty="0" smtClean="0"/>
              <a:t>o delete, and remove that item from the </a:t>
            </a:r>
            <a:r>
              <a:rPr lang="en-US" b="1" dirty="0" smtClean="0"/>
              <a:t>fruit</a:t>
            </a:r>
            <a:r>
              <a:rPr lang="en-US" dirty="0" smtClean="0"/>
              <a:t> list.</a:t>
            </a:r>
          </a:p>
          <a:p>
            <a:pPr lvl="1"/>
            <a:r>
              <a:rPr lang="en-US" dirty="0" smtClean="0"/>
              <a:t>Continue displaying the list and asking for removal items until either the user enters “-quit” or there are no items left to remove.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8064137" y="1280161"/>
            <a:ext cx="4127863" cy="5050970"/>
          </a:xfrm>
          <a:prstGeom prst="rect">
            <a:avLst/>
          </a:prstGeom>
          <a:solidFill>
            <a:srgbClr val="66FFFF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133806" y="1416420"/>
            <a:ext cx="405819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chemeClr val="tx1">
                    <a:lumMod val="95000"/>
                  </a:schemeClr>
                </a:solidFill>
              </a:rPr>
              <a:t>Python Cheat Sheet</a:t>
            </a:r>
            <a:br>
              <a:rPr lang="en-US" u="sng" dirty="0" smtClean="0">
                <a:solidFill>
                  <a:schemeClr val="tx1">
                    <a:lumMod val="95000"/>
                  </a:schemeClr>
                </a:solidFill>
              </a:rPr>
            </a:br>
            <a:endParaRPr lang="en-US" u="sng" dirty="0" smtClean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 err="1"/>
              <a:t>n</a:t>
            </a:r>
            <a:r>
              <a:rPr lang="en-US" dirty="0" err="1" smtClean="0"/>
              <a:t>ew_list</a:t>
            </a:r>
            <a:r>
              <a:rPr lang="en-US" dirty="0" smtClean="0"/>
              <a:t> = []</a:t>
            </a:r>
          </a:p>
          <a:p>
            <a:r>
              <a:rPr lang="en-US" dirty="0" smtClean="0"/>
              <a:t>   </a:t>
            </a:r>
            <a:r>
              <a:rPr lang="en-US" dirty="0" smtClean="0">
                <a:solidFill>
                  <a:srgbClr val="CCFFFF"/>
                </a:solidFill>
              </a:rPr>
              <a:t># </a:t>
            </a:r>
            <a:r>
              <a:rPr lang="en-US" dirty="0">
                <a:solidFill>
                  <a:srgbClr val="CCFFFF"/>
                </a:solidFill>
              </a:rPr>
              <a:t>Create new </a:t>
            </a:r>
            <a:r>
              <a:rPr lang="en-US" dirty="0" smtClean="0">
                <a:solidFill>
                  <a:srgbClr val="CCFFFF"/>
                </a:solidFill>
              </a:rPr>
              <a:t>list</a:t>
            </a:r>
            <a:br>
              <a:rPr lang="en-US" dirty="0" smtClean="0">
                <a:solidFill>
                  <a:srgbClr val="CCFFFF"/>
                </a:solidFill>
              </a:rPr>
            </a:br>
            <a:endParaRPr lang="en-US" dirty="0" smtClean="0"/>
          </a:p>
          <a:p>
            <a:r>
              <a:rPr lang="en-US" dirty="0" err="1" smtClean="0"/>
              <a:t>new_list.append</a:t>
            </a:r>
            <a:r>
              <a:rPr lang="en-US" dirty="0" smtClean="0"/>
              <a:t>(“apple”)   </a:t>
            </a:r>
          </a:p>
          <a:p>
            <a:r>
              <a:rPr lang="en-US" dirty="0">
                <a:solidFill>
                  <a:srgbClr val="CCFFFF"/>
                </a:solidFill>
              </a:rPr>
              <a:t> </a:t>
            </a:r>
            <a:r>
              <a:rPr lang="en-US" dirty="0" smtClean="0">
                <a:solidFill>
                  <a:srgbClr val="CCFFFF"/>
                </a:solidFill>
              </a:rPr>
              <a:t>  #</a:t>
            </a:r>
            <a:r>
              <a:rPr lang="en-US" dirty="0">
                <a:solidFill>
                  <a:srgbClr val="CCFFFF"/>
                </a:solidFill>
              </a:rPr>
              <a:t>Add element to </a:t>
            </a:r>
            <a:r>
              <a:rPr lang="en-US" dirty="0" smtClean="0">
                <a:solidFill>
                  <a:srgbClr val="CCFFFF"/>
                </a:solidFill>
              </a:rPr>
              <a:t>list</a:t>
            </a:r>
            <a:br>
              <a:rPr lang="en-US" dirty="0" smtClean="0">
                <a:solidFill>
                  <a:srgbClr val="CCFFFF"/>
                </a:solidFill>
              </a:rPr>
            </a:br>
            <a:endParaRPr lang="en-US" dirty="0" smtClean="0">
              <a:solidFill>
                <a:srgbClr val="CCFFFF"/>
              </a:solidFill>
            </a:endParaRPr>
          </a:p>
          <a:p>
            <a:r>
              <a:rPr lang="en-US" dirty="0" err="1" smtClean="0"/>
              <a:t>new_list.remove</a:t>
            </a:r>
            <a:r>
              <a:rPr lang="en-US" dirty="0" smtClean="0"/>
              <a:t>(“apple”)</a:t>
            </a:r>
          </a:p>
          <a:p>
            <a:r>
              <a:rPr lang="en-US" dirty="0" smtClean="0"/>
              <a:t>   </a:t>
            </a:r>
            <a:r>
              <a:rPr lang="en-US" dirty="0" smtClean="0">
                <a:solidFill>
                  <a:srgbClr val="CCFFFF"/>
                </a:solidFill>
              </a:rPr>
              <a:t>#Remove this value from list</a:t>
            </a:r>
          </a:p>
          <a:p>
            <a:r>
              <a:rPr lang="en-US" dirty="0" smtClean="0">
                <a:solidFill>
                  <a:srgbClr val="CCFFFF"/>
                </a:solidFill>
              </a:rPr>
              <a:t>     </a:t>
            </a:r>
            <a:r>
              <a:rPr lang="en-US" dirty="0" smtClean="0">
                <a:solidFill>
                  <a:srgbClr val="FFC000"/>
                </a:solidFill>
              </a:rPr>
              <a:t>#Error if no such element exists!</a:t>
            </a:r>
            <a:br>
              <a:rPr lang="en-US" dirty="0" smtClean="0">
                <a:solidFill>
                  <a:srgbClr val="FFC000"/>
                </a:solidFill>
              </a:rPr>
            </a:br>
            <a:endParaRPr lang="en-US" dirty="0" smtClean="0">
              <a:solidFill>
                <a:srgbClr val="FFC000"/>
              </a:solidFill>
            </a:endParaRPr>
          </a:p>
          <a:p>
            <a:r>
              <a:rPr lang="en-US" dirty="0" err="1" smtClean="0"/>
              <a:t>len</a:t>
            </a:r>
            <a:r>
              <a:rPr lang="en-US" dirty="0" smtClean="0"/>
              <a:t>(</a:t>
            </a:r>
            <a:r>
              <a:rPr lang="en-US" dirty="0" err="1" smtClean="0"/>
              <a:t>new_list</a:t>
            </a:r>
            <a:r>
              <a:rPr lang="en-US" dirty="0" smtClean="0"/>
              <a:t>)</a:t>
            </a:r>
          </a:p>
          <a:p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smtClean="0">
                <a:solidFill>
                  <a:srgbClr val="FFC000"/>
                </a:solidFill>
              </a:rPr>
              <a:t>  </a:t>
            </a:r>
            <a:r>
              <a:rPr lang="en-US" dirty="0" smtClean="0">
                <a:solidFill>
                  <a:srgbClr val="CCFFFF"/>
                </a:solidFill>
              </a:rPr>
              <a:t>#returns the number of elements</a:t>
            </a:r>
            <a:br>
              <a:rPr lang="en-US" dirty="0" smtClean="0">
                <a:solidFill>
                  <a:srgbClr val="CCFFFF"/>
                </a:solidFill>
              </a:rPr>
            </a:br>
            <a:endParaRPr lang="en-US" dirty="0" smtClean="0">
              <a:solidFill>
                <a:srgbClr val="CCFFFF"/>
              </a:solidFill>
            </a:endParaRPr>
          </a:p>
          <a:p>
            <a:r>
              <a:rPr lang="en-US" dirty="0" smtClean="0"/>
              <a:t>print(</a:t>
            </a:r>
            <a:r>
              <a:rPr lang="en-US" dirty="0" err="1" smtClean="0"/>
              <a:t>new_list</a:t>
            </a:r>
            <a:r>
              <a:rPr lang="en-US" dirty="0" smtClean="0"/>
              <a:t>)		    </a:t>
            </a:r>
          </a:p>
          <a:p>
            <a:r>
              <a:rPr lang="en-US" dirty="0">
                <a:solidFill>
                  <a:srgbClr val="CCFFFF"/>
                </a:solidFill>
              </a:rPr>
              <a:t> </a:t>
            </a:r>
            <a:r>
              <a:rPr lang="en-US" dirty="0" smtClean="0">
                <a:solidFill>
                  <a:srgbClr val="CCFFFF"/>
                </a:solidFill>
              </a:rPr>
              <a:t>  #</a:t>
            </a:r>
            <a:r>
              <a:rPr lang="en-US" dirty="0">
                <a:solidFill>
                  <a:srgbClr val="CCFFFF"/>
                </a:solidFill>
              </a:rPr>
              <a:t>print a list</a:t>
            </a:r>
            <a:endParaRPr lang="en-CA" dirty="0">
              <a:solidFill>
                <a:srgbClr val="CCFFFF"/>
              </a:solidFill>
            </a:endParaRPr>
          </a:p>
          <a:p>
            <a:endParaRPr lang="en-CA" dirty="0"/>
          </a:p>
        </p:txBody>
      </p:sp>
      <p:sp>
        <p:nvSpPr>
          <p:cNvPr id="6" name="TextBox 5"/>
          <p:cNvSpPr txBox="1"/>
          <p:nvPr/>
        </p:nvSpPr>
        <p:spPr>
          <a:xfrm>
            <a:off x="424674" y="5243415"/>
            <a:ext cx="6662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66FFFF"/>
                </a:solidFill>
              </a:rPr>
              <a:t>Extra for Experts:</a:t>
            </a:r>
          </a:p>
          <a:p>
            <a:r>
              <a:rPr lang="en-US" dirty="0" smtClean="0">
                <a:solidFill>
                  <a:schemeClr val="tx1">
                    <a:lumMod val="85000"/>
                  </a:schemeClr>
                </a:solidFill>
              </a:rPr>
              <a:t>Add a try/except block to handle the error that occurs if the user enters a value that isn’t in the list.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7444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fruit = [</a:t>
            </a:r>
            <a:r>
              <a:rPr lang="en-US" dirty="0">
                <a:solidFill>
                  <a:srgbClr val="FFC000"/>
                </a:solidFill>
              </a:rPr>
              <a:t>"apple", "banana", "kiwi", "orange", "mango"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print(fruit)</a:t>
            </a:r>
          </a:p>
          <a:p>
            <a:pPr marL="0" indent="0">
              <a:buNone/>
            </a:pPr>
            <a:r>
              <a:rPr lang="en-US" dirty="0" err="1"/>
              <a:t>user_in</a:t>
            </a:r>
            <a:r>
              <a:rPr lang="en-US" dirty="0"/>
              <a:t> = </a:t>
            </a:r>
            <a:r>
              <a:rPr lang="en-US" dirty="0" smtClean="0"/>
              <a:t>input</a:t>
            </a:r>
            <a:r>
              <a:rPr lang="en-US" dirty="0"/>
              <a:t>(</a:t>
            </a:r>
            <a:r>
              <a:rPr lang="en-US" dirty="0">
                <a:solidFill>
                  <a:srgbClr val="FFC000"/>
                </a:solidFill>
              </a:rPr>
              <a:t>"What would you like to remove? (-quit to stop)"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while </a:t>
            </a:r>
            <a:r>
              <a:rPr lang="en-US" dirty="0" err="1">
                <a:solidFill>
                  <a:srgbClr val="CCFFFF"/>
                </a:solidFill>
              </a:rPr>
              <a:t>user_in</a:t>
            </a:r>
            <a:r>
              <a:rPr lang="en-US" dirty="0">
                <a:solidFill>
                  <a:srgbClr val="CCFFFF"/>
                </a:solidFill>
              </a:rPr>
              <a:t> != </a:t>
            </a:r>
            <a:r>
              <a:rPr lang="en-US" dirty="0">
                <a:solidFill>
                  <a:srgbClr val="FFC000"/>
                </a:solidFill>
              </a:rPr>
              <a:t>"-quit"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CEEAB0"/>
                </a:solidFill>
              </a:rPr>
              <a:t>try: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fruit.remove</a:t>
            </a:r>
            <a:r>
              <a:rPr lang="en-US" dirty="0"/>
              <a:t>(</a:t>
            </a:r>
            <a:r>
              <a:rPr lang="en-US" dirty="0" err="1"/>
              <a:t>user_in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CEEAB0"/>
                </a:solidFill>
              </a:rPr>
              <a:t> except:</a:t>
            </a:r>
          </a:p>
          <a:p>
            <a:pPr marL="0" indent="0">
              <a:buNone/>
            </a:pPr>
            <a:r>
              <a:rPr lang="en-US" dirty="0"/>
              <a:t>        print(</a:t>
            </a:r>
            <a:r>
              <a:rPr lang="en-US" dirty="0">
                <a:solidFill>
                  <a:srgbClr val="FFC000"/>
                </a:solidFill>
              </a:rPr>
              <a:t>"Sorry, that item is not current in the list!"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len</a:t>
            </a:r>
            <a:r>
              <a:rPr lang="en-US" dirty="0"/>
              <a:t>(fruit)==0:</a:t>
            </a:r>
          </a:p>
          <a:p>
            <a:pPr marL="0" indent="0">
              <a:buNone/>
            </a:pPr>
            <a:r>
              <a:rPr lang="en-US" dirty="0"/>
              <a:t>        print(</a:t>
            </a:r>
            <a:r>
              <a:rPr lang="en-US" dirty="0">
                <a:solidFill>
                  <a:srgbClr val="FFC000"/>
                </a:solidFill>
              </a:rPr>
              <a:t>"All items deleted - program terminating!"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break</a:t>
            </a:r>
          </a:p>
          <a:p>
            <a:pPr marL="0" indent="0">
              <a:buNone/>
            </a:pPr>
            <a:r>
              <a:rPr lang="en-US" dirty="0"/>
              <a:t>    print(fruit)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user_in</a:t>
            </a:r>
            <a:r>
              <a:rPr lang="en-US" dirty="0"/>
              <a:t> = </a:t>
            </a:r>
            <a:r>
              <a:rPr lang="en-US" dirty="0" smtClean="0"/>
              <a:t>input</a:t>
            </a:r>
            <a:r>
              <a:rPr lang="en-US" dirty="0"/>
              <a:t>(</a:t>
            </a:r>
            <a:r>
              <a:rPr lang="en-US" dirty="0">
                <a:solidFill>
                  <a:srgbClr val="FFC000"/>
                </a:solidFill>
              </a:rPr>
              <a:t>"What would you like to remove? (-quit to stop)"</a:t>
            </a:r>
            <a:r>
              <a:rPr lang="en-US" dirty="0"/>
              <a:t>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5126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4673</TotalTime>
  <Words>590</Words>
  <Application>Microsoft Office PowerPoint</Application>
  <PresentationFormat>Widescreen</PresentationFormat>
  <Paragraphs>148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Computer Science 20</vt:lpstr>
      <vt:lpstr>What we’ve seen so far…</vt:lpstr>
      <vt:lpstr>Self-Check</vt:lpstr>
      <vt:lpstr>Self-Check</vt:lpstr>
      <vt:lpstr>While Loops</vt:lpstr>
      <vt:lpstr>Exercise</vt:lpstr>
      <vt:lpstr>While Loops</vt:lpstr>
      <vt:lpstr>While Loops</vt:lpstr>
      <vt:lpstr>While Loops</vt:lpstr>
      <vt:lpstr>Exercise 1:</vt:lpstr>
      <vt:lpstr>Solution</vt:lpstr>
      <vt:lpstr>Modifying a list</vt:lpstr>
      <vt:lpstr>Exercise 2:</vt:lpstr>
      <vt:lpstr>Solution</vt:lpstr>
    </vt:vector>
  </TitlesOfParts>
  <Company>Saskatoon Public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20</dc:title>
  <dc:creator>Scott, Stefan Graham (Stefan)</dc:creator>
  <cp:lastModifiedBy>Scott, Stefan Graham (Stefan)</cp:lastModifiedBy>
  <cp:revision>121</cp:revision>
  <dcterms:created xsi:type="dcterms:W3CDTF">2016-08-31T14:32:10Z</dcterms:created>
  <dcterms:modified xsi:type="dcterms:W3CDTF">2018-04-15T21:08:41Z</dcterms:modified>
</cp:coreProperties>
</file>