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Lato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876bdd8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876bdd8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86e0fd3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486e0fd3c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86e0fd3cc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486e0fd3cc_0_2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86e0fd3cc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486e0fd3cc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a5b1c6a8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4a5b1c6a88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a9230e0f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4a9230e0f3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731e7427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 this point, some demos will lead through basics of using conditional statements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Also broadcasts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boolean expressions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4731e7427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731e742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731e742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731e7427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731e742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Lead through very simple demo using: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Move</a:t>
            </a:r>
            <a:b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If on edge, bounce    (forever loop)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Color change / wait / in a forever loop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Pressing left/right → turn left/right   (events)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  -could have a little video showing playback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a9230e0f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4a9230e0f3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731e7427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After this slide, jump to Scratch and show moving a sprite around by just using the X,Y fields in the sprite info palette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Also, how to toggle visibility and modify size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4731e74278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4731e7427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4731e74278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4731e74278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4731e74278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c1ccb978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 this point, some demos will lead through basics of the three kinds of loops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Forever - changing color effect, rotation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Counting - get bigger by an amount? Oscillate up and down or bigger/smaller (counting inside a forever)...bubbles moving up?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Conditional - turning fastest direction to up?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4c1ccb978d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827484" y="1539688"/>
            <a:ext cx="67101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1466850" y="2571750"/>
            <a:ext cx="1567500" cy="219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1490800" y="3038125"/>
            <a:ext cx="2358300" cy="210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490800" y="3496100"/>
            <a:ext cx="1672800" cy="210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3541475" y="3504500"/>
            <a:ext cx="2038200" cy="210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3575875" y="2580175"/>
            <a:ext cx="1304100" cy="2193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4351425" y="3042350"/>
            <a:ext cx="2417100" cy="2193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071325" y="3500300"/>
            <a:ext cx="1986600" cy="2193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017600" y="3719600"/>
            <a:ext cx="2038200" cy="2193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</a:t>
            </a:r>
            <a:r>
              <a:rPr lang="en-GB">
                <a:solidFill>
                  <a:schemeClr val="dk1"/>
                </a:solidFill>
              </a:rPr>
              <a:t>Decisions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729450" y="2078875"/>
            <a:ext cx="7688700" cy="19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are constantly making decisions, big and small. Some possible examples are: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b="1" lang="en-GB"/>
              <a:t>IF </a:t>
            </a:r>
            <a:r>
              <a:rPr lang="en-GB"/>
              <a:t>the walk light turns on, </a:t>
            </a:r>
            <a:r>
              <a:rPr b="1" lang="en-GB"/>
              <a:t>THEN </a:t>
            </a:r>
            <a:r>
              <a:rPr lang="en-GB"/>
              <a:t>I cross the street</a:t>
            </a:r>
            <a:br>
              <a:rPr lang="en-GB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/>
              <a:t>IF </a:t>
            </a:r>
            <a:r>
              <a:rPr lang="en-GB"/>
              <a:t>I see a really good deal advertised </a:t>
            </a:r>
            <a:r>
              <a:rPr b="1" lang="en-GB"/>
              <a:t>THEN </a:t>
            </a:r>
            <a:r>
              <a:rPr lang="en-GB"/>
              <a:t>I go to the store (or the webpage)</a:t>
            </a:r>
            <a:br>
              <a:rPr lang="en-GB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/>
              <a:t>IF </a:t>
            </a:r>
            <a:r>
              <a:rPr lang="en-GB"/>
              <a:t>you have your passport </a:t>
            </a:r>
            <a:r>
              <a:rPr b="1" lang="en-GB"/>
              <a:t>AND </a:t>
            </a:r>
            <a:r>
              <a:rPr lang="en-GB"/>
              <a:t>you have your boarding pass </a:t>
            </a:r>
            <a:r>
              <a:rPr b="1" lang="en-GB"/>
              <a:t>THEN </a:t>
            </a:r>
            <a:r>
              <a:rPr lang="en-GB"/>
              <a:t>you can get on the airplane</a:t>
            </a:r>
            <a:br>
              <a:rPr lang="en-GB"/>
            </a:br>
            <a:r>
              <a:rPr lang="en-GB"/>
              <a:t>                                                                                                                                         </a:t>
            </a:r>
            <a:r>
              <a:rPr b="1" lang="en-GB"/>
              <a:t>ELSE</a:t>
            </a:r>
            <a:r>
              <a:rPr lang="en-GB"/>
              <a:t>  look in your bag again</a:t>
            </a:r>
            <a:endParaRPr/>
          </a:p>
        </p:txBody>
      </p:sp>
      <p:sp>
        <p:nvSpPr>
          <p:cNvPr id="102" name="Google Shape;102;p14"/>
          <p:cNvSpPr txBox="1"/>
          <p:nvPr>
            <p:ph type="title"/>
          </p:nvPr>
        </p:nvSpPr>
        <p:spPr>
          <a:xfrm>
            <a:off x="0" y="483575"/>
            <a:ext cx="23583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3"/>
                </a:solidFill>
              </a:rPr>
              <a:t>Computer Science </a:t>
            </a:r>
            <a:r>
              <a:rPr lang="en-GB" sz="900">
                <a:solidFill>
                  <a:schemeClr val="dk1"/>
                </a:solidFill>
              </a:rPr>
              <a:t>Coding and Robotics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72425" y="3825275"/>
            <a:ext cx="8820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356575" y="3839650"/>
            <a:ext cx="2531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Conditions</a:t>
            </a:r>
            <a:br>
              <a:rPr lang="en-GB" sz="1000"/>
            </a:br>
            <a:r>
              <a:rPr lang="en-GB" sz="1000"/>
              <a:t>Statements framed as yes/no questions. Evaluate to true or false.</a:t>
            </a:r>
            <a:endParaRPr sz="1000"/>
          </a:p>
        </p:txBody>
      </p:sp>
      <p:sp>
        <p:nvSpPr>
          <p:cNvPr id="105" name="Google Shape;105;p14"/>
          <p:cNvSpPr txBox="1"/>
          <p:nvPr/>
        </p:nvSpPr>
        <p:spPr>
          <a:xfrm>
            <a:off x="5579482" y="4113575"/>
            <a:ext cx="2583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000"/>
              <a:t>Actions</a:t>
            </a:r>
            <a:br>
              <a:rPr lang="en-GB" sz="1000"/>
            </a:br>
            <a:r>
              <a:rPr lang="en-GB" sz="1000"/>
              <a:t>Statements or commands that may or may not happen depending on if the associated condition is true or false.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949125" y="3954075"/>
            <a:ext cx="431400" cy="4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018975" y="4246425"/>
            <a:ext cx="560700" cy="5622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301674" y="4246425"/>
            <a:ext cx="277500" cy="5622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Decisions so far: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827475" y="1539697"/>
            <a:ext cx="66696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We’ve seen a few examples of decision-making (or </a:t>
            </a:r>
            <a:r>
              <a:rPr i="1" lang="en-GB"/>
              <a:t>selection</a:t>
            </a:r>
            <a:r>
              <a:rPr lang="en-GB"/>
              <a:t>) structures already:</a:t>
            </a:r>
            <a:endParaRPr/>
          </a:p>
          <a:p>
            <a:pPr indent="0" lvl="0" marL="254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700" y="2084149"/>
            <a:ext cx="6026525" cy="23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875" y="2084148"/>
            <a:ext cx="2682075" cy="144832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437775" y="1893400"/>
            <a:ext cx="223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Condition - evaluates to true or false</a:t>
            </a:r>
            <a:endParaRPr sz="1000"/>
          </a:p>
        </p:txBody>
      </p:sp>
      <p:sp>
        <p:nvSpPr>
          <p:cNvPr id="118" name="Google Shape;118;p15"/>
          <p:cNvSpPr txBox="1"/>
          <p:nvPr/>
        </p:nvSpPr>
        <p:spPr>
          <a:xfrm>
            <a:off x="5132925" y="4006425"/>
            <a:ext cx="28677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Action</a:t>
            </a:r>
            <a:r>
              <a:rPr lang="en-GB" sz="1000"/>
              <a:t> - will be run if the condition is true</a:t>
            </a:r>
            <a:endParaRPr sz="1000"/>
          </a:p>
        </p:txBody>
      </p:sp>
      <p:cxnSp>
        <p:nvCxnSpPr>
          <p:cNvPr id="119" name="Google Shape;119;p15"/>
          <p:cNvCxnSpPr>
            <a:stCxn id="117" idx="2"/>
          </p:cNvCxnSpPr>
          <p:nvPr/>
        </p:nvCxnSpPr>
        <p:spPr>
          <a:xfrm flipH="1">
            <a:off x="7348575" y="2205100"/>
            <a:ext cx="206100" cy="42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5"/>
          <p:cNvCxnSpPr/>
          <p:nvPr/>
        </p:nvCxnSpPr>
        <p:spPr>
          <a:xfrm rot="10800000">
            <a:off x="4889350" y="3417800"/>
            <a:ext cx="522600" cy="66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IF - THEN Structure</a:t>
            </a:r>
            <a:endParaRPr/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868575" y="1228122"/>
            <a:ext cx="66696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IF - THEN</a:t>
            </a:r>
            <a:r>
              <a:rPr lang="en-GB"/>
              <a:t> blocks are </a:t>
            </a:r>
            <a:r>
              <a:rPr b="1" lang="en-GB"/>
              <a:t>C-Shaped</a:t>
            </a:r>
            <a:r>
              <a:rPr lang="en-GB"/>
              <a:t>, and comprise two sections:</a:t>
            </a:r>
            <a:br>
              <a:rPr lang="en-GB"/>
            </a:br>
            <a:endParaRPr/>
          </a:p>
          <a:p>
            <a:pPr indent="0" lvl="0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825" y="2356725"/>
            <a:ext cx="2113725" cy="155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3633550" y="1856675"/>
            <a:ext cx="2938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u="sng"/>
              <a:t>Condition</a:t>
            </a:r>
            <a:r>
              <a:rPr lang="en-GB" sz="1000"/>
              <a:t> - Hexagonal blocks. These must always be </a:t>
            </a:r>
            <a:r>
              <a:rPr b="1" lang="en-GB" sz="1000"/>
              <a:t>yes/no</a:t>
            </a:r>
            <a:r>
              <a:rPr lang="en-GB" sz="1000"/>
              <a:t>  or  </a:t>
            </a:r>
            <a:r>
              <a:rPr b="1" lang="en-GB" sz="1000"/>
              <a:t>true/false</a:t>
            </a:r>
            <a:r>
              <a:rPr lang="en-GB" sz="1000"/>
              <a:t> questions.</a:t>
            </a:r>
            <a:endParaRPr sz="1000"/>
          </a:p>
        </p:txBody>
      </p:sp>
      <p:cxnSp>
        <p:nvCxnSpPr>
          <p:cNvPr id="129" name="Google Shape;129;p16"/>
          <p:cNvCxnSpPr>
            <a:stCxn id="128" idx="1"/>
          </p:cNvCxnSpPr>
          <p:nvPr/>
        </p:nvCxnSpPr>
        <p:spPr>
          <a:xfrm flipH="1">
            <a:off x="2861650" y="2181875"/>
            <a:ext cx="771900" cy="60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6"/>
          <p:cNvSpPr txBox="1"/>
          <p:nvPr/>
        </p:nvSpPr>
        <p:spPr>
          <a:xfrm>
            <a:off x="3935525" y="3753375"/>
            <a:ext cx="21138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u="sng"/>
              <a:t>Action(s)</a:t>
            </a:r>
            <a:r>
              <a:rPr lang="en-GB" sz="1000"/>
              <a:t> - One or more blocks (statements) go on the inside of the C-Shape. These instructions are </a:t>
            </a:r>
            <a:r>
              <a:rPr i="1" lang="en-GB" sz="1000"/>
              <a:t>only run if the condition is true.</a:t>
            </a:r>
            <a:endParaRPr i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16"/>
          <p:cNvCxnSpPr/>
          <p:nvPr/>
        </p:nvCxnSpPr>
        <p:spPr>
          <a:xfrm rot="10800000">
            <a:off x="3072650" y="3158850"/>
            <a:ext cx="910800" cy="77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What if it’s false?</a:t>
            </a:r>
            <a:endParaRPr/>
          </a:p>
        </p:txBody>
      </p:sp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406875" y="2499350"/>
            <a:ext cx="3722700" cy="21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happens if the </a:t>
            </a:r>
            <a:r>
              <a:rPr b="1" lang="en-GB"/>
              <a:t>condition is false</a:t>
            </a:r>
            <a:r>
              <a:rPr lang="en-GB"/>
              <a:t>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In this case, the decision is to not run the actions.</a:t>
            </a:r>
            <a:br>
              <a:rPr lang="en-GB" sz="1200"/>
            </a:b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Instead, that code is skipped and if there is more to the script after the IF statement, the script continues running.</a:t>
            </a:r>
            <a:endParaRPr sz="1200"/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376" y="1078724"/>
            <a:ext cx="4189101" cy="140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1174" y="1389849"/>
            <a:ext cx="2484077" cy="150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3250" y="2926187"/>
            <a:ext cx="1959500" cy="7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9513" y="3798000"/>
            <a:ext cx="2629500" cy="124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8650" y="228700"/>
            <a:ext cx="1091218" cy="105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7"/>
          <p:cNvCxnSpPr/>
          <p:nvPr/>
        </p:nvCxnSpPr>
        <p:spPr>
          <a:xfrm flipH="1">
            <a:off x="6888350" y="1021025"/>
            <a:ext cx="4800" cy="65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7"/>
          <p:cNvCxnSpPr/>
          <p:nvPr/>
        </p:nvCxnSpPr>
        <p:spPr>
          <a:xfrm rot="10800000">
            <a:off x="4975725" y="2219400"/>
            <a:ext cx="891600" cy="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7"/>
          <p:cNvCxnSpPr/>
          <p:nvPr/>
        </p:nvCxnSpPr>
        <p:spPr>
          <a:xfrm flipH="1" rot="10800000">
            <a:off x="4975725" y="2220000"/>
            <a:ext cx="9900" cy="92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6" name="Google Shape;146;p17"/>
          <p:cNvCxnSpPr/>
          <p:nvPr/>
        </p:nvCxnSpPr>
        <p:spPr>
          <a:xfrm flipH="1" rot="10800000">
            <a:off x="5740000" y="3343250"/>
            <a:ext cx="1141200" cy="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7"/>
          <p:cNvCxnSpPr/>
          <p:nvPr/>
        </p:nvCxnSpPr>
        <p:spPr>
          <a:xfrm>
            <a:off x="6887775" y="3342075"/>
            <a:ext cx="5100" cy="70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7"/>
          <p:cNvCxnSpPr/>
          <p:nvPr/>
        </p:nvCxnSpPr>
        <p:spPr>
          <a:xfrm>
            <a:off x="7997275" y="2155875"/>
            <a:ext cx="653700" cy="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7"/>
          <p:cNvCxnSpPr/>
          <p:nvPr/>
        </p:nvCxnSpPr>
        <p:spPr>
          <a:xfrm>
            <a:off x="8651025" y="2152875"/>
            <a:ext cx="4200" cy="119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7"/>
          <p:cNvCxnSpPr/>
          <p:nvPr/>
        </p:nvCxnSpPr>
        <p:spPr>
          <a:xfrm>
            <a:off x="6896100" y="3342675"/>
            <a:ext cx="1759800" cy="1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1" name="Google Shape;151;p17"/>
          <p:cNvSpPr txBox="1"/>
          <p:nvPr/>
        </p:nvSpPr>
        <p:spPr>
          <a:xfrm>
            <a:off x="5110000" y="1893075"/>
            <a:ext cx="683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B6D7A8"/>
                </a:highlight>
              </a:rPr>
              <a:t>True</a:t>
            </a:r>
            <a:endParaRPr>
              <a:highlight>
                <a:srgbClr val="B6D7A8"/>
              </a:highlight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8006775" y="1824938"/>
            <a:ext cx="683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EA9999"/>
                </a:highlight>
              </a:rPr>
              <a:t>False</a:t>
            </a:r>
            <a:endParaRPr>
              <a:highlight>
                <a:srgbClr val="EA9999"/>
              </a:highlight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406875" y="1998825"/>
            <a:ext cx="3878100" cy="15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We’ve seen that if the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condition is true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that the action(s) inside the IF statement C-Shape are run.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>
            <a:off x="7384950" y="2793206"/>
            <a:ext cx="838800" cy="42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822100" y="3791711"/>
            <a:ext cx="838800" cy="42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348700" y="2739975"/>
            <a:ext cx="10545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The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“Then”</a:t>
            </a:r>
            <a:endParaRPr sz="1800"/>
          </a:p>
        </p:txBody>
      </p:sp>
      <p:pic>
        <p:nvPicPr>
          <p:cNvPr id="161" name="Google Shape;16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025" y="1992997"/>
            <a:ext cx="2556850" cy="247631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IF - ELSE Structure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868575" y="1228122"/>
            <a:ext cx="66696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IF - ELSE</a:t>
            </a:r>
            <a:r>
              <a:rPr lang="en-GB"/>
              <a:t> blocks are </a:t>
            </a:r>
            <a:r>
              <a:rPr b="1" lang="en-GB"/>
              <a:t>similar,</a:t>
            </a:r>
            <a:r>
              <a:rPr lang="en-GB"/>
              <a:t> but have two separate inside sections:</a:t>
            </a:r>
            <a:endParaRPr/>
          </a:p>
          <a:p>
            <a:pPr indent="0" lvl="0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3633550" y="1856675"/>
            <a:ext cx="2938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u="sng"/>
              <a:t>Condition</a:t>
            </a:r>
            <a:r>
              <a:rPr lang="en-GB" sz="1000"/>
              <a:t> - Hexagonal blocks. These must always be </a:t>
            </a:r>
            <a:r>
              <a:rPr b="1" lang="en-GB" sz="1000"/>
              <a:t>yes/no</a:t>
            </a:r>
            <a:r>
              <a:rPr lang="en-GB" sz="1000"/>
              <a:t>  or  </a:t>
            </a:r>
            <a:r>
              <a:rPr b="1" lang="en-GB" sz="1000"/>
              <a:t>true/false</a:t>
            </a:r>
            <a:r>
              <a:rPr lang="en-GB" sz="1000"/>
              <a:t> questions.</a:t>
            </a:r>
            <a:endParaRPr sz="1000"/>
          </a:p>
        </p:txBody>
      </p:sp>
      <p:cxnSp>
        <p:nvCxnSpPr>
          <p:cNvPr id="165" name="Google Shape;165;p18"/>
          <p:cNvCxnSpPr/>
          <p:nvPr/>
        </p:nvCxnSpPr>
        <p:spPr>
          <a:xfrm flipH="1">
            <a:off x="2335850" y="2045925"/>
            <a:ext cx="1344900" cy="43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18"/>
          <p:cNvSpPr txBox="1"/>
          <p:nvPr/>
        </p:nvSpPr>
        <p:spPr>
          <a:xfrm>
            <a:off x="4279700" y="2739975"/>
            <a:ext cx="30690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u="sng"/>
              <a:t>Action(s)</a:t>
            </a:r>
            <a:r>
              <a:rPr lang="en-GB" sz="1000"/>
              <a:t> </a:t>
            </a:r>
            <a:r>
              <a:rPr lang="en-GB" sz="1000">
                <a:highlight>
                  <a:srgbClr val="B6D7A8"/>
                </a:highlight>
              </a:rPr>
              <a:t>[If the condition is TRUE]</a:t>
            </a:r>
            <a:r>
              <a:rPr lang="en-GB" sz="1000"/>
              <a:t>- One or more blocks (statements) go on the inside of the C-Shape. </a:t>
            </a:r>
            <a:endParaRPr i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" name="Google Shape;167;p18"/>
          <p:cNvCxnSpPr/>
          <p:nvPr/>
        </p:nvCxnSpPr>
        <p:spPr>
          <a:xfrm rot="10800000">
            <a:off x="2696050" y="2896675"/>
            <a:ext cx="1591800" cy="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18"/>
          <p:cNvSpPr txBox="1"/>
          <p:nvPr/>
        </p:nvSpPr>
        <p:spPr>
          <a:xfrm>
            <a:off x="4785850" y="3738475"/>
            <a:ext cx="29892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u="sng"/>
              <a:t>Action(s)</a:t>
            </a:r>
            <a:r>
              <a:rPr lang="en-GB" sz="1000"/>
              <a:t> </a:t>
            </a:r>
            <a:r>
              <a:rPr lang="en-GB" sz="1000">
                <a:highlight>
                  <a:srgbClr val="EA9999"/>
                </a:highlight>
              </a:rPr>
              <a:t>[If the condition is False]</a:t>
            </a:r>
            <a:r>
              <a:rPr lang="en-GB" sz="1000"/>
              <a:t> - One or more blocks (statements) go on the inside of the C-Shape. </a:t>
            </a:r>
            <a:endParaRPr i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18"/>
          <p:cNvCxnSpPr/>
          <p:nvPr/>
        </p:nvCxnSpPr>
        <p:spPr>
          <a:xfrm rot="10800000">
            <a:off x="2729400" y="3494375"/>
            <a:ext cx="2064600" cy="42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18"/>
          <p:cNvSpPr txBox="1"/>
          <p:nvPr/>
        </p:nvSpPr>
        <p:spPr>
          <a:xfrm>
            <a:off x="7822100" y="3738475"/>
            <a:ext cx="10545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The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“Else”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One branch only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406875" y="2499350"/>
            <a:ext cx="3722700" cy="26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/ ELSE statements provide two options: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The </a:t>
            </a:r>
            <a:r>
              <a:rPr b="1" lang="en-GB" sz="1200"/>
              <a:t>“Then”</a:t>
            </a:r>
            <a:r>
              <a:rPr lang="en-GB" sz="1200"/>
              <a:t> code and the </a:t>
            </a:r>
            <a:r>
              <a:rPr b="1" lang="en-GB" sz="1200"/>
              <a:t>“Else”</a:t>
            </a:r>
            <a:r>
              <a:rPr lang="en-GB" sz="1200"/>
              <a:t> code.</a:t>
            </a:r>
            <a:endParaRPr sz="12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One of these branches will always be chosen and run.</a:t>
            </a:r>
            <a:br>
              <a:rPr lang="en-GB" sz="1200"/>
            </a:b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Only one can be chosen, though. There is no scenario where both will run!</a:t>
            </a:r>
            <a:endParaRPr sz="1200"/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1174" y="1389849"/>
            <a:ext cx="2484077" cy="150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2501" y="3858675"/>
            <a:ext cx="2123499" cy="100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8650" y="228700"/>
            <a:ext cx="1091218" cy="105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19"/>
          <p:cNvCxnSpPr/>
          <p:nvPr/>
        </p:nvCxnSpPr>
        <p:spPr>
          <a:xfrm flipH="1">
            <a:off x="6888350" y="1021025"/>
            <a:ext cx="4800" cy="65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9"/>
          <p:cNvCxnSpPr/>
          <p:nvPr/>
        </p:nvCxnSpPr>
        <p:spPr>
          <a:xfrm rot="10800000">
            <a:off x="4975725" y="2219400"/>
            <a:ext cx="891600" cy="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9"/>
          <p:cNvCxnSpPr/>
          <p:nvPr/>
        </p:nvCxnSpPr>
        <p:spPr>
          <a:xfrm rot="10800000">
            <a:off x="4985625" y="2220125"/>
            <a:ext cx="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3" name="Google Shape;183;p19"/>
          <p:cNvCxnSpPr/>
          <p:nvPr/>
        </p:nvCxnSpPr>
        <p:spPr>
          <a:xfrm>
            <a:off x="6054300" y="3343250"/>
            <a:ext cx="82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19"/>
          <p:cNvCxnSpPr/>
          <p:nvPr/>
        </p:nvCxnSpPr>
        <p:spPr>
          <a:xfrm>
            <a:off x="6887775" y="3342075"/>
            <a:ext cx="5100" cy="70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19"/>
          <p:cNvCxnSpPr/>
          <p:nvPr/>
        </p:nvCxnSpPr>
        <p:spPr>
          <a:xfrm>
            <a:off x="7997275" y="2155875"/>
            <a:ext cx="653700" cy="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9"/>
          <p:cNvCxnSpPr/>
          <p:nvPr/>
        </p:nvCxnSpPr>
        <p:spPr>
          <a:xfrm>
            <a:off x="8651025" y="2152875"/>
            <a:ext cx="0" cy="66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19"/>
          <p:cNvCxnSpPr/>
          <p:nvPr/>
        </p:nvCxnSpPr>
        <p:spPr>
          <a:xfrm>
            <a:off x="6896100" y="3342675"/>
            <a:ext cx="696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88" name="Google Shape;188;p19"/>
          <p:cNvSpPr txBox="1"/>
          <p:nvPr/>
        </p:nvSpPr>
        <p:spPr>
          <a:xfrm>
            <a:off x="5110000" y="1893075"/>
            <a:ext cx="683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B6D7A8"/>
                </a:highlight>
              </a:rPr>
              <a:t>True</a:t>
            </a:r>
            <a:endParaRPr>
              <a:highlight>
                <a:srgbClr val="B6D7A8"/>
              </a:highlight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8006775" y="1824938"/>
            <a:ext cx="683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EA9999"/>
                </a:highlight>
              </a:rPr>
              <a:t>False</a:t>
            </a:r>
            <a:endParaRPr>
              <a:highlight>
                <a:srgbClr val="EA9999"/>
              </a:highlight>
            </a:endParaRPr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5625" y="2571750"/>
            <a:ext cx="1945256" cy="10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4473" y="2571750"/>
            <a:ext cx="1998450" cy="10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4555888" y="3622631"/>
            <a:ext cx="838800" cy="42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4519638" y="3569400"/>
            <a:ext cx="10545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The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“Then”</a:t>
            </a:r>
            <a:endParaRPr sz="1800"/>
          </a:p>
        </p:txBody>
      </p:sp>
      <p:sp>
        <p:nvSpPr>
          <p:cNvPr id="194" name="Google Shape;194;p19"/>
          <p:cNvSpPr/>
          <p:nvPr/>
        </p:nvSpPr>
        <p:spPr>
          <a:xfrm>
            <a:off x="8206500" y="3622636"/>
            <a:ext cx="838800" cy="42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206500" y="3569400"/>
            <a:ext cx="10545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The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“Else”</a:t>
            </a:r>
            <a:endParaRPr sz="1800"/>
          </a:p>
        </p:txBody>
      </p:sp>
      <p:pic>
        <p:nvPicPr>
          <p:cNvPr id="196" name="Google Shape;19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0850" y="757425"/>
            <a:ext cx="3909225" cy="21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/>
        </p:nvSpPr>
        <p:spPr>
          <a:xfrm>
            <a:off x="1841550" y="1841600"/>
            <a:ext cx="54609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Demos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idx="1" type="body"/>
          </p:nvPr>
        </p:nvSpPr>
        <p:spPr>
          <a:xfrm>
            <a:off x="775500" y="2034800"/>
            <a:ext cx="7593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Many Tasks are repetitive in nature. In real life, can you think of some examples?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en-GB"/>
            </a:b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Make it </a:t>
            </a:r>
            <a:r>
              <a:rPr lang="en-GB">
                <a:solidFill>
                  <a:schemeClr val="dk1"/>
                </a:solidFill>
              </a:rPr>
              <a:t>Repeat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" name="Google Shape;208;p21"/>
          <p:cNvSpPr txBox="1"/>
          <p:nvPr>
            <p:ph idx="1" type="body"/>
          </p:nvPr>
        </p:nvSpPr>
        <p:spPr>
          <a:xfrm>
            <a:off x="777300" y="2659625"/>
            <a:ext cx="7593000" cy="22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Twist the lightbulb </a:t>
            </a:r>
            <a:r>
              <a:rPr b="1" lang="en-GB">
                <a:solidFill>
                  <a:schemeClr val="accent3"/>
                </a:solidFill>
              </a:rPr>
              <a:t>until </a:t>
            </a:r>
            <a:r>
              <a:rPr lang="en-GB"/>
              <a:t>it comes free.</a:t>
            </a:r>
            <a:br>
              <a:rPr lang="en-GB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Do push-ups </a:t>
            </a:r>
            <a:r>
              <a:rPr b="1" lang="en-GB">
                <a:solidFill>
                  <a:srgbClr val="FF6600"/>
                </a:solidFill>
              </a:rPr>
              <a:t>until </a:t>
            </a:r>
            <a:r>
              <a:rPr lang="en-GB"/>
              <a:t>you are too tired to continue.</a:t>
            </a:r>
            <a:br>
              <a:rPr lang="en-GB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Practice your free throws </a:t>
            </a:r>
            <a:r>
              <a:rPr b="1" lang="en-GB">
                <a:solidFill>
                  <a:srgbClr val="FF6600"/>
                </a:solidFill>
              </a:rPr>
              <a:t>100 times.</a:t>
            </a:r>
            <a:endParaRPr b="1">
              <a:solidFill>
                <a:srgbClr val="FF66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/>
          <p:nvPr/>
        </p:nvSpPr>
        <p:spPr>
          <a:xfrm>
            <a:off x="7143250" y="2666000"/>
            <a:ext cx="9402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7066900" y="3925850"/>
            <a:ext cx="11610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7143250" y="1406150"/>
            <a:ext cx="7875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 txBox="1"/>
          <p:nvPr>
            <p:ph type="title"/>
          </p:nvPr>
        </p:nvSpPr>
        <p:spPr>
          <a:xfrm>
            <a:off x="729450" y="1318650"/>
            <a:ext cx="3747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Loops in Scratch</a:t>
            </a:r>
            <a:endParaRPr/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729450" y="2147150"/>
            <a:ext cx="3747300" cy="13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We’ve already had to use some </a:t>
            </a:r>
            <a:r>
              <a:rPr i="1" lang="en-GB"/>
              <a:t>repeating structures</a:t>
            </a:r>
            <a:r>
              <a:rPr lang="en-GB"/>
              <a:t> in Scratch, but now we’ll look at them in finer detail.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Loops can be found in the </a:t>
            </a:r>
            <a:r>
              <a:rPr b="1" lang="en-GB"/>
              <a:t>control</a:t>
            </a:r>
            <a:r>
              <a:rPr lang="en-GB"/>
              <a:t> palette: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3370500"/>
            <a:ext cx="1300325" cy="106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2125" y="886375"/>
            <a:ext cx="1733175" cy="39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7135225" y="1361250"/>
            <a:ext cx="156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7135225" y="2727975"/>
            <a:ext cx="30000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066900" y="3598250"/>
            <a:ext cx="2106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Conditional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Loop Structure and Behavior</a:t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68750" y="3628349"/>
            <a:ext cx="666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distinct components in the anatomy of a loop:</a:t>
            </a:r>
            <a:br>
              <a:rPr lang="en-GB"/>
            </a:b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</p:txBody>
      </p:sp>
      <p:pic>
        <p:nvPicPr>
          <p:cNvPr id="229" name="Google Shape;2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500" y="843180"/>
            <a:ext cx="3350925" cy="273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/>
          <p:nvPr/>
        </p:nvSpPr>
        <p:spPr>
          <a:xfrm>
            <a:off x="2667675" y="1165100"/>
            <a:ext cx="490150" cy="2201625"/>
          </a:xfrm>
          <a:custGeom>
            <a:rect b="b" l="l" r="r" t="t"/>
            <a:pathLst>
              <a:path extrusionOk="0" h="88065" w="19606">
                <a:moveTo>
                  <a:pt x="17034" y="88065"/>
                </a:moveTo>
                <a:cubicBezTo>
                  <a:pt x="5148" y="86581"/>
                  <a:pt x="12298" y="64568"/>
                  <a:pt x="10606" y="52710"/>
                </a:cubicBezTo>
                <a:cubicBezTo>
                  <a:pt x="10065" y="48920"/>
                  <a:pt x="9779" y="44489"/>
                  <a:pt x="7071" y="41783"/>
                </a:cubicBezTo>
                <a:cubicBezTo>
                  <a:pt x="4964" y="39677"/>
                  <a:pt x="0" y="39298"/>
                  <a:pt x="0" y="36319"/>
                </a:cubicBezTo>
                <a:cubicBezTo>
                  <a:pt x="0" y="35065"/>
                  <a:pt x="2389" y="35542"/>
                  <a:pt x="3535" y="35033"/>
                </a:cubicBezTo>
                <a:cubicBezTo>
                  <a:pt x="6441" y="33741"/>
                  <a:pt x="8283" y="30153"/>
                  <a:pt x="8678" y="26998"/>
                </a:cubicBezTo>
                <a:cubicBezTo>
                  <a:pt x="9885" y="17365"/>
                  <a:pt x="9897" y="0"/>
                  <a:pt x="19606" y="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1" name="Google Shape;231;p23"/>
          <p:cNvSpPr/>
          <p:nvPr/>
        </p:nvSpPr>
        <p:spPr>
          <a:xfrm>
            <a:off x="6436150" y="1647200"/>
            <a:ext cx="272825" cy="1309725"/>
          </a:xfrm>
          <a:custGeom>
            <a:rect b="b" l="l" r="r" t="t"/>
            <a:pathLst>
              <a:path extrusionOk="0" h="52389" w="10913">
                <a:moveTo>
                  <a:pt x="0" y="52389"/>
                </a:moveTo>
                <a:cubicBezTo>
                  <a:pt x="8047" y="48372"/>
                  <a:pt x="4175" y="34883"/>
                  <a:pt x="5785" y="26034"/>
                </a:cubicBezTo>
                <a:cubicBezTo>
                  <a:pt x="6166" y="23942"/>
                  <a:pt x="9103" y="23360"/>
                  <a:pt x="10607" y="21856"/>
                </a:cubicBezTo>
                <a:cubicBezTo>
                  <a:pt x="12183" y="20280"/>
                  <a:pt x="6996" y="18608"/>
                  <a:pt x="6750" y="16392"/>
                </a:cubicBezTo>
                <a:cubicBezTo>
                  <a:pt x="6309" y="12416"/>
                  <a:pt x="9456" y="8346"/>
                  <a:pt x="8357" y="4500"/>
                </a:cubicBezTo>
                <a:cubicBezTo>
                  <a:pt x="7513" y="1548"/>
                  <a:pt x="3392" y="0"/>
                  <a:pt x="322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2" name="Google Shape;232;p23"/>
          <p:cNvSpPr txBox="1"/>
          <p:nvPr/>
        </p:nvSpPr>
        <p:spPr>
          <a:xfrm>
            <a:off x="1815950" y="1871300"/>
            <a:ext cx="12855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Roboto"/>
                <a:ea typeface="Roboto"/>
                <a:cs typeface="Roboto"/>
                <a:sym typeface="Roboto"/>
              </a:rPr>
              <a:t>LOOP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6789325" y="1815038"/>
            <a:ext cx="12855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Roboto"/>
                <a:ea typeface="Roboto"/>
                <a:cs typeface="Roboto"/>
                <a:sym typeface="Roboto"/>
              </a:rPr>
              <a:t>LOOP BODY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530425" y="3889000"/>
            <a:ext cx="59700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Loop – Structure that causes execution flow to repeat a number of times.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484575" y="4363000"/>
            <a:ext cx="71112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Loop Body – Code encapsulated within the loop; this is what is repeated.</a:t>
            </a:r>
            <a:endParaRPr/>
          </a:p>
        </p:txBody>
      </p:sp>
      <p:cxnSp>
        <p:nvCxnSpPr>
          <p:cNvPr id="236" name="Google Shape;236;p23"/>
          <p:cNvCxnSpPr/>
          <p:nvPr/>
        </p:nvCxnSpPr>
        <p:spPr>
          <a:xfrm>
            <a:off x="4170250" y="1599000"/>
            <a:ext cx="8100" cy="1639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6780000" dist="57150">
              <a:srgbClr val="000000">
                <a:alpha val="50000"/>
              </a:srgbClr>
            </a:outerShdw>
          </a:effectLst>
        </p:spPr>
      </p:cxnSp>
      <p:sp>
        <p:nvSpPr>
          <p:cNvPr id="237" name="Google Shape;237;p23"/>
          <p:cNvSpPr/>
          <p:nvPr/>
        </p:nvSpPr>
        <p:spPr>
          <a:xfrm>
            <a:off x="4546775" y="1260650"/>
            <a:ext cx="613525" cy="2021275"/>
          </a:xfrm>
          <a:custGeom>
            <a:rect b="b" l="l" r="r" t="t"/>
            <a:pathLst>
              <a:path extrusionOk="0" h="80851" w="24541">
                <a:moveTo>
                  <a:pt x="1681" y="80851"/>
                </a:moveTo>
                <a:lnTo>
                  <a:pt x="24541" y="80851"/>
                </a:lnTo>
                <a:lnTo>
                  <a:pt x="24541" y="0"/>
                </a:lnTo>
                <a:lnTo>
                  <a:pt x="0" y="0"/>
                </a:ln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8160000" dist="28575">
              <a:srgbClr val="000000">
                <a:alpha val="50000"/>
              </a:srgbClr>
            </a:outerShdw>
          </a:effectLst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>
            <p:ph type="title"/>
          </p:nvPr>
        </p:nvSpPr>
        <p:spPr>
          <a:xfrm>
            <a:off x="484575" y="339545"/>
            <a:ext cx="70536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Forever Loops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4038500" y="998400"/>
            <a:ext cx="45108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Forever </a:t>
            </a:r>
            <a:r>
              <a:rPr lang="en-GB" sz="1300"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GB" sz="1300">
                <a:latin typeface="Lato"/>
                <a:ea typeface="Lato"/>
                <a:cs typeface="Lato"/>
                <a:sym typeface="Lato"/>
              </a:rPr>
              <a:t>oops repeat </a:t>
            </a:r>
            <a:r>
              <a:rPr i="1" lang="en-GB" sz="1300">
                <a:latin typeface="Lato"/>
                <a:ea typeface="Lato"/>
                <a:cs typeface="Lato"/>
                <a:sym typeface="Lato"/>
              </a:rPr>
              <a:t>indefinitely</a:t>
            </a:r>
            <a:r>
              <a:rPr lang="en-GB" sz="1300">
                <a:latin typeface="Lato"/>
                <a:ea typeface="Lato"/>
                <a:cs typeface="Lato"/>
                <a:sym typeface="Lato"/>
              </a:rPr>
              <a:t>. Once they begin they  can only be stopped by: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4" name="Google Shape;2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000" y="1255524"/>
            <a:ext cx="3565170" cy="3146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24"/>
          <p:cNvCxnSpPr/>
          <p:nvPr/>
        </p:nvCxnSpPr>
        <p:spPr>
          <a:xfrm flipH="1">
            <a:off x="373875" y="1944725"/>
            <a:ext cx="37500" cy="1975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6780000" dist="57150">
              <a:srgbClr val="000000">
                <a:alpha val="50000"/>
              </a:srgbClr>
            </a:outerShdw>
          </a:effectLst>
        </p:spPr>
      </p:cxnSp>
      <p:sp>
        <p:nvSpPr>
          <p:cNvPr id="246" name="Google Shape;246;p24"/>
          <p:cNvSpPr/>
          <p:nvPr/>
        </p:nvSpPr>
        <p:spPr>
          <a:xfrm>
            <a:off x="2836075" y="1558275"/>
            <a:ext cx="866420" cy="2586828"/>
          </a:xfrm>
          <a:custGeom>
            <a:rect b="b" l="l" r="r" t="t"/>
            <a:pathLst>
              <a:path extrusionOk="0" h="80851" w="24541">
                <a:moveTo>
                  <a:pt x="1681" y="80851"/>
                </a:moveTo>
                <a:lnTo>
                  <a:pt x="24541" y="80851"/>
                </a:lnTo>
                <a:lnTo>
                  <a:pt x="24541" y="0"/>
                </a:lnTo>
                <a:lnTo>
                  <a:pt x="0" y="0"/>
                </a:ln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8160000" dist="28575">
              <a:srgbClr val="000000">
                <a:alpha val="50000"/>
              </a:srgbClr>
            </a:outerShdw>
          </a:effectLst>
        </p:spPr>
      </p:sp>
      <p:pic>
        <p:nvPicPr>
          <p:cNvPr id="247" name="Google Shape;2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5400" y="1305400"/>
            <a:ext cx="911202" cy="88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5025" y="2624505"/>
            <a:ext cx="5030125" cy="7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4038500" y="1985288"/>
            <a:ext cx="4824900" cy="17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A “stop” block being used elsewhere in the program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4038500" y="3272400"/>
            <a:ext cx="5030100" cy="10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Scratch is closed down by the user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4038500" y="1446175"/>
            <a:ext cx="6414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User pressing the stop button</a:t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411375" y="4070225"/>
            <a:ext cx="1813800" cy="332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585900" y="4421400"/>
            <a:ext cx="45108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0000"/>
                </a:solidFill>
              </a:rPr>
              <a:t>Notice how there is no tab to connect a block to the bottom? Since forever loops are not intended to end during your program’s execution, any blocks down here would never be reached!</a:t>
            </a:r>
            <a:endParaRPr sz="1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24" y="1057521"/>
            <a:ext cx="2786300" cy="310017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>
            <p:ph type="title"/>
          </p:nvPr>
        </p:nvSpPr>
        <p:spPr>
          <a:xfrm>
            <a:off x="459647" y="308375"/>
            <a:ext cx="35670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Counting Loops</a:t>
            </a:r>
            <a:endParaRPr/>
          </a:p>
        </p:txBody>
      </p:sp>
      <p:cxnSp>
        <p:nvCxnSpPr>
          <p:cNvPr id="260" name="Google Shape;260;p25"/>
          <p:cNvCxnSpPr/>
          <p:nvPr/>
        </p:nvCxnSpPr>
        <p:spPr>
          <a:xfrm>
            <a:off x="3066425" y="1921338"/>
            <a:ext cx="26400" cy="1044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6780000" dist="57150">
              <a:srgbClr val="000000">
                <a:alpha val="50000"/>
              </a:srgbClr>
            </a:outerShdw>
          </a:effectLst>
        </p:spPr>
      </p:cxnSp>
      <p:sp>
        <p:nvSpPr>
          <p:cNvPr id="261" name="Google Shape;261;p25"/>
          <p:cNvSpPr/>
          <p:nvPr/>
        </p:nvSpPr>
        <p:spPr>
          <a:xfrm>
            <a:off x="3092825" y="1599213"/>
            <a:ext cx="273448" cy="1689180"/>
          </a:xfrm>
          <a:custGeom>
            <a:rect b="b" l="l" r="r" t="t"/>
            <a:pathLst>
              <a:path extrusionOk="0" h="80851" w="24541">
                <a:moveTo>
                  <a:pt x="1681" y="80851"/>
                </a:moveTo>
                <a:lnTo>
                  <a:pt x="24541" y="80851"/>
                </a:lnTo>
                <a:lnTo>
                  <a:pt x="24541" y="0"/>
                </a:lnTo>
                <a:lnTo>
                  <a:pt x="0" y="0"/>
                </a:ln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8160000" dist="28575">
              <a:srgbClr val="000000">
                <a:alpha val="50000"/>
              </a:srgbClr>
            </a:outerShdw>
          </a:effectLst>
        </p:spPr>
      </p:sp>
      <p:pic>
        <p:nvPicPr>
          <p:cNvPr id="262" name="Google Shape;26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125" y="1074050"/>
            <a:ext cx="2786300" cy="253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25"/>
          <p:cNvCxnSpPr/>
          <p:nvPr/>
        </p:nvCxnSpPr>
        <p:spPr>
          <a:xfrm>
            <a:off x="3689475" y="1921325"/>
            <a:ext cx="26400" cy="1044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6780000" dist="57150">
              <a:srgbClr val="000000">
                <a:alpha val="50000"/>
              </a:srgbClr>
            </a:outerShdw>
          </a:effectLst>
        </p:spPr>
      </p:cxnSp>
      <p:sp>
        <p:nvSpPr>
          <p:cNvPr id="264" name="Google Shape;264;p25"/>
          <p:cNvSpPr/>
          <p:nvPr/>
        </p:nvSpPr>
        <p:spPr>
          <a:xfrm>
            <a:off x="3715875" y="1599200"/>
            <a:ext cx="273448" cy="1689180"/>
          </a:xfrm>
          <a:custGeom>
            <a:rect b="b" l="l" r="r" t="t"/>
            <a:pathLst>
              <a:path extrusionOk="0" h="80851" w="24541">
                <a:moveTo>
                  <a:pt x="1681" y="80851"/>
                </a:moveTo>
                <a:lnTo>
                  <a:pt x="24541" y="80851"/>
                </a:lnTo>
                <a:lnTo>
                  <a:pt x="24541" y="0"/>
                </a:lnTo>
                <a:lnTo>
                  <a:pt x="0" y="0"/>
                </a:ln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8160000" dist="28575">
              <a:srgbClr val="000000">
                <a:alpha val="50000"/>
              </a:srgbClr>
            </a:outerShdw>
          </a:effectLst>
        </p:spPr>
      </p:sp>
      <p:cxnSp>
        <p:nvCxnSpPr>
          <p:cNvPr id="265" name="Google Shape;265;p25"/>
          <p:cNvCxnSpPr/>
          <p:nvPr/>
        </p:nvCxnSpPr>
        <p:spPr>
          <a:xfrm>
            <a:off x="4312525" y="1921338"/>
            <a:ext cx="26400" cy="1044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6780000" dist="57150">
              <a:srgbClr val="000000">
                <a:alpha val="50000"/>
              </a:srgbClr>
            </a:outerShdw>
          </a:effectLst>
        </p:spPr>
      </p:cxnSp>
      <p:sp>
        <p:nvSpPr>
          <p:cNvPr id="266" name="Google Shape;266;p25"/>
          <p:cNvSpPr/>
          <p:nvPr/>
        </p:nvSpPr>
        <p:spPr>
          <a:xfrm>
            <a:off x="4338925" y="1599213"/>
            <a:ext cx="273448" cy="1689180"/>
          </a:xfrm>
          <a:custGeom>
            <a:rect b="b" l="l" r="r" t="t"/>
            <a:pathLst>
              <a:path extrusionOk="0" h="80851" w="24541">
                <a:moveTo>
                  <a:pt x="1681" y="80851"/>
                </a:moveTo>
                <a:lnTo>
                  <a:pt x="24541" y="80851"/>
                </a:lnTo>
                <a:lnTo>
                  <a:pt x="24541" y="0"/>
                </a:lnTo>
                <a:lnTo>
                  <a:pt x="0" y="0"/>
                </a:ln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8160000" dist="28575">
              <a:srgbClr val="000000">
                <a:alpha val="50000"/>
              </a:srgbClr>
            </a:outerShdw>
          </a:effectLst>
        </p:spPr>
      </p:sp>
      <p:cxnSp>
        <p:nvCxnSpPr>
          <p:cNvPr id="267" name="Google Shape;267;p25"/>
          <p:cNvCxnSpPr/>
          <p:nvPr/>
        </p:nvCxnSpPr>
        <p:spPr>
          <a:xfrm>
            <a:off x="4895225" y="1921338"/>
            <a:ext cx="26400" cy="1044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6780000" dist="57150">
              <a:srgbClr val="000000">
                <a:alpha val="50000"/>
              </a:srgbClr>
            </a:outerShdw>
          </a:effectLst>
        </p:spPr>
      </p:cxnSp>
      <p:sp>
        <p:nvSpPr>
          <p:cNvPr id="268" name="Google Shape;268;p25"/>
          <p:cNvSpPr/>
          <p:nvPr/>
        </p:nvSpPr>
        <p:spPr>
          <a:xfrm>
            <a:off x="4921625" y="1599213"/>
            <a:ext cx="273448" cy="1689180"/>
          </a:xfrm>
          <a:custGeom>
            <a:rect b="b" l="l" r="r" t="t"/>
            <a:pathLst>
              <a:path extrusionOk="0" h="80851" w="24541">
                <a:moveTo>
                  <a:pt x="1681" y="80851"/>
                </a:moveTo>
                <a:lnTo>
                  <a:pt x="24541" y="80851"/>
                </a:lnTo>
                <a:lnTo>
                  <a:pt x="24541" y="0"/>
                </a:lnTo>
                <a:lnTo>
                  <a:pt x="0" y="0"/>
                </a:ln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8160000" dist="28575">
              <a:srgbClr val="000000">
                <a:alpha val="50000"/>
              </a:srgbClr>
            </a:outerShdw>
          </a:effectLst>
        </p:spPr>
      </p:sp>
      <p:sp>
        <p:nvSpPr>
          <p:cNvPr id="269" name="Google Shape;269;p25"/>
          <p:cNvSpPr txBox="1"/>
          <p:nvPr/>
        </p:nvSpPr>
        <p:spPr>
          <a:xfrm>
            <a:off x="5504325" y="1414225"/>
            <a:ext cx="34599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Counting (Repeat)</a:t>
            </a:r>
            <a:r>
              <a:rPr lang="en-GB" sz="1300">
                <a:latin typeface="Lato"/>
                <a:ea typeface="Lato"/>
                <a:cs typeface="Lato"/>
                <a:sym typeface="Lato"/>
              </a:rPr>
              <a:t> loops repeat </a:t>
            </a:r>
            <a:r>
              <a:rPr i="1" lang="en-GB" sz="1300">
                <a:latin typeface="Lato"/>
                <a:ea typeface="Lato"/>
                <a:cs typeface="Lato"/>
                <a:sym typeface="Lato"/>
              </a:rPr>
              <a:t>a fixed number of times</a:t>
            </a:r>
            <a:r>
              <a:rPr lang="en-GB" sz="1300">
                <a:latin typeface="Lato"/>
                <a:ea typeface="Lato"/>
                <a:cs typeface="Lato"/>
                <a:sym typeface="Lato"/>
              </a:rPr>
              <a:t>.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Any number of repetitions can be specified (0, 4, 100…)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The loop will continue running until it has iterated </a:t>
            </a:r>
            <a:r>
              <a:rPr i="1" lang="en-GB" sz="1300">
                <a:latin typeface="Lato"/>
                <a:ea typeface="Lato"/>
                <a:cs typeface="Lato"/>
                <a:sym typeface="Lato"/>
              </a:rPr>
              <a:t>exactly that many times.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459650" y="4157700"/>
            <a:ext cx="43971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0000"/>
                </a:solidFill>
              </a:rPr>
              <a:t>In this case the loop repeats 4 times, which spins the sprite in a full circle. Once the </a:t>
            </a:r>
            <a:r>
              <a:rPr b="1" lang="en-GB" sz="1000">
                <a:solidFill>
                  <a:srgbClr val="FF0000"/>
                </a:solidFill>
              </a:rPr>
              <a:t>loop </a:t>
            </a:r>
            <a:r>
              <a:rPr lang="en-GB" sz="1000">
                <a:solidFill>
                  <a:srgbClr val="FF0000"/>
                </a:solidFill>
              </a:rPr>
              <a:t>has executed the </a:t>
            </a:r>
            <a:r>
              <a:rPr b="1" lang="en-GB" sz="1000">
                <a:solidFill>
                  <a:srgbClr val="FF0000"/>
                </a:solidFill>
              </a:rPr>
              <a:t>loop body</a:t>
            </a:r>
            <a:r>
              <a:rPr lang="en-GB" sz="1000">
                <a:solidFill>
                  <a:srgbClr val="FF0000"/>
                </a:solidFill>
              </a:rPr>
              <a:t> for the fourth time, the sprite carries on to say “Whoa - I’m dizzy!”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5504325" y="3203175"/>
            <a:ext cx="34599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Afterwards, the script will continue on to execute any blocks connected to the bottom.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Conditional Loops</a:t>
            </a:r>
            <a:endParaRPr/>
          </a:p>
        </p:txBody>
      </p:sp>
      <p:pic>
        <p:nvPicPr>
          <p:cNvPr id="277" name="Google Shape;2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438" y="1412959"/>
            <a:ext cx="4377975" cy="226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5267450" y="957200"/>
            <a:ext cx="3611700" cy="23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Conditional </a:t>
            </a:r>
            <a:r>
              <a:rPr lang="en-GB" sz="1300">
                <a:latin typeface="Lato"/>
                <a:ea typeface="Lato"/>
                <a:cs typeface="Lato"/>
                <a:sym typeface="Lato"/>
              </a:rPr>
              <a:t>loops repeat until </a:t>
            </a:r>
            <a:r>
              <a:rPr i="1" lang="en-GB" sz="1300">
                <a:latin typeface="Lato"/>
                <a:ea typeface="Lato"/>
                <a:cs typeface="Lato"/>
                <a:sym typeface="Lato"/>
              </a:rPr>
              <a:t>a certain Boolean Expression is true.</a:t>
            </a:r>
            <a:endParaRPr i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This sort of loop is useful when it is difficult to predict how many times a loop needs to iterate to accomplish a task.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marR="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If the condition is </a:t>
            </a:r>
            <a:r>
              <a:rPr b="1" lang="en-GB" sz="1300"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en-GB" sz="1300">
                <a:latin typeface="Lato"/>
                <a:ea typeface="Lato"/>
                <a:cs typeface="Lato"/>
                <a:sym typeface="Lato"/>
              </a:rPr>
              <a:t>, the loop ends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marR="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If the condition is </a:t>
            </a:r>
            <a:r>
              <a:rPr b="1" lang="en-GB" sz="1300">
                <a:latin typeface="Lato"/>
                <a:ea typeface="Lato"/>
                <a:cs typeface="Lato"/>
                <a:sym typeface="Lato"/>
              </a:rPr>
              <a:t>false</a:t>
            </a:r>
            <a:r>
              <a:rPr lang="en-GB" sz="1300">
                <a:latin typeface="Lato"/>
                <a:ea typeface="Lato"/>
                <a:cs typeface="Lato"/>
                <a:sym typeface="Lato"/>
              </a:rPr>
              <a:t>, run the loop body and repeat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3950575" y="1882325"/>
            <a:ext cx="1056858" cy="1324542"/>
          </a:xfrm>
          <a:custGeom>
            <a:rect b="b" l="l" r="r" t="t"/>
            <a:pathLst>
              <a:path extrusionOk="0" h="80851" w="24541">
                <a:moveTo>
                  <a:pt x="1681" y="80851"/>
                </a:moveTo>
                <a:lnTo>
                  <a:pt x="24541" y="80851"/>
                </a:lnTo>
                <a:lnTo>
                  <a:pt x="24541" y="0"/>
                </a:lnTo>
                <a:lnTo>
                  <a:pt x="0" y="0"/>
                </a:ln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8160000" dist="28575">
              <a:srgbClr val="000000">
                <a:alpha val="50000"/>
              </a:srgbClr>
            </a:outerShdw>
          </a:effectLst>
        </p:spPr>
      </p:sp>
      <p:cxnSp>
        <p:nvCxnSpPr>
          <p:cNvPr id="280" name="Google Shape;280;p26"/>
          <p:cNvCxnSpPr/>
          <p:nvPr/>
        </p:nvCxnSpPr>
        <p:spPr>
          <a:xfrm>
            <a:off x="4041500" y="2701375"/>
            <a:ext cx="0" cy="51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7740000" dist="28575">
              <a:srgbClr val="000000">
                <a:alpha val="50000"/>
              </a:srgbClr>
            </a:outerShdw>
          </a:effectLst>
        </p:spPr>
      </p:cxnSp>
      <p:cxnSp>
        <p:nvCxnSpPr>
          <p:cNvPr id="281" name="Google Shape;281;p26"/>
          <p:cNvCxnSpPr/>
          <p:nvPr/>
        </p:nvCxnSpPr>
        <p:spPr>
          <a:xfrm rot="10800000">
            <a:off x="426150" y="1897825"/>
            <a:ext cx="418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6"/>
          <p:cNvCxnSpPr/>
          <p:nvPr/>
        </p:nvCxnSpPr>
        <p:spPr>
          <a:xfrm rot="10800000">
            <a:off x="445200" y="1894750"/>
            <a:ext cx="0" cy="1766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6"/>
          <p:cNvCxnSpPr/>
          <p:nvPr/>
        </p:nvCxnSpPr>
        <p:spPr>
          <a:xfrm rot="10800000">
            <a:off x="426150" y="3648425"/>
            <a:ext cx="418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6"/>
          <p:cNvCxnSpPr/>
          <p:nvPr/>
        </p:nvCxnSpPr>
        <p:spPr>
          <a:xfrm>
            <a:off x="844350" y="3629650"/>
            <a:ext cx="0" cy="507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26"/>
          <p:cNvSpPr txBox="1"/>
          <p:nvPr/>
        </p:nvSpPr>
        <p:spPr>
          <a:xfrm>
            <a:off x="317600" y="4221700"/>
            <a:ext cx="16113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B45F06"/>
                </a:solidFill>
              </a:rPr>
              <a:t>Condition is true:</a:t>
            </a:r>
            <a:endParaRPr b="1" sz="10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45F06"/>
                </a:solidFill>
              </a:rPr>
              <a:t>- </a:t>
            </a:r>
            <a:r>
              <a:rPr lang="en-GB" sz="1000">
                <a:solidFill>
                  <a:srgbClr val="B45F06"/>
                </a:solidFill>
              </a:rPr>
              <a:t>End loop immediately</a:t>
            </a:r>
            <a:endParaRPr sz="1000">
              <a:solidFill>
                <a:srgbClr val="B45F06"/>
              </a:solidFill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3571450" y="3370450"/>
            <a:ext cx="20631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674EA7"/>
                </a:solidFill>
              </a:rPr>
              <a:t>Condition is false:</a:t>
            </a:r>
            <a:endParaRPr b="1" sz="10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74EA7"/>
                </a:solidFill>
              </a:rPr>
              <a:t>- Run loop body once</a:t>
            </a:r>
            <a:endParaRPr sz="10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74EA7"/>
                </a:solidFill>
              </a:rPr>
              <a:t>- Repeat back to loop statement</a:t>
            </a:r>
            <a:endParaRPr sz="1000">
              <a:solidFill>
                <a:srgbClr val="674EA7"/>
              </a:solidFill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5267450" y="3212575"/>
            <a:ext cx="3741300" cy="16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It is possible for conditional loops to not run the body at all! 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If the sprite is already touching the edge when the loop is first run, for instance.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/>
        </p:nvSpPr>
        <p:spPr>
          <a:xfrm>
            <a:off x="1841550" y="1841600"/>
            <a:ext cx="54609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Demos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