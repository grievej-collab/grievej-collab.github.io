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256" r:id="rId2"/>
    <p:sldId id="266" r:id="rId3"/>
    <p:sldId id="257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66FFFF"/>
    <a:srgbClr val="81DE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5DC527-2AEF-4237-BEED-1954E826613E}" v="9" dt="2019-04-08T14:26:31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82181" autoAdjust="0"/>
  </p:normalViewPr>
  <p:slideViewPr>
    <p:cSldViewPr snapToGrid="0">
      <p:cViewPr varScale="1">
        <p:scale>
          <a:sx n="94" d="100"/>
          <a:sy n="94" d="100"/>
        </p:scale>
        <p:origin x="111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scott" userId="850d44055a446e9f" providerId="LiveId" clId="{725DC527-2AEF-4237-BEED-1954E826613E}"/>
    <pc:docChg chg="custSel modSld">
      <pc:chgData name="stefan scott" userId="850d44055a446e9f" providerId="LiveId" clId="{725DC527-2AEF-4237-BEED-1954E826613E}" dt="2019-04-08T14:26:31.814" v="8" actId="27636"/>
      <pc:docMkLst>
        <pc:docMk/>
      </pc:docMkLst>
      <pc:sldChg chg="modSp modAnim">
        <pc:chgData name="stefan scott" userId="850d44055a446e9f" providerId="LiveId" clId="{725DC527-2AEF-4237-BEED-1954E826613E}" dt="2019-04-08T14:26:31.814" v="8" actId="27636"/>
        <pc:sldMkLst>
          <pc:docMk/>
          <pc:sldMk cId="4143947412" sldId="261"/>
        </pc:sldMkLst>
        <pc:spChg chg="mod">
          <ac:chgData name="stefan scott" userId="850d44055a446e9f" providerId="LiveId" clId="{725DC527-2AEF-4237-BEED-1954E826613E}" dt="2019-04-08T14:26:31.814" v="8" actId="27636"/>
          <ac:spMkLst>
            <pc:docMk/>
            <pc:sldMk cId="4143947412" sldId="26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EC86F-DD93-4293-BD9B-02494A80FCA9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EA801-3ABB-4400-B05E-59A0624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1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–</a:t>
            </a:r>
            <a:r>
              <a:rPr lang="en-US" baseline="0" dirty="0"/>
              <a:t> Have students provide words for each of the seven categories listed. Fill in as suggested, then copy-paste to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9EA801-3ABB-4400-B05E-59A062416D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9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2019-04-08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Python Self-</a:t>
            </a:r>
            <a:r>
              <a:rPr lang="en-US" dirty="0" err="1"/>
              <a:t>CHecK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763" y="1581431"/>
            <a:ext cx="8946541" cy="2376208"/>
          </a:xfrm>
        </p:spPr>
        <p:txBody>
          <a:bodyPr/>
          <a:lstStyle/>
          <a:p>
            <a:r>
              <a:rPr lang="en-US" dirty="0"/>
              <a:t>Code can be encapsulated (contained within) functions to help organize programs and allow for reuse of code.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 hiding – code contained within a function doesn’t know about (have access to) any variables that are defined in the main program or other functions.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Information passing – values can be sent into the function as </a:t>
            </a:r>
            <a:r>
              <a:rPr lang="en-US" b="1" dirty="0"/>
              <a:t>arguments,</a:t>
            </a:r>
            <a:r>
              <a:rPr lang="en-US" dirty="0"/>
              <a:t> and can be </a:t>
            </a:r>
            <a:r>
              <a:rPr lang="en-US" b="1" dirty="0"/>
              <a:t>returned</a:t>
            </a:r>
            <a:r>
              <a:rPr lang="en-US" dirty="0"/>
              <a:t> back to the line of code that called the function.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246456" y="4371980"/>
            <a:ext cx="90693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age_in_days</a:t>
            </a:r>
            <a:r>
              <a:rPr lang="en-US" dirty="0"/>
              <a:t>(years):</a:t>
            </a:r>
          </a:p>
          <a:p>
            <a:r>
              <a:rPr lang="en-US" dirty="0"/>
              <a:t>	days = round(365.25 * years)</a:t>
            </a:r>
          </a:p>
          <a:p>
            <a:r>
              <a:rPr lang="en-US" dirty="0"/>
              <a:t>	return days</a:t>
            </a:r>
          </a:p>
          <a:p>
            <a:endParaRPr lang="en-US" dirty="0"/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print (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age_in_days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(30))</a:t>
            </a:r>
          </a:p>
          <a:p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my_age_in_days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age_in_days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(80)</a:t>
            </a:r>
          </a:p>
        </p:txBody>
      </p:sp>
      <p:sp>
        <p:nvSpPr>
          <p:cNvPr id="5" name="Line Callout 1 (Accent Bar) 4"/>
          <p:cNvSpPr/>
          <p:nvPr/>
        </p:nvSpPr>
        <p:spPr>
          <a:xfrm>
            <a:off x="5257818" y="4410080"/>
            <a:ext cx="600076" cy="261937"/>
          </a:xfrm>
          <a:prstGeom prst="accentCallout1">
            <a:avLst>
              <a:gd name="adj1" fmla="val 16083"/>
              <a:gd name="adj2" fmla="val 125000"/>
              <a:gd name="adj3" fmla="val -21197"/>
              <a:gd name="adj4" fmla="val 220397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6" name="TextBox 5"/>
          <p:cNvSpPr txBox="1"/>
          <p:nvPr/>
        </p:nvSpPr>
        <p:spPr>
          <a:xfrm>
            <a:off x="6591317" y="4114806"/>
            <a:ext cx="4695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Parameter list. Temporary variables that store argument values that are passed into the function</a:t>
            </a:r>
          </a:p>
        </p:txBody>
      </p:sp>
      <p:sp>
        <p:nvSpPr>
          <p:cNvPr id="7" name="Line Callout 1 (Accent Bar) 6"/>
          <p:cNvSpPr/>
          <p:nvPr/>
        </p:nvSpPr>
        <p:spPr>
          <a:xfrm>
            <a:off x="5433078" y="5514980"/>
            <a:ext cx="257175" cy="261937"/>
          </a:xfrm>
          <a:prstGeom prst="accentCallout1">
            <a:avLst>
              <a:gd name="adj1" fmla="val 16083"/>
              <a:gd name="adj2" fmla="val 125000"/>
              <a:gd name="adj3" fmla="val -96833"/>
              <a:gd name="adj4" fmla="val 804100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" name="Line Callout 1 (Accent Bar) 7"/>
          <p:cNvSpPr/>
          <p:nvPr/>
        </p:nvSpPr>
        <p:spPr>
          <a:xfrm>
            <a:off x="6926598" y="5795967"/>
            <a:ext cx="257175" cy="261937"/>
          </a:xfrm>
          <a:prstGeom prst="accentCallout1">
            <a:avLst>
              <a:gd name="adj1" fmla="val 16083"/>
              <a:gd name="adj2" fmla="val 125000"/>
              <a:gd name="adj3" fmla="val -204470"/>
              <a:gd name="adj4" fmla="val 232248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7539082" y="4991759"/>
            <a:ext cx="40109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The value of the argument is stored in the temporary variable and used for that execution of the function.</a:t>
            </a:r>
          </a:p>
          <a:p>
            <a:r>
              <a:rPr lang="en-US" sz="1400" dirty="0">
                <a:solidFill>
                  <a:srgbClr val="FFFF00"/>
                </a:solidFill>
              </a:rPr>
              <a:t>years = 30</a:t>
            </a:r>
          </a:p>
          <a:p>
            <a:r>
              <a:rPr lang="en-US" sz="1400" dirty="0">
                <a:solidFill>
                  <a:srgbClr val="FFFF00"/>
                </a:solidFill>
              </a:rPr>
              <a:t>years = 80</a:t>
            </a:r>
          </a:p>
        </p:txBody>
      </p:sp>
      <p:sp>
        <p:nvSpPr>
          <p:cNvPr id="10" name="Line Callout 1 (Accent Bar) 9"/>
          <p:cNvSpPr/>
          <p:nvPr/>
        </p:nvSpPr>
        <p:spPr>
          <a:xfrm>
            <a:off x="4186239" y="4991759"/>
            <a:ext cx="1357312" cy="266041"/>
          </a:xfrm>
          <a:prstGeom prst="accentCallout1">
            <a:avLst>
              <a:gd name="adj1" fmla="val 18750"/>
              <a:gd name="adj2" fmla="val -8333"/>
              <a:gd name="adj3" fmla="val -119025"/>
              <a:gd name="adj4" fmla="val -103362"/>
            </a:avLst>
          </a:prstGeom>
          <a:solidFill>
            <a:srgbClr val="66FFFF">
              <a:alpha val="31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0676" y="3957639"/>
            <a:ext cx="2806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6FFFF"/>
                </a:solidFill>
              </a:rPr>
              <a:t>The </a:t>
            </a:r>
            <a:r>
              <a:rPr lang="en-US" sz="1600" b="1" dirty="0">
                <a:solidFill>
                  <a:srgbClr val="66FFFF"/>
                </a:solidFill>
              </a:rPr>
              <a:t>return</a:t>
            </a:r>
            <a:r>
              <a:rPr lang="en-US" sz="1600" dirty="0">
                <a:solidFill>
                  <a:srgbClr val="66FFFF"/>
                </a:solidFill>
              </a:rPr>
              <a:t> command sends a value back to the line of code that called the function:</a:t>
            </a:r>
          </a:p>
        </p:txBody>
      </p:sp>
      <p:sp>
        <p:nvSpPr>
          <p:cNvPr id="12" name="Line Callout 1 (Accent Bar) 11"/>
          <p:cNvSpPr/>
          <p:nvPr/>
        </p:nvSpPr>
        <p:spPr>
          <a:xfrm>
            <a:off x="3338546" y="5529926"/>
            <a:ext cx="2519348" cy="266041"/>
          </a:xfrm>
          <a:prstGeom prst="accentCallout1">
            <a:avLst>
              <a:gd name="adj1" fmla="val 30684"/>
              <a:gd name="adj2" fmla="val -2788"/>
              <a:gd name="adj3" fmla="val -40258"/>
              <a:gd name="adj4" fmla="val -59254"/>
            </a:avLst>
          </a:prstGeom>
          <a:solidFill>
            <a:srgbClr val="66FFFF">
              <a:alpha val="30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61596" y="5257800"/>
            <a:ext cx="1461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6FFFF"/>
                </a:solidFill>
              </a:rPr>
              <a:t>print (10958)</a:t>
            </a:r>
          </a:p>
        </p:txBody>
      </p:sp>
      <p:sp>
        <p:nvSpPr>
          <p:cNvPr id="14" name="Line Callout 1 (Accent Bar) 13"/>
          <p:cNvSpPr/>
          <p:nvPr/>
        </p:nvSpPr>
        <p:spPr>
          <a:xfrm>
            <a:off x="3355673" y="5826064"/>
            <a:ext cx="3951254" cy="266041"/>
          </a:xfrm>
          <a:prstGeom prst="accentCallout1">
            <a:avLst>
              <a:gd name="adj1" fmla="val 56939"/>
              <a:gd name="adj2" fmla="val -2145"/>
              <a:gd name="adj3" fmla="val 114887"/>
              <a:gd name="adj4" fmla="val -9916"/>
            </a:avLst>
          </a:prstGeom>
          <a:solidFill>
            <a:srgbClr val="66FFFF">
              <a:alpha val="32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74674" y="5992033"/>
            <a:ext cx="2725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66FFFF"/>
                </a:solidFill>
              </a:rPr>
              <a:t>my_age_in_days</a:t>
            </a:r>
            <a:r>
              <a:rPr lang="en-US" sz="1600" dirty="0">
                <a:solidFill>
                  <a:srgbClr val="66FFFF"/>
                </a:solidFill>
              </a:rPr>
              <a:t> = 29220</a:t>
            </a:r>
          </a:p>
        </p:txBody>
      </p:sp>
    </p:spTree>
    <p:extLst>
      <p:ext uri="{BB962C8B-B14F-4D97-AF65-F5344CB8AC3E}">
        <p14:creationId xmlns:p14="http://schemas.microsoft.com/office/powerpoint/2010/main" val="341765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Test yourself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3897" y="2346243"/>
            <a:ext cx="2883472" cy="342362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num</a:t>
            </a:r>
            <a:r>
              <a:rPr lang="en-US" dirty="0"/>
              <a:t> = -5</a:t>
            </a:r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num</a:t>
            </a:r>
            <a:r>
              <a:rPr lang="en-US" dirty="0"/>
              <a:t> =&gt; 0):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num</a:t>
            </a:r>
            <a:r>
              <a:rPr lang="en-US" dirty="0"/>
              <a:t> = </a:t>
            </a:r>
            <a:r>
              <a:rPr lang="en-US" dirty="0" err="1"/>
              <a:t>num</a:t>
            </a:r>
            <a:r>
              <a:rPr lang="en-US" dirty="0"/>
              <a:t> + 5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num</a:t>
            </a:r>
            <a:r>
              <a:rPr lang="en-US" dirty="0"/>
              <a:t> += 2</a:t>
            </a:r>
          </a:p>
          <a:p>
            <a:pPr marL="0" indent="0">
              <a:buNone/>
            </a:pPr>
            <a:r>
              <a:rPr lang="en-US" dirty="0"/>
              <a:t>print </a:t>
            </a:r>
            <a:r>
              <a:rPr lang="en-US" dirty="0" err="1"/>
              <a:t>num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846001" y="4443983"/>
            <a:ext cx="2292159" cy="1082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dirty="0">
                <a:solidFill>
                  <a:srgbClr val="CCFFFF"/>
                </a:solidFill>
              </a:rPr>
              <a:t>print(-3)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1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Test yourself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3896" y="2346243"/>
            <a:ext cx="4867720" cy="34236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choice = input(“pick 1, 2, or 3”)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</a:t>
            </a:r>
            <a:r>
              <a:rPr lang="en-US" i="1" dirty="0"/>
              <a:t>data type</a:t>
            </a:r>
            <a:r>
              <a:rPr lang="en-US" dirty="0"/>
              <a:t> is stored in </a:t>
            </a:r>
            <a:r>
              <a:rPr lang="en-US" b="1" dirty="0"/>
              <a:t>choice?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282248" y="3482788"/>
            <a:ext cx="2292159" cy="1082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dirty="0">
                <a:solidFill>
                  <a:srgbClr val="CCFFFF"/>
                </a:solidFill>
              </a:rPr>
              <a:t>String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2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Test yourself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3896" y="2346243"/>
            <a:ext cx="4867720" cy="342362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two_times</a:t>
            </a:r>
            <a:r>
              <a:rPr lang="en-US" dirty="0"/>
              <a:t>(number):</a:t>
            </a:r>
          </a:p>
          <a:p>
            <a:pPr marL="0" indent="0">
              <a:buNone/>
            </a:pPr>
            <a:r>
              <a:rPr lang="en-US" dirty="0"/>
              <a:t>	return 2 * number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value = </a:t>
            </a:r>
            <a:r>
              <a:rPr lang="en-US" dirty="0" err="1"/>
              <a:t>two_times</a:t>
            </a:r>
            <a:r>
              <a:rPr lang="en-US" dirty="0"/>
              <a:t>(7)</a:t>
            </a:r>
          </a:p>
          <a:p>
            <a:pPr marL="0" indent="0">
              <a:buNone/>
            </a:pPr>
            <a:r>
              <a:rPr lang="en-US" dirty="0"/>
              <a:t>value = </a:t>
            </a:r>
            <a:r>
              <a:rPr lang="en-US" dirty="0" err="1"/>
              <a:t>two_times</a:t>
            </a:r>
            <a:r>
              <a:rPr lang="en-US" dirty="0"/>
              <a:t>(value)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907344" y="4024166"/>
            <a:ext cx="2292159" cy="1082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dirty="0">
                <a:solidFill>
                  <a:srgbClr val="CCFFFF"/>
                </a:solidFill>
              </a:rPr>
              <a:t>value = 28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12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Test yourself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40132" y="178630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3896" y="2346243"/>
            <a:ext cx="4867720" cy="34236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function_one</a:t>
            </a:r>
            <a:r>
              <a:rPr lang="en-US" dirty="0"/>
              <a:t>(num1, num2):</a:t>
            </a:r>
          </a:p>
          <a:p>
            <a:pPr marL="0" indent="0">
              <a:buNone/>
            </a:pPr>
            <a:r>
              <a:rPr lang="en-US" dirty="0"/>
              <a:t>	n = num1 * num2 – 3</a:t>
            </a:r>
          </a:p>
          <a:p>
            <a:pPr marL="0" indent="0">
              <a:buNone/>
            </a:pPr>
            <a:r>
              <a:rPr lang="en-US" dirty="0"/>
              <a:t>	super = </a:t>
            </a:r>
            <a:r>
              <a:rPr lang="en-US" dirty="0" err="1"/>
              <a:t>function_two</a:t>
            </a:r>
            <a:r>
              <a:rPr lang="en-US" dirty="0"/>
              <a:t>(n)</a:t>
            </a:r>
          </a:p>
          <a:p>
            <a:pPr marL="0" indent="0">
              <a:buNone/>
            </a:pPr>
            <a:r>
              <a:rPr lang="en-US" dirty="0"/>
              <a:t>	print(super)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function_one</a:t>
            </a:r>
            <a:r>
              <a:rPr lang="en-US" dirty="0"/>
              <a:t>(3,6)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function_two</a:t>
            </a:r>
            <a:r>
              <a:rPr lang="en-US" dirty="0"/>
              <a:t>(num1):</a:t>
            </a:r>
          </a:p>
          <a:p>
            <a:pPr marL="0" indent="0">
              <a:buNone/>
            </a:pPr>
            <a:r>
              <a:rPr lang="en-US" dirty="0"/>
              <a:t>	return num1 *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07839" y="2793153"/>
            <a:ext cx="4769544" cy="2111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dirty="0">
                <a:solidFill>
                  <a:srgbClr val="CCFFFF"/>
                </a:solidFill>
              </a:rPr>
              <a:t>Error. </a:t>
            </a:r>
            <a:r>
              <a:rPr lang="en-US" sz="2400" dirty="0" err="1">
                <a:solidFill>
                  <a:srgbClr val="CCFFFF"/>
                </a:solidFill>
              </a:rPr>
              <a:t>function_two</a:t>
            </a:r>
            <a:r>
              <a:rPr lang="en-US" sz="2400" dirty="0">
                <a:solidFill>
                  <a:srgbClr val="CCFFFF"/>
                </a:solidFill>
              </a:rPr>
              <a:t>() called earlier in program than </a:t>
            </a:r>
            <a:r>
              <a:rPr lang="en-US" sz="2400" b="1" dirty="0">
                <a:solidFill>
                  <a:srgbClr val="CCFFFF"/>
                </a:solidFill>
              </a:rPr>
              <a:t>function definition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7" name="Line Callout 1 (Accent Bar) 6"/>
          <p:cNvSpPr/>
          <p:nvPr/>
        </p:nvSpPr>
        <p:spPr>
          <a:xfrm>
            <a:off x="2627462" y="3048633"/>
            <a:ext cx="1956811" cy="388038"/>
          </a:xfrm>
          <a:prstGeom prst="accentCallout1">
            <a:avLst>
              <a:gd name="adj1" fmla="val 42473"/>
              <a:gd name="adj2" fmla="val 101747"/>
              <a:gd name="adj3" fmla="val 21731"/>
              <a:gd name="adj4" fmla="val 164154"/>
            </a:avLst>
          </a:prstGeom>
          <a:solidFill>
            <a:srgbClr val="66FFFF">
              <a:alpha val="31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4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Test yourself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3896" y="2346243"/>
            <a:ext cx="4867720" cy="34236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function_two</a:t>
            </a:r>
            <a:r>
              <a:rPr lang="en-US" dirty="0"/>
              <a:t>(num1):</a:t>
            </a:r>
          </a:p>
          <a:p>
            <a:pPr marL="0" indent="0">
              <a:buNone/>
            </a:pPr>
            <a:r>
              <a:rPr lang="en-US" dirty="0"/>
              <a:t>	return num1 *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function_one</a:t>
            </a:r>
            <a:r>
              <a:rPr lang="en-US" dirty="0"/>
              <a:t>(num1, num2):</a:t>
            </a:r>
          </a:p>
          <a:p>
            <a:pPr marL="0" indent="0">
              <a:buNone/>
            </a:pPr>
            <a:r>
              <a:rPr lang="en-US" dirty="0"/>
              <a:t>	n = num1 * num2 – 3</a:t>
            </a:r>
          </a:p>
          <a:p>
            <a:pPr marL="0" indent="0">
              <a:buNone/>
            </a:pPr>
            <a:r>
              <a:rPr lang="en-US" dirty="0"/>
              <a:t>	super = </a:t>
            </a:r>
            <a:r>
              <a:rPr lang="en-US" dirty="0" err="1"/>
              <a:t>function_two</a:t>
            </a:r>
            <a:r>
              <a:rPr lang="en-US" dirty="0"/>
              <a:t>(n)</a:t>
            </a:r>
          </a:p>
          <a:p>
            <a:pPr marL="0" indent="0">
              <a:buNone/>
            </a:pPr>
            <a:r>
              <a:rPr lang="en-US" dirty="0"/>
              <a:t>	print(super)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function_one</a:t>
            </a:r>
            <a:r>
              <a:rPr lang="en-US" dirty="0"/>
              <a:t>(3,6)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71616" y="4443983"/>
            <a:ext cx="4769544" cy="2111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dirty="0">
                <a:solidFill>
                  <a:srgbClr val="CCFFFF"/>
                </a:solidFill>
              </a:rPr>
              <a:t>super = </a:t>
            </a:r>
            <a:r>
              <a:rPr lang="en-US" sz="2800" dirty="0" err="1">
                <a:solidFill>
                  <a:srgbClr val="CCFFFF"/>
                </a:solidFill>
              </a:rPr>
              <a:t>function_two</a:t>
            </a:r>
            <a:r>
              <a:rPr lang="en-US" sz="2800" dirty="0">
                <a:solidFill>
                  <a:srgbClr val="CCFFFF"/>
                </a:solidFill>
              </a:rPr>
              <a:t>(15)</a:t>
            </a:r>
          </a:p>
          <a:p>
            <a:pPr marL="0" indent="0">
              <a:buFont typeface="Wingdings 3" charset="2"/>
              <a:buNone/>
            </a:pPr>
            <a:r>
              <a:rPr lang="en-US" sz="2800" dirty="0">
                <a:solidFill>
                  <a:srgbClr val="CCFFFF"/>
                </a:solidFill>
              </a:rPr>
              <a:t>print (30)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17900" y="30861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3            6</a:t>
            </a:r>
            <a:endParaRPr lang="en-CA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08500" y="3721927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18 – 3 = 15</a:t>
            </a:r>
            <a:endParaRPr lang="en-CA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72358" y="1976911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15</a:t>
            </a:r>
            <a:endParaRPr lang="en-CA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7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MadLibs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are asked to supply a variety of words according to type (noun, verb, adjective,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r>
              <a:rPr lang="en-US" dirty="0"/>
              <a:t>They are plugged into a story for a (hopefully) humorous effect.</a:t>
            </a:r>
            <a:endParaRPr lang="en-CA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GRAMMAR GAME</a:t>
            </a:r>
            <a:endParaRPr lang="en-CA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465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MadLibs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4400505" cy="4195481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Adjective:</a:t>
            </a:r>
          </a:p>
          <a:p>
            <a:pPr marL="457200" indent="-457200">
              <a:buAutoNum type="arabicPeriod"/>
            </a:pPr>
            <a:r>
              <a:rPr lang="en-US" dirty="0"/>
              <a:t>Plural Noun:  </a:t>
            </a:r>
          </a:p>
          <a:p>
            <a:pPr marL="457200" indent="-457200">
              <a:buAutoNum type="arabicPeriod"/>
            </a:pPr>
            <a:r>
              <a:rPr lang="en-US" dirty="0"/>
              <a:t>Animal:  </a:t>
            </a:r>
          </a:p>
          <a:p>
            <a:pPr marL="457200" indent="-457200">
              <a:buAutoNum type="arabicPeriod"/>
            </a:pPr>
            <a:r>
              <a:rPr lang="en-US" dirty="0"/>
              <a:t>Adjective:   </a:t>
            </a:r>
          </a:p>
          <a:p>
            <a:pPr marL="457200" indent="-457200">
              <a:buAutoNum type="arabicPeriod"/>
            </a:pPr>
            <a:r>
              <a:rPr lang="en-US" dirty="0"/>
              <a:t>Place:   </a:t>
            </a:r>
          </a:p>
          <a:p>
            <a:pPr marL="457200" indent="-457200">
              <a:buAutoNum type="arabicPeriod"/>
            </a:pPr>
            <a:r>
              <a:rPr lang="en-US" dirty="0"/>
              <a:t>Plural Food:   </a:t>
            </a:r>
          </a:p>
          <a:p>
            <a:pPr marL="457200" indent="-457200">
              <a:buAutoNum type="arabicPeriod"/>
            </a:pPr>
            <a:r>
              <a:rPr lang="en-US" dirty="0"/>
              <a:t>Noun:</a:t>
            </a:r>
          </a:p>
          <a:p>
            <a:pPr marL="457200" indent="-457200">
              <a:buAutoNum type="arabicPeriod"/>
            </a:pPr>
            <a:endParaRPr lang="en-CA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GRAMMAR GAME</a:t>
            </a:r>
            <a:endParaRPr lang="en-CA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83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MadLibs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8940" y="1853248"/>
            <a:ext cx="5765236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One of the most [1] characters in fiction is called “Tarzan of the [2]”. Tarzan was raised by a [3] and lives in a [4] jungle in the heart of darkest [5]. He spends most of his time eating [6] and swinging from tree to [7]</a:t>
            </a:r>
            <a:endParaRPr lang="en-CA" sz="28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GRAMMAR GAME</a:t>
            </a:r>
            <a:endParaRPr lang="en-CA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038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4669</TotalTime>
  <Words>415</Words>
  <Application>Microsoft Office PowerPoint</Application>
  <PresentationFormat>Widescreen</PresentationFormat>
  <Paragraphs>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Computer Science 20</vt:lpstr>
      <vt:lpstr>Functions Recap</vt:lpstr>
      <vt:lpstr>Test yourself</vt:lpstr>
      <vt:lpstr>Test yourself</vt:lpstr>
      <vt:lpstr>Test yourself</vt:lpstr>
      <vt:lpstr>Test yourself</vt:lpstr>
      <vt:lpstr>Test yourself</vt:lpstr>
      <vt:lpstr>MadLibs</vt:lpstr>
      <vt:lpstr>MadLibs</vt:lpstr>
      <vt:lpstr>MadLibs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</cp:lastModifiedBy>
  <cp:revision>108</cp:revision>
  <dcterms:created xsi:type="dcterms:W3CDTF">2016-08-31T14:32:10Z</dcterms:created>
  <dcterms:modified xsi:type="dcterms:W3CDTF">2019-04-08T14:26:35Z</dcterms:modified>
</cp:coreProperties>
</file>