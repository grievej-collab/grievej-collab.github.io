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15"/>
  </p:notesMasterIdLst>
  <p:sldIdLst>
    <p:sldId id="256" r:id="rId2"/>
    <p:sldId id="257" r:id="rId3"/>
    <p:sldId id="258" r:id="rId4"/>
    <p:sldId id="267" r:id="rId5"/>
    <p:sldId id="259" r:id="rId6"/>
    <p:sldId id="273" r:id="rId7"/>
    <p:sldId id="260" r:id="rId8"/>
    <p:sldId id="265" r:id="rId9"/>
    <p:sldId id="266" r:id="rId10"/>
    <p:sldId id="263" r:id="rId11"/>
    <p:sldId id="276" r:id="rId12"/>
    <p:sldId id="274" r:id="rId13"/>
    <p:sldId id="27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E08C"/>
    <a:srgbClr val="CCFFFF"/>
    <a:srgbClr val="CEEAB0"/>
    <a:srgbClr val="66FFFF"/>
    <a:srgbClr val="E1F2CE"/>
    <a:srgbClr val="FFCC99"/>
    <a:srgbClr val="FF5050"/>
    <a:srgbClr val="FF9966"/>
    <a:srgbClr val="81DEFF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86055" autoAdjust="0"/>
  </p:normalViewPr>
  <p:slideViewPr>
    <p:cSldViewPr snapToGrid="0">
      <p:cViewPr varScale="1">
        <p:scale>
          <a:sx n="99" d="100"/>
          <a:sy n="99" d="100"/>
        </p:scale>
        <p:origin x="912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F64926-3DCD-436A-8A94-5A5FF6CE9FDF}" type="datetimeFigureOut">
              <a:rPr lang="en-US" smtClean="0"/>
              <a:t>4/17/2019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920EB0-DF85-4407-B255-E5F628742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207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Have</a:t>
            </a:r>
            <a:r>
              <a:rPr lang="en-US" baseline="0" dirty="0" smtClean="0"/>
              <a:t> students code this program so they have a reference for next exercise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920EB0-DF85-4407-B255-E5F62874205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0246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Have students quickly write</a:t>
            </a:r>
            <a:r>
              <a:rPr lang="en-US" baseline="0" dirty="0" smtClean="0"/>
              <a:t> the loop, predict the output, and then run it, then bring up table to talk through the iterations in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920EB0-DF85-4407-B255-E5F62874205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2036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After time has been given to working on this problem</a:t>
            </a:r>
            <a:r>
              <a:rPr lang="en-US" baseline="0" dirty="0" smtClean="0"/>
              <a:t>, show concise solution using </a:t>
            </a:r>
            <a:r>
              <a:rPr lang="en-US" b="1" baseline="0" dirty="0" smtClean="0"/>
              <a:t>in</a:t>
            </a:r>
            <a:r>
              <a:rPr lang="en-US" b="0" baseline="0" dirty="0" smtClean="0"/>
              <a:t> keyword.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920EB0-DF85-4407-B255-E5F62874205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643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6719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2800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8014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2019-04-17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367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2019-04-17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0849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2019-04-17</a:t>
            </a:fld>
            <a:endParaRPr lang="en-CA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2943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2019-04-17</a:t>
            </a:fld>
            <a:endParaRPr lang="en-CA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3430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2019-04-17</a:t>
            </a:fld>
            <a:endParaRPr lang="en-CA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83902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2019-04-17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2162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2019-04-17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2898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414373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031409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373195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2019-04-17</a:t>
            </a:fld>
            <a:endParaRPr lang="en-C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05188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2019-04-17</a:t>
            </a:fld>
            <a:endParaRPr lang="en-C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58904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17296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3018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03FDC43-65FB-4098-9D7F-4570BC948176}" type="datetimeFigureOut">
              <a:rPr lang="en-CA" smtClean="0"/>
              <a:t>2019-04-17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37906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 smtClean="0"/>
              <a:t>Computer Science 20</a:t>
            </a:r>
            <a:endParaRPr lang="en-CA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For LOOPS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29301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Loops so far…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3990" y="1557599"/>
            <a:ext cx="9968641" cy="759398"/>
          </a:xfrm>
        </p:spPr>
        <p:txBody>
          <a:bodyPr>
            <a:normAutofit/>
          </a:bodyPr>
          <a:lstStyle/>
          <a:p>
            <a:r>
              <a:rPr lang="en-US" dirty="0" smtClean="0"/>
              <a:t>We’ve looked at </a:t>
            </a:r>
            <a:r>
              <a:rPr lang="en-US" b="1" dirty="0" smtClean="0"/>
              <a:t>while loops</a:t>
            </a:r>
            <a:r>
              <a:rPr lang="en-US" dirty="0" smtClean="0"/>
              <a:t>, which loop as long as a </a:t>
            </a:r>
            <a:r>
              <a:rPr lang="en-US" i="1" dirty="0" smtClean="0">
                <a:solidFill>
                  <a:srgbClr val="FFFF00"/>
                </a:solidFill>
              </a:rPr>
              <a:t>loop condition</a:t>
            </a:r>
            <a:r>
              <a:rPr lang="en-US" dirty="0" smtClean="0">
                <a:solidFill>
                  <a:srgbClr val="FFFF00"/>
                </a:solidFill>
              </a:rPr>
              <a:t> </a:t>
            </a:r>
            <a:r>
              <a:rPr lang="en-US" dirty="0" smtClean="0"/>
              <a:t>is True.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03311" y="3181654"/>
            <a:ext cx="6178937" cy="12623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3233863" y="2948162"/>
            <a:ext cx="293833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/>
              <a:t>num</a:t>
            </a:r>
            <a:r>
              <a:rPr lang="en-US" sz="2400" dirty="0" smtClean="0"/>
              <a:t> = 0</a:t>
            </a:r>
            <a:br>
              <a:rPr lang="en-US" sz="2400" dirty="0" smtClean="0"/>
            </a:br>
            <a:r>
              <a:rPr lang="en-US" sz="2400" dirty="0" smtClean="0"/>
              <a:t>while </a:t>
            </a:r>
            <a:r>
              <a:rPr lang="en-US" sz="2400" dirty="0" smtClean="0"/>
              <a:t> </a:t>
            </a:r>
            <a:r>
              <a:rPr lang="en-US" sz="2400" dirty="0" err="1" smtClean="0"/>
              <a:t>num</a:t>
            </a:r>
            <a:r>
              <a:rPr lang="en-US" sz="2400" dirty="0" smtClean="0"/>
              <a:t> </a:t>
            </a:r>
            <a:r>
              <a:rPr lang="en-US" sz="2400" dirty="0" smtClean="0"/>
              <a:t>&lt; </a:t>
            </a:r>
            <a:r>
              <a:rPr lang="en-US" sz="2400" dirty="0" smtClean="0"/>
              <a:t>5 :</a:t>
            </a:r>
            <a:endParaRPr lang="en-US" sz="2400" dirty="0" smtClean="0"/>
          </a:p>
          <a:p>
            <a:r>
              <a:rPr lang="en-US" sz="2400" dirty="0"/>
              <a:t>	</a:t>
            </a:r>
            <a:r>
              <a:rPr lang="en-US" sz="2400" dirty="0" smtClean="0"/>
              <a:t>print (</a:t>
            </a:r>
            <a:r>
              <a:rPr lang="en-US" sz="2400" dirty="0" err="1" smtClean="0"/>
              <a:t>num</a:t>
            </a:r>
            <a:r>
              <a:rPr lang="en-US" sz="2400" dirty="0" smtClean="0"/>
              <a:t>)</a:t>
            </a:r>
          </a:p>
          <a:p>
            <a:r>
              <a:rPr lang="en-US" sz="2400" dirty="0"/>
              <a:t>	</a:t>
            </a:r>
            <a:r>
              <a:rPr lang="en-US" sz="2400" dirty="0" err="1" smtClean="0"/>
              <a:t>num</a:t>
            </a:r>
            <a:r>
              <a:rPr lang="en-US" sz="2400" dirty="0" smtClean="0"/>
              <a:t> += 1</a:t>
            </a:r>
          </a:p>
          <a:p>
            <a:r>
              <a:rPr lang="en-US" sz="2400" dirty="0" smtClean="0"/>
              <a:t>print(“All Done!”</a:t>
            </a:r>
            <a:endParaRPr lang="en-US" sz="2400" dirty="0"/>
          </a:p>
        </p:txBody>
      </p:sp>
      <p:sp>
        <p:nvSpPr>
          <p:cNvPr id="6" name="Line Callout 1 (Accent Bar) 5"/>
          <p:cNvSpPr/>
          <p:nvPr/>
        </p:nvSpPr>
        <p:spPr>
          <a:xfrm>
            <a:off x="4192779" y="3337560"/>
            <a:ext cx="1366773" cy="475258"/>
          </a:xfrm>
          <a:prstGeom prst="accentCallout1">
            <a:avLst>
              <a:gd name="adj1" fmla="val -490"/>
              <a:gd name="adj2" fmla="val 108746"/>
              <a:gd name="adj3" fmla="val -297708"/>
              <a:gd name="adj4" fmla="val 323051"/>
            </a:avLst>
          </a:prstGeom>
          <a:solidFill>
            <a:srgbClr val="FFFF00">
              <a:alpha val="34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517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 Loops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75201" y="1524108"/>
            <a:ext cx="10306919" cy="976721"/>
          </a:xfrm>
        </p:spPr>
        <p:txBody>
          <a:bodyPr/>
          <a:lstStyle/>
          <a:p>
            <a:r>
              <a:rPr lang="en-US" dirty="0" smtClean="0"/>
              <a:t>Another type of loop. The </a:t>
            </a:r>
            <a:r>
              <a:rPr lang="en-US" b="1" dirty="0" smtClean="0"/>
              <a:t>for</a:t>
            </a:r>
            <a:r>
              <a:rPr lang="en-US" dirty="0" smtClean="0"/>
              <a:t> keyword allows us to loop (iterate) over the items in any sequence (such as a </a:t>
            </a:r>
            <a:r>
              <a:rPr lang="en-US" dirty="0" smtClean="0">
                <a:solidFill>
                  <a:srgbClr val="FFFF00"/>
                </a:solidFill>
              </a:rPr>
              <a:t>list</a:t>
            </a:r>
            <a:r>
              <a:rPr lang="en-US" dirty="0" smtClean="0"/>
              <a:t> or a </a:t>
            </a:r>
            <a:r>
              <a:rPr lang="en-US" dirty="0" smtClean="0">
                <a:solidFill>
                  <a:srgbClr val="FFC000"/>
                </a:solidFill>
              </a:rPr>
              <a:t>string</a:t>
            </a:r>
            <a:r>
              <a:rPr lang="en-US" dirty="0" smtClean="0"/>
              <a:t>)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393022" y="2728121"/>
            <a:ext cx="7417049" cy="2003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 err="1" smtClean="0">
                <a:solidFill>
                  <a:srgbClr val="CCFFFF"/>
                </a:solidFill>
              </a:rPr>
              <a:t>my_list</a:t>
            </a:r>
            <a:r>
              <a:rPr lang="en-US" dirty="0" smtClean="0">
                <a:solidFill>
                  <a:srgbClr val="CCFFFF"/>
                </a:solidFill>
              </a:rPr>
              <a:t> = [“Celery”, “Carrots”, “Broccoli”, “Zucchini”]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CCFFFF"/>
                </a:solidFill>
              </a:rPr>
              <a:t>for  item </a:t>
            </a:r>
            <a:r>
              <a:rPr lang="en-US" dirty="0" smtClean="0">
                <a:solidFill>
                  <a:srgbClr val="CCFFFF"/>
                </a:solidFill>
              </a:rPr>
              <a:t>in </a:t>
            </a:r>
            <a:r>
              <a:rPr lang="en-US" dirty="0" err="1" smtClean="0">
                <a:solidFill>
                  <a:srgbClr val="CCFFFF"/>
                </a:solidFill>
              </a:rPr>
              <a:t>my_list</a:t>
            </a:r>
            <a:r>
              <a:rPr lang="en-US" dirty="0" smtClean="0">
                <a:solidFill>
                  <a:srgbClr val="CCFFFF"/>
                </a:solidFill>
              </a:rPr>
              <a:t>: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CCFFFF"/>
                </a:solidFill>
              </a:rPr>
              <a:t>	print(“Time for a snack. Maybe I’ll have some “ + </a:t>
            </a:r>
            <a:r>
              <a:rPr lang="en-US" dirty="0" smtClean="0">
                <a:solidFill>
                  <a:srgbClr val="CCFFFF"/>
                </a:solidFill>
              </a:rPr>
              <a:t>item</a:t>
            </a:r>
            <a:r>
              <a:rPr lang="en-US" dirty="0" smtClean="0">
                <a:solidFill>
                  <a:srgbClr val="CCFFFF"/>
                </a:solidFill>
              </a:rPr>
              <a:t>)</a:t>
            </a:r>
            <a:r>
              <a:rPr lang="en-US" dirty="0"/>
              <a:t>	</a:t>
            </a:r>
            <a:endParaRPr lang="en-US" dirty="0" smtClean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2485406"/>
              </p:ext>
            </p:extLst>
          </p:nvPr>
        </p:nvGraphicFramePr>
        <p:xfrm>
          <a:off x="1393022" y="4465400"/>
          <a:ext cx="8127999" cy="1854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078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8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2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Iteration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Value of</a:t>
                      </a:r>
                      <a:r>
                        <a:rPr lang="en-US" baseline="0" dirty="0" smtClean="0"/>
                        <a:t> 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What</a:t>
                      </a:r>
                      <a:r>
                        <a:rPr lang="en-US" b="0" baseline="0" dirty="0" smtClean="0"/>
                        <a:t> is printed out?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“Celery”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Time for a snack. Maybe I’ll have some Celery.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“Carrots”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Time for a snack. Maybe I’ll have some Carrots.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“Broccoli”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Time for a snack. Maybe I’ll have some Broccoli.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“Zucchini”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Time for a snack. Maybe I’ll have some Zucchini.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Cloud Callout 7"/>
          <p:cNvSpPr/>
          <p:nvPr/>
        </p:nvSpPr>
        <p:spPr>
          <a:xfrm>
            <a:off x="9210101" y="2500829"/>
            <a:ext cx="2765234" cy="1806766"/>
          </a:xfrm>
          <a:prstGeom prst="cloudCallout">
            <a:avLst>
              <a:gd name="adj1" fmla="val -92625"/>
              <a:gd name="adj2" fmla="val -2591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9683828" y="2924638"/>
            <a:ext cx="20271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 items in list….</a:t>
            </a:r>
            <a:br>
              <a:rPr lang="en-US" dirty="0" smtClean="0"/>
            </a:br>
            <a:r>
              <a:rPr lang="en-US" dirty="0" smtClean="0"/>
              <a:t>Loop iterates 4 times!</a:t>
            </a:r>
            <a:endParaRPr lang="en-US" dirty="0"/>
          </a:p>
        </p:txBody>
      </p:sp>
      <p:sp>
        <p:nvSpPr>
          <p:cNvPr id="10" name="Line Callout 1 (Accent Bar) 9"/>
          <p:cNvSpPr/>
          <p:nvPr/>
        </p:nvSpPr>
        <p:spPr>
          <a:xfrm>
            <a:off x="1944303" y="3205908"/>
            <a:ext cx="567891" cy="330506"/>
          </a:xfrm>
          <a:prstGeom prst="accentCallout1">
            <a:avLst>
              <a:gd name="adj1" fmla="val 18750"/>
              <a:gd name="adj2" fmla="val -8333"/>
              <a:gd name="adj3" fmla="val -108343"/>
              <a:gd name="adj4" fmla="val -171399"/>
            </a:avLst>
          </a:prstGeom>
          <a:solidFill>
            <a:srgbClr val="FFFF00">
              <a:alpha val="34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 rot="19499007">
            <a:off x="57689" y="2128149"/>
            <a:ext cx="17076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FF00"/>
                </a:solidFill>
              </a:rPr>
              <a:t>Temporary variable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9564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9" grpId="0"/>
      <p:bldP spid="10" grpId="0" animBg="1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752941" y="1961218"/>
            <a:ext cx="852579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1. Write a program that uses a </a:t>
            </a:r>
            <a:r>
              <a:rPr lang="en-US" sz="2800" b="1" dirty="0" smtClean="0"/>
              <a:t>for</a:t>
            </a:r>
            <a:r>
              <a:rPr lang="en-US" sz="2800" dirty="0" smtClean="0"/>
              <a:t> loop to print:</a:t>
            </a:r>
          </a:p>
          <a:p>
            <a:r>
              <a:rPr lang="en-US" sz="2800" dirty="0"/>
              <a:t>	</a:t>
            </a:r>
            <a:r>
              <a:rPr lang="en-US" sz="2800" dirty="0">
                <a:solidFill>
                  <a:srgbClr val="CCFFFF"/>
                </a:solidFill>
              </a:rPr>
              <a:t>One of the months of the year is January</a:t>
            </a:r>
          </a:p>
          <a:p>
            <a:r>
              <a:rPr lang="en-US" sz="2800" dirty="0">
                <a:solidFill>
                  <a:srgbClr val="CCFFFF"/>
                </a:solidFill>
              </a:rPr>
              <a:t>	One of the months of the year is </a:t>
            </a:r>
            <a:r>
              <a:rPr lang="en-US" sz="2800" dirty="0" smtClean="0">
                <a:solidFill>
                  <a:srgbClr val="CCFFFF"/>
                </a:solidFill>
              </a:rPr>
              <a:t>February</a:t>
            </a:r>
          </a:p>
          <a:p>
            <a:r>
              <a:rPr lang="en-US" sz="2800" dirty="0" smtClean="0">
                <a:solidFill>
                  <a:srgbClr val="CCFFFF"/>
                </a:solidFill>
              </a:rPr>
              <a:t>	One </a:t>
            </a:r>
            <a:r>
              <a:rPr lang="en-US" sz="2800" dirty="0">
                <a:solidFill>
                  <a:srgbClr val="CCFFFF"/>
                </a:solidFill>
              </a:rPr>
              <a:t>of the months of the year is </a:t>
            </a:r>
            <a:r>
              <a:rPr lang="en-US" sz="2800" dirty="0" smtClean="0">
                <a:solidFill>
                  <a:srgbClr val="CCFFFF"/>
                </a:solidFill>
              </a:rPr>
              <a:t>March</a:t>
            </a:r>
            <a:endParaRPr lang="en-US" sz="2800" dirty="0">
              <a:solidFill>
                <a:srgbClr val="CCFFFF"/>
              </a:solidFill>
            </a:endParaRPr>
          </a:p>
          <a:p>
            <a:r>
              <a:rPr lang="en-US" sz="2800" dirty="0" smtClean="0">
                <a:solidFill>
                  <a:srgbClr val="CCFFFF"/>
                </a:solidFill>
              </a:rPr>
              <a:t>	</a:t>
            </a:r>
            <a:r>
              <a:rPr lang="en-US" sz="2800" dirty="0" err="1" smtClean="0">
                <a:solidFill>
                  <a:srgbClr val="CCFFFF"/>
                </a:solidFill>
              </a:rPr>
              <a:t>etc</a:t>
            </a:r>
            <a:r>
              <a:rPr lang="en-US" sz="2800" dirty="0" smtClean="0">
                <a:solidFill>
                  <a:srgbClr val="CCFFFF"/>
                </a:solidFill>
              </a:rPr>
              <a:t>…</a:t>
            </a:r>
            <a:endParaRPr lang="en-US" sz="2800" dirty="0">
              <a:solidFill>
                <a:srgbClr val="CCFFFF"/>
              </a:solidFill>
            </a:endParaRPr>
          </a:p>
          <a:p>
            <a:r>
              <a:rPr lang="en-US" sz="2800" dirty="0" smtClean="0"/>
              <a:t> </a:t>
            </a:r>
            <a:endParaRPr 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1752941" y="4638874"/>
            <a:ext cx="85257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2. Write an alternate program that does the same thing using a </a:t>
            </a:r>
            <a:r>
              <a:rPr lang="en-US" sz="2800" b="1" dirty="0" smtClean="0"/>
              <a:t>while</a:t>
            </a:r>
            <a:r>
              <a:rPr lang="en-US" sz="2800" dirty="0" smtClean="0"/>
              <a:t> loop.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09187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Number of iterations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9"/>
            <a:ext cx="9671184" cy="1241124"/>
          </a:xfrm>
        </p:spPr>
        <p:txBody>
          <a:bodyPr>
            <a:normAutofit/>
          </a:bodyPr>
          <a:lstStyle/>
          <a:p>
            <a:r>
              <a:rPr lang="en-US" dirty="0" smtClean="0"/>
              <a:t>What if we want to build a loop that iterates a certain number of times.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Do we have to first build a list with that particular number of elements?</a:t>
            </a: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3049180" y="3294043"/>
            <a:ext cx="2737168" cy="4387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b="1" dirty="0" smtClean="0"/>
              <a:t>Answer: </a:t>
            </a:r>
            <a:r>
              <a:rPr lang="en-US" dirty="0" smtClean="0"/>
              <a:t>Yes…</a:t>
            </a:r>
            <a:endParaRPr lang="en-US" dirty="0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1954522" y="4365367"/>
            <a:ext cx="7968763" cy="68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b="1" dirty="0" smtClean="0"/>
              <a:t>range(n) </a:t>
            </a:r>
            <a:r>
              <a:rPr lang="en-US" dirty="0" smtClean="0"/>
              <a:t>is a function that generates a list of </a:t>
            </a:r>
            <a:r>
              <a:rPr lang="en-US" b="1" dirty="0" smtClean="0"/>
              <a:t>n</a:t>
            </a:r>
            <a:r>
              <a:rPr lang="en-US" dirty="0" smtClean="0"/>
              <a:t> integers: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5030379" y="3274343"/>
            <a:ext cx="3816165" cy="4584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 smtClean="0">
                <a:solidFill>
                  <a:srgbClr val="CCFFFF"/>
                </a:solidFill>
              </a:rPr>
              <a:t>but thankfully, it’s easy!</a:t>
            </a:r>
            <a:endParaRPr lang="en-US" dirty="0">
              <a:solidFill>
                <a:srgbClr val="CCFFFF"/>
              </a:solidFill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324442" y="5191054"/>
            <a:ext cx="7968763" cy="11616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>range(8) creates the following list: [0,1,2,3,4,5,6,7]</a:t>
            </a:r>
          </a:p>
          <a:p>
            <a:pPr marL="0" indent="0">
              <a:buNone/>
            </a:pPr>
            <a:r>
              <a:rPr lang="en-US" dirty="0" smtClean="0"/>
              <a:t>range(4,6) creates the following list: [4,5</a:t>
            </a:r>
            <a:r>
              <a:rPr lang="en-US" dirty="0" smtClean="0"/>
              <a:t>]</a:t>
            </a:r>
          </a:p>
          <a:p>
            <a:pPr marL="0" indent="0">
              <a:buNone/>
            </a:pPr>
            <a:r>
              <a:rPr lang="en-US" dirty="0" smtClean="0"/>
              <a:t>range(1,10,2) creates the following list: [1,3,5,7,9]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761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 a class: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887" y="1654945"/>
            <a:ext cx="3413605" cy="12411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 smtClean="0"/>
              <a:t>for </a:t>
            </a:r>
            <a:r>
              <a:rPr lang="en-US" sz="2800" dirty="0" err="1" smtClean="0"/>
              <a:t>i</a:t>
            </a:r>
            <a:r>
              <a:rPr lang="en-US" sz="2800" dirty="0" smtClean="0"/>
              <a:t> in range(4):</a:t>
            </a:r>
          </a:p>
          <a:p>
            <a:pPr marL="0" indent="0">
              <a:buNone/>
            </a:pPr>
            <a:r>
              <a:rPr lang="en-US" sz="2800" dirty="0"/>
              <a:t>	</a:t>
            </a:r>
            <a:r>
              <a:rPr lang="en-US" sz="2800" dirty="0" smtClean="0"/>
              <a:t>print (“Hello”)</a:t>
            </a:r>
            <a:endParaRPr lang="en-US" sz="2800" dirty="0"/>
          </a:p>
          <a:p>
            <a:pPr marL="0" indent="0">
              <a:buNone/>
            </a:pPr>
            <a:r>
              <a:rPr lang="en-US" sz="2800" dirty="0" smtClean="0"/>
              <a:t>print(“Class!”)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3217956"/>
              </p:ext>
            </p:extLst>
          </p:nvPr>
        </p:nvGraphicFramePr>
        <p:xfrm>
          <a:off x="4819268" y="1391116"/>
          <a:ext cx="5944211" cy="219456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130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6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11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479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Iteration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Value of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What</a:t>
                      </a:r>
                      <a:r>
                        <a:rPr lang="en-US" baseline="0" dirty="0" smtClean="0"/>
                        <a:t> is printed out?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79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Hello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79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Hello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79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Hello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79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Hello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479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After loop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n/a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Class!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Content Placeholder 2"/>
          <p:cNvSpPr txBox="1">
            <a:spLocks/>
          </p:cNvSpPr>
          <p:nvPr/>
        </p:nvSpPr>
        <p:spPr>
          <a:xfrm>
            <a:off x="484742" y="4524074"/>
            <a:ext cx="5541484" cy="14916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sz="2400" dirty="0" smtClean="0"/>
              <a:t>for </a:t>
            </a:r>
            <a:r>
              <a:rPr lang="en-US" sz="2400" dirty="0" err="1" smtClean="0"/>
              <a:t>i</a:t>
            </a:r>
            <a:r>
              <a:rPr lang="en-US" sz="2400" dirty="0" smtClean="0"/>
              <a:t> in range(3,7):</a:t>
            </a:r>
          </a:p>
          <a:p>
            <a:pPr marL="0" indent="0">
              <a:buFont typeface="Wingdings 3" charset="2"/>
              <a:buNone/>
            </a:pPr>
            <a:r>
              <a:rPr lang="en-US" sz="2400" dirty="0"/>
              <a:t> </a:t>
            </a:r>
            <a:r>
              <a:rPr lang="en-US" sz="2400" dirty="0" smtClean="0"/>
              <a:t>   print (“My fav number is: ” + </a:t>
            </a:r>
            <a:r>
              <a:rPr lang="en-US" sz="2400" dirty="0" err="1" smtClean="0"/>
              <a:t>str</a:t>
            </a:r>
            <a:r>
              <a:rPr lang="en-US" sz="2400" dirty="0" smtClean="0"/>
              <a:t>(</a:t>
            </a:r>
            <a:r>
              <a:rPr lang="en-US" sz="2400" dirty="0" err="1" smtClean="0"/>
              <a:t>i</a:t>
            </a:r>
            <a:r>
              <a:rPr lang="en-US" sz="2400" dirty="0" smtClean="0"/>
              <a:t>))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237008"/>
              </p:ext>
            </p:extLst>
          </p:nvPr>
        </p:nvGraphicFramePr>
        <p:xfrm>
          <a:off x="6443645" y="4342819"/>
          <a:ext cx="4980847" cy="185420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10918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5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3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Iteration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Value of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What</a:t>
                      </a:r>
                      <a:r>
                        <a:rPr lang="en-US" baseline="0" dirty="0" smtClean="0"/>
                        <a:t> is printed out?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My</a:t>
                      </a:r>
                      <a:r>
                        <a:rPr lang="en-US" baseline="0" dirty="0" smtClean="0"/>
                        <a:t> Fav number is: 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My</a:t>
                      </a:r>
                      <a:r>
                        <a:rPr lang="en-US" baseline="0" dirty="0" smtClean="0"/>
                        <a:t> Fav number is: 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My</a:t>
                      </a:r>
                      <a:r>
                        <a:rPr lang="en-US" baseline="0" dirty="0" smtClean="0"/>
                        <a:t> Fav number is: 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My</a:t>
                      </a:r>
                      <a:r>
                        <a:rPr lang="en-US" baseline="0" dirty="0" smtClean="0"/>
                        <a:t> Fav number is: 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6927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436" y="121843"/>
            <a:ext cx="9404723" cy="1400530"/>
          </a:xfrm>
        </p:spPr>
        <p:txBody>
          <a:bodyPr/>
          <a:lstStyle/>
          <a:p>
            <a:r>
              <a:rPr lang="en-US" dirty="0" smtClean="0"/>
              <a:t>Exercise</a:t>
            </a:r>
            <a:endParaRPr lang="en-US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38486" y="662998"/>
            <a:ext cx="8825658" cy="861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 smtClean="0">
                <a:solidFill>
                  <a:srgbClr val="FFC000"/>
                </a:solidFill>
              </a:rPr>
              <a:t>FOR LOOPS</a:t>
            </a:r>
            <a:endParaRPr lang="en-CA" dirty="0">
              <a:solidFill>
                <a:srgbClr val="FFC00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49208" y="1522373"/>
            <a:ext cx="10386300" cy="2983157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 smtClean="0"/>
              <a:t>Detention! Write a program that prints out “I will not text in class…” 1000 times.</a:t>
            </a:r>
          </a:p>
          <a:p>
            <a:pPr marL="457200" indent="-457200">
              <a:buAutoNum type="arabicPeriod"/>
            </a:pPr>
            <a:r>
              <a:rPr lang="en-US" dirty="0" smtClean="0"/>
              <a:t>Create the following list:  numbers = [ 10, 17, 4, 55, 23, 96 ]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For each element in the list:</a:t>
            </a:r>
          </a:p>
          <a:p>
            <a:pPr marL="1257300" lvl="2" indent="-457200">
              <a:buFont typeface="Arial" panose="020B0604020202020204" pitchFamily="34" charset="0"/>
              <a:buChar char="•"/>
            </a:pPr>
            <a:r>
              <a:rPr lang="en-US" dirty="0" smtClean="0"/>
              <a:t>Print out the number AND its square</a:t>
            </a:r>
          </a:p>
          <a:p>
            <a:pPr marL="1257300" lvl="2" indent="-457200">
              <a:buFont typeface="Arial" panose="020B0604020202020204" pitchFamily="34" charset="0"/>
              <a:buChar char="•"/>
            </a:pPr>
            <a:r>
              <a:rPr lang="en-US" dirty="0" smtClean="0"/>
              <a:t>Output should look like:    number: 10   square: 100</a:t>
            </a:r>
            <a:br>
              <a:rPr lang="en-US" dirty="0" smtClean="0"/>
            </a:br>
            <a:r>
              <a:rPr lang="en-US" dirty="0" smtClean="0"/>
              <a:t>                                             number: 17    square: 289</a:t>
            </a:r>
          </a:p>
          <a:p>
            <a:pPr marL="800100" lvl="2" indent="0">
              <a:buNone/>
            </a:pPr>
            <a:r>
              <a:rPr lang="en-US" dirty="0" smtClean="0"/>
              <a:t>                                                       …and so on</a:t>
            </a:r>
            <a:endParaRPr lang="en-US" dirty="0"/>
          </a:p>
        </p:txBody>
      </p:sp>
      <p:sp>
        <p:nvSpPr>
          <p:cNvPr id="10" name="Content Placeholder 4"/>
          <p:cNvSpPr txBox="1">
            <a:spLocks/>
          </p:cNvSpPr>
          <p:nvPr/>
        </p:nvSpPr>
        <p:spPr>
          <a:xfrm>
            <a:off x="205435" y="4943658"/>
            <a:ext cx="11869051" cy="1765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b="1" dirty="0" smtClean="0">
                <a:solidFill>
                  <a:schemeClr val="bg1"/>
                </a:solidFill>
              </a:rPr>
              <a:t>Extra for experts: </a:t>
            </a:r>
            <a:r>
              <a:rPr lang="en-US" dirty="0" smtClean="0"/>
              <a:t>Create a new version of the above programs that use </a:t>
            </a:r>
            <a:r>
              <a:rPr lang="en-US" b="1" dirty="0" smtClean="0"/>
              <a:t>while</a:t>
            </a:r>
            <a:r>
              <a:rPr lang="en-US" dirty="0" smtClean="0"/>
              <a:t> loops rather than </a:t>
            </a:r>
            <a:r>
              <a:rPr lang="en-US" b="1" dirty="0" smtClean="0"/>
              <a:t>for </a:t>
            </a:r>
            <a:r>
              <a:rPr lang="en-US" dirty="0" smtClean="0"/>
              <a:t>loops.</a:t>
            </a:r>
          </a:p>
          <a:p>
            <a:pPr marL="0" indent="0">
              <a:buNone/>
            </a:pPr>
            <a:r>
              <a:rPr lang="en-US" dirty="0" smtClean="0"/>
              <a:t>Hint: remember that </a:t>
            </a:r>
            <a:br>
              <a:rPr lang="en-US" dirty="0" smtClean="0"/>
            </a:br>
            <a:r>
              <a:rPr lang="en-US" dirty="0" smtClean="0"/>
              <a:t>	</a:t>
            </a:r>
            <a:r>
              <a:rPr lang="en-US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len</a:t>
            </a:r>
            <a:r>
              <a:rPr lang="en-US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(</a:t>
            </a:r>
            <a:r>
              <a:rPr lang="en-US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my_list</a:t>
            </a:r>
            <a:r>
              <a:rPr lang="en-US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) returns the number of elements in an array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</a:t>
            </a:r>
            <a:r>
              <a:rPr lang="en-US" dirty="0" err="1" smtClean="0">
                <a:solidFill>
                  <a:srgbClr val="CCFFFF"/>
                </a:solidFill>
              </a:rPr>
              <a:t>my_list</a:t>
            </a:r>
            <a:r>
              <a:rPr lang="en-US" dirty="0" smtClean="0">
                <a:solidFill>
                  <a:srgbClr val="CCFFFF"/>
                </a:solidFill>
              </a:rPr>
              <a:t>[</a:t>
            </a:r>
            <a:r>
              <a:rPr lang="en-US" dirty="0" err="1" smtClean="0">
                <a:solidFill>
                  <a:srgbClr val="CCFFFF"/>
                </a:solidFill>
              </a:rPr>
              <a:t>i</a:t>
            </a:r>
            <a:r>
              <a:rPr lang="en-US" dirty="0" smtClean="0">
                <a:solidFill>
                  <a:srgbClr val="CCFFFF"/>
                </a:solidFill>
              </a:rPr>
              <a:t>] allows you to access (and modify) the element stored at position </a:t>
            </a:r>
            <a:r>
              <a:rPr lang="en-US" dirty="0" err="1" smtClean="0">
                <a:solidFill>
                  <a:srgbClr val="CCFFFF"/>
                </a:solidFill>
              </a:rPr>
              <a:t>i</a:t>
            </a:r>
            <a:endParaRPr lang="en-US" dirty="0">
              <a:solidFill>
                <a:srgbClr val="CC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1007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506604"/>
            <a:ext cx="9404723" cy="810025"/>
          </a:xfrm>
        </p:spPr>
        <p:txBody>
          <a:bodyPr/>
          <a:lstStyle/>
          <a:p>
            <a:r>
              <a:rPr lang="en-US" dirty="0" smtClean="0"/>
              <a:t>Strings as Lists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1" y="1702839"/>
            <a:ext cx="10734313" cy="963243"/>
          </a:xfrm>
        </p:spPr>
        <p:txBody>
          <a:bodyPr>
            <a:normAutofit/>
          </a:bodyPr>
          <a:lstStyle/>
          <a:p>
            <a:r>
              <a:rPr lang="en-US" dirty="0" smtClean="0"/>
              <a:t>Recall that in Python, </a:t>
            </a:r>
            <a:r>
              <a:rPr lang="en-US" dirty="0" smtClean="0">
                <a:solidFill>
                  <a:srgbClr val="FFC000"/>
                </a:solidFill>
              </a:rPr>
              <a:t>all String variables </a:t>
            </a:r>
            <a:r>
              <a:rPr lang="en-US" dirty="0" smtClean="0"/>
              <a:t>can also be treated as a </a:t>
            </a:r>
            <a:r>
              <a:rPr lang="en-US" dirty="0" smtClean="0">
                <a:solidFill>
                  <a:srgbClr val="CCFFFF"/>
                </a:solidFill>
              </a:rPr>
              <a:t>list of characters.</a:t>
            </a:r>
            <a:r>
              <a:rPr lang="en-US" dirty="0">
                <a:solidFill>
                  <a:srgbClr val="CCFFFF"/>
                </a:solidFill>
              </a:rPr>
              <a:t>	</a:t>
            </a:r>
            <a:endParaRPr lang="en-US" dirty="0" smtClean="0">
              <a:solidFill>
                <a:srgbClr val="CCFFFF"/>
              </a:solidFill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646111" y="1091663"/>
            <a:ext cx="8825658" cy="861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 smtClean="0">
                <a:solidFill>
                  <a:srgbClr val="FFC000"/>
                </a:solidFill>
              </a:rPr>
              <a:t>LOOP ITERATION</a:t>
            </a:r>
            <a:endParaRPr lang="en-CA" dirty="0">
              <a:solidFill>
                <a:srgbClr val="FFC000"/>
              </a:solidFill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1298721" y="3416965"/>
            <a:ext cx="2909724" cy="6482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sz="2800" dirty="0" smtClean="0"/>
              <a:t>fruit = “Apricot”</a:t>
            </a:r>
            <a:br>
              <a:rPr lang="en-US" sz="2800" dirty="0" smtClean="0"/>
            </a:br>
            <a:endParaRPr lang="en-US" sz="2800" dirty="0" smtClean="0"/>
          </a:p>
          <a:p>
            <a:pPr marL="0" indent="0">
              <a:buFont typeface="Wingdings 3" charset="2"/>
              <a:buNone/>
            </a:pPr>
            <a:endParaRPr lang="en-US" sz="2800" dirty="0" smtClean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2175" y="2538142"/>
            <a:ext cx="7885223" cy="3074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749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10025"/>
          </a:xfrm>
        </p:spPr>
        <p:txBody>
          <a:bodyPr/>
          <a:lstStyle/>
          <a:p>
            <a:r>
              <a:rPr lang="en-US" dirty="0" smtClean="0"/>
              <a:t>For loops and Strings</a:t>
            </a:r>
            <a:endParaRPr lang="en-US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646111" y="1091663"/>
            <a:ext cx="8825658" cy="861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CA" dirty="0">
              <a:solidFill>
                <a:srgbClr val="FFC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3443" y="2180840"/>
            <a:ext cx="67863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fruit = “Apricot”</a:t>
            </a:r>
          </a:p>
          <a:p>
            <a:r>
              <a:rPr lang="en-US" sz="2400" dirty="0" smtClean="0"/>
              <a:t>for </a:t>
            </a:r>
            <a:r>
              <a:rPr lang="en-US" sz="2400" dirty="0" err="1" smtClean="0"/>
              <a:t>i</a:t>
            </a:r>
            <a:r>
              <a:rPr lang="en-US" sz="2400" dirty="0" smtClean="0"/>
              <a:t> in fruit:</a:t>
            </a:r>
          </a:p>
          <a:p>
            <a:r>
              <a:rPr lang="en-US" sz="2400" dirty="0"/>
              <a:t>	</a:t>
            </a:r>
            <a:r>
              <a:rPr lang="en-US" sz="2400" dirty="0" smtClean="0"/>
              <a:t>if </a:t>
            </a:r>
            <a:r>
              <a:rPr lang="en-US" sz="2400" dirty="0" err="1" smtClean="0"/>
              <a:t>i</a:t>
            </a:r>
            <a:r>
              <a:rPr lang="en-US" sz="2400" dirty="0" smtClean="0"/>
              <a:t> == “a” or </a:t>
            </a:r>
            <a:r>
              <a:rPr lang="en-US" sz="2400" dirty="0" err="1" smtClean="0"/>
              <a:t>i</a:t>
            </a:r>
            <a:r>
              <a:rPr lang="en-US" sz="2400" dirty="0" smtClean="0"/>
              <a:t> == “A”:</a:t>
            </a:r>
          </a:p>
          <a:p>
            <a:r>
              <a:rPr lang="en-US" sz="2400" dirty="0"/>
              <a:t>	</a:t>
            </a:r>
            <a:r>
              <a:rPr lang="en-US" sz="2400" dirty="0" smtClean="0"/>
              <a:t>	print (“Ah – what a great letter!”)</a:t>
            </a:r>
          </a:p>
          <a:p>
            <a:r>
              <a:rPr lang="en-US" sz="2400" dirty="0"/>
              <a:t>	</a:t>
            </a:r>
            <a:r>
              <a:rPr lang="en-US" sz="2400" dirty="0" smtClean="0"/>
              <a:t>else:</a:t>
            </a:r>
          </a:p>
          <a:p>
            <a:r>
              <a:rPr lang="en-US" sz="2400" dirty="0"/>
              <a:t>	</a:t>
            </a:r>
            <a:r>
              <a:rPr lang="en-US" sz="2400" dirty="0" smtClean="0"/>
              <a:t>	print (“..ho-hum”)</a:t>
            </a:r>
            <a:endParaRPr lang="en-US" sz="24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8383618"/>
              </p:ext>
            </p:extLst>
          </p:nvPr>
        </p:nvGraphicFramePr>
        <p:xfrm>
          <a:off x="6435075" y="2099992"/>
          <a:ext cx="5756925" cy="323596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1073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37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9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Iteration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Value of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What</a:t>
                      </a:r>
                      <a:r>
                        <a:rPr lang="en-US" baseline="0" dirty="0" smtClean="0"/>
                        <a:t> is printed out?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“A”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“Ah – what a great letter!”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“p”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(“..ho-hum”)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“r”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(“..ho-hum”)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“</a:t>
                      </a:r>
                      <a:r>
                        <a:rPr lang="en-US" dirty="0" err="1" smtClean="0"/>
                        <a:t>i</a:t>
                      </a:r>
                      <a:r>
                        <a:rPr lang="en-US" dirty="0" smtClean="0"/>
                        <a:t>"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(“..ho-hum”)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“c”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(“..ho-hum”)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“o”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(“..ho-hum”)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“t”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(“..ho-hum”)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5606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808424" y="1145754"/>
            <a:ext cx="5383576" cy="4032174"/>
          </a:xfrm>
          <a:prstGeom prst="rect">
            <a:avLst/>
          </a:prstGeom>
          <a:solidFill>
            <a:srgbClr val="66FFFF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571" y="274034"/>
            <a:ext cx="9404723" cy="1400530"/>
          </a:xfrm>
        </p:spPr>
        <p:txBody>
          <a:bodyPr/>
          <a:lstStyle/>
          <a:p>
            <a:r>
              <a:rPr lang="en-US" dirty="0" smtClean="0"/>
              <a:t>Exercise: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607" y="1368765"/>
            <a:ext cx="5524434" cy="53597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Vowel Counter</a:t>
            </a:r>
            <a:br>
              <a:rPr lang="en-US" b="1" dirty="0" smtClean="0"/>
            </a:br>
            <a:endParaRPr lang="en-US" b="1" dirty="0" smtClean="0"/>
          </a:p>
          <a:p>
            <a:pPr lvl="1"/>
            <a:r>
              <a:rPr lang="en-US" sz="2000" dirty="0" smtClean="0"/>
              <a:t>Ask the user to enter a word, and store it in a String variable.</a:t>
            </a:r>
            <a:br>
              <a:rPr lang="en-US" sz="2000" dirty="0" smtClean="0"/>
            </a:br>
            <a:endParaRPr lang="en-US" sz="2000" dirty="0" smtClean="0"/>
          </a:p>
          <a:p>
            <a:pPr lvl="1"/>
            <a:r>
              <a:rPr lang="en-US" sz="2000" dirty="0" smtClean="0"/>
              <a:t>Using a </a:t>
            </a:r>
            <a:r>
              <a:rPr lang="en-US" sz="2000" b="1" dirty="0" smtClean="0"/>
              <a:t>for</a:t>
            </a:r>
            <a:r>
              <a:rPr lang="en-US" sz="2000" dirty="0" smtClean="0"/>
              <a:t> loop, count how many vowels (a, e, </a:t>
            </a:r>
            <a:r>
              <a:rPr lang="en-US" sz="2000" dirty="0" err="1" smtClean="0"/>
              <a:t>i</a:t>
            </a:r>
            <a:r>
              <a:rPr lang="en-US" sz="2000" dirty="0" smtClean="0"/>
              <a:t>, o, u) are in the word.</a:t>
            </a:r>
            <a:br>
              <a:rPr lang="en-US" sz="2000" dirty="0" smtClean="0"/>
            </a:br>
            <a:endParaRPr lang="en-US" sz="2000" dirty="0" smtClean="0"/>
          </a:p>
          <a:p>
            <a:pPr lvl="1"/>
            <a:r>
              <a:rPr lang="en-US" sz="2000" dirty="0" smtClean="0"/>
              <a:t>Print a message to the user reporting how many vowels were in that word.</a:t>
            </a:r>
            <a:br>
              <a:rPr lang="en-US" sz="2000" dirty="0" smtClean="0"/>
            </a:br>
            <a:endParaRPr lang="en-US" sz="2000" dirty="0" smtClean="0"/>
          </a:p>
          <a:p>
            <a:pPr lvl="1"/>
            <a:r>
              <a:rPr lang="en-US" sz="2000" dirty="0" smtClean="0"/>
              <a:t>Then ask if the user would like to try again. If yes, repeat the steps above. If no, end. May use a </a:t>
            </a:r>
            <a:r>
              <a:rPr lang="en-US" sz="2000" b="1" dirty="0" smtClean="0"/>
              <a:t>while </a:t>
            </a:r>
            <a:r>
              <a:rPr lang="en-US" sz="2000" dirty="0" smtClean="0"/>
              <a:t>loop for this step.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4955" y="1339225"/>
            <a:ext cx="477051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 smtClean="0">
                <a:solidFill>
                  <a:schemeClr val="tx1">
                    <a:lumMod val="95000"/>
                  </a:schemeClr>
                </a:solidFill>
              </a:rPr>
              <a:t>For Loops</a:t>
            </a:r>
            <a:br>
              <a:rPr lang="en-US" u="sng" dirty="0" smtClean="0">
                <a:solidFill>
                  <a:schemeClr val="tx1">
                    <a:lumMod val="95000"/>
                  </a:schemeClr>
                </a:solidFill>
              </a:rPr>
            </a:br>
            <a:endParaRPr lang="en-US" u="sng" dirty="0" smtClean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en-US" dirty="0" smtClean="0"/>
              <a:t>for </a:t>
            </a:r>
            <a:r>
              <a:rPr lang="en-US" dirty="0" err="1" smtClean="0"/>
              <a:t>i</a:t>
            </a:r>
            <a:r>
              <a:rPr lang="en-US" dirty="0" smtClean="0"/>
              <a:t> in </a:t>
            </a:r>
            <a:r>
              <a:rPr lang="en-US" i="1" dirty="0" smtClean="0"/>
              <a:t>list:</a:t>
            </a:r>
          </a:p>
          <a:p>
            <a:r>
              <a:rPr lang="en-US" dirty="0" smtClean="0"/>
              <a:t>   </a:t>
            </a:r>
            <a:r>
              <a:rPr lang="en-US" dirty="0" smtClean="0">
                <a:solidFill>
                  <a:srgbClr val="CCFFFF"/>
                </a:solidFill>
              </a:rPr>
              <a:t># Loop once for each item in </a:t>
            </a:r>
            <a:r>
              <a:rPr lang="en-US" i="1" dirty="0" smtClean="0">
                <a:solidFill>
                  <a:srgbClr val="CCFFFF"/>
                </a:solidFill>
              </a:rPr>
              <a:t>list.</a:t>
            </a:r>
            <a:r>
              <a:rPr lang="en-US" b="1" i="1" dirty="0" smtClean="0">
                <a:solidFill>
                  <a:srgbClr val="CCFFFF"/>
                </a:solidFill>
              </a:rPr>
              <a:t> </a:t>
            </a:r>
            <a:r>
              <a:rPr lang="en-US" dirty="0" smtClean="0">
                <a:solidFill>
                  <a:srgbClr val="CCFFFF"/>
                </a:solidFill>
              </a:rPr>
              <a:t>Store </a:t>
            </a:r>
            <a:br>
              <a:rPr lang="en-US" dirty="0" smtClean="0">
                <a:solidFill>
                  <a:srgbClr val="CCFFFF"/>
                </a:solidFill>
              </a:rPr>
            </a:br>
            <a:r>
              <a:rPr lang="en-US" dirty="0" smtClean="0">
                <a:solidFill>
                  <a:srgbClr val="CCFFFF"/>
                </a:solidFill>
              </a:rPr>
              <a:t>       each item temporarily in </a:t>
            </a:r>
            <a:r>
              <a:rPr lang="en-US" dirty="0" err="1" smtClean="0">
                <a:solidFill>
                  <a:srgbClr val="CCFFFF"/>
                </a:solidFill>
              </a:rPr>
              <a:t>i</a:t>
            </a:r>
            <a:r>
              <a:rPr lang="en-US" dirty="0" smtClean="0">
                <a:solidFill>
                  <a:srgbClr val="CCFFFF"/>
                </a:solidFill>
              </a:rPr>
              <a:t>.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i="1" dirty="0" smtClean="0"/>
              <a:t>condition</a:t>
            </a:r>
            <a:r>
              <a:rPr lang="en-US" dirty="0" smtClean="0"/>
              <a:t> </a:t>
            </a:r>
            <a:r>
              <a:rPr lang="en-US" b="1" dirty="0" smtClean="0"/>
              <a:t>or</a:t>
            </a:r>
            <a:r>
              <a:rPr lang="en-US" dirty="0" smtClean="0"/>
              <a:t> </a:t>
            </a:r>
            <a:r>
              <a:rPr lang="en-US" i="1" dirty="0" smtClean="0"/>
              <a:t>condition</a:t>
            </a:r>
            <a:br>
              <a:rPr lang="en-US" i="1" dirty="0" smtClean="0"/>
            </a:br>
            <a:r>
              <a:rPr lang="en-US" i="1" dirty="0" smtClean="0"/>
              <a:t> </a:t>
            </a:r>
            <a:r>
              <a:rPr lang="en-US" dirty="0" smtClean="0"/>
              <a:t>   </a:t>
            </a:r>
            <a:r>
              <a:rPr lang="en-US" dirty="0" smtClean="0">
                <a:solidFill>
                  <a:srgbClr val="CCFFFF"/>
                </a:solidFill>
              </a:rPr>
              <a:t>#Logical operator combines multiple</a:t>
            </a:r>
            <a:br>
              <a:rPr lang="en-US" dirty="0" smtClean="0">
                <a:solidFill>
                  <a:srgbClr val="CCFFFF"/>
                </a:solidFill>
              </a:rPr>
            </a:br>
            <a:r>
              <a:rPr lang="en-US" dirty="0" smtClean="0">
                <a:solidFill>
                  <a:srgbClr val="CCFFFF"/>
                </a:solidFill>
              </a:rPr>
              <a:t>       conditions. If at least one condition</a:t>
            </a:r>
            <a:br>
              <a:rPr lang="en-US" dirty="0" smtClean="0">
                <a:solidFill>
                  <a:srgbClr val="CCFFFF"/>
                </a:solidFill>
              </a:rPr>
            </a:br>
            <a:r>
              <a:rPr lang="en-US" dirty="0" smtClean="0">
                <a:solidFill>
                  <a:srgbClr val="CCFFFF"/>
                </a:solidFill>
              </a:rPr>
              <a:t>       is True, whole statement is True.</a:t>
            </a:r>
          </a:p>
          <a:p>
            <a:r>
              <a:rPr lang="en-US" dirty="0"/>
              <a:t>if </a:t>
            </a:r>
            <a:r>
              <a:rPr lang="en-US" i="1" dirty="0"/>
              <a:t>condition</a:t>
            </a:r>
            <a:r>
              <a:rPr lang="en-US" dirty="0"/>
              <a:t> </a:t>
            </a:r>
            <a:r>
              <a:rPr lang="en-US" b="1" dirty="0" smtClean="0"/>
              <a:t>and</a:t>
            </a:r>
            <a:r>
              <a:rPr lang="en-US" dirty="0" smtClean="0"/>
              <a:t> </a:t>
            </a:r>
            <a:r>
              <a:rPr lang="en-US" i="1" dirty="0"/>
              <a:t>condition</a:t>
            </a:r>
            <a:br>
              <a:rPr lang="en-US" i="1" dirty="0"/>
            </a:br>
            <a:r>
              <a:rPr lang="en-US" i="1" dirty="0"/>
              <a:t> </a:t>
            </a:r>
            <a:r>
              <a:rPr lang="en-US" dirty="0"/>
              <a:t>   </a:t>
            </a:r>
            <a:r>
              <a:rPr lang="en-US" dirty="0">
                <a:solidFill>
                  <a:srgbClr val="CCFFFF"/>
                </a:solidFill>
              </a:rPr>
              <a:t>#Logical operator combines multiple</a:t>
            </a:r>
            <a:br>
              <a:rPr lang="en-US" dirty="0">
                <a:solidFill>
                  <a:srgbClr val="CCFFFF"/>
                </a:solidFill>
              </a:rPr>
            </a:br>
            <a:r>
              <a:rPr lang="en-US" dirty="0">
                <a:solidFill>
                  <a:srgbClr val="CCFFFF"/>
                </a:solidFill>
              </a:rPr>
              <a:t>       conditions. If </a:t>
            </a:r>
            <a:r>
              <a:rPr lang="en-US" dirty="0" smtClean="0">
                <a:solidFill>
                  <a:srgbClr val="CCFFFF"/>
                </a:solidFill>
              </a:rPr>
              <a:t>all individual conditions</a:t>
            </a:r>
            <a:r>
              <a:rPr lang="en-US" dirty="0">
                <a:solidFill>
                  <a:srgbClr val="CCFFFF"/>
                </a:solidFill>
              </a:rPr>
              <a:t/>
            </a:r>
            <a:br>
              <a:rPr lang="en-US" dirty="0">
                <a:solidFill>
                  <a:srgbClr val="CCFFFF"/>
                </a:solidFill>
              </a:rPr>
            </a:br>
            <a:r>
              <a:rPr lang="en-US" dirty="0">
                <a:solidFill>
                  <a:srgbClr val="CCFFFF"/>
                </a:solidFill>
              </a:rPr>
              <a:t>       </a:t>
            </a:r>
            <a:r>
              <a:rPr lang="en-US" dirty="0" smtClean="0">
                <a:solidFill>
                  <a:srgbClr val="CCFFFF"/>
                </a:solidFill>
              </a:rPr>
              <a:t>are </a:t>
            </a:r>
            <a:r>
              <a:rPr lang="en-US" dirty="0">
                <a:solidFill>
                  <a:srgbClr val="CCFFFF"/>
                </a:solidFill>
              </a:rPr>
              <a:t>True, </a:t>
            </a:r>
            <a:r>
              <a:rPr lang="en-US" dirty="0" smtClean="0">
                <a:solidFill>
                  <a:srgbClr val="CCFFFF"/>
                </a:solidFill>
              </a:rPr>
              <a:t>the whole </a:t>
            </a:r>
            <a:r>
              <a:rPr lang="en-US" dirty="0">
                <a:solidFill>
                  <a:srgbClr val="CCFFFF"/>
                </a:solidFill>
              </a:rPr>
              <a:t>statement is True.</a:t>
            </a:r>
            <a:endParaRPr lang="en-US" dirty="0"/>
          </a:p>
          <a:p>
            <a:endParaRPr lang="en-US" dirty="0" smtClean="0"/>
          </a:p>
          <a:p>
            <a:endParaRPr lang="en-CA" dirty="0"/>
          </a:p>
        </p:txBody>
      </p:sp>
      <p:sp>
        <p:nvSpPr>
          <p:cNvPr id="5" name="TextBox 4"/>
          <p:cNvSpPr txBox="1"/>
          <p:nvPr/>
        </p:nvSpPr>
        <p:spPr>
          <a:xfrm>
            <a:off x="6896559" y="5673012"/>
            <a:ext cx="49889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 smtClean="0"/>
              <a:t>Extra for experts:</a:t>
            </a:r>
          </a:p>
          <a:p>
            <a:r>
              <a:rPr lang="en-US" dirty="0" smtClean="0"/>
              <a:t>	Implement a solution that utilizes 	a 	</a:t>
            </a:r>
            <a:r>
              <a:rPr lang="en-US" b="1" dirty="0" smtClean="0"/>
              <a:t>while</a:t>
            </a:r>
            <a:r>
              <a:rPr lang="en-US" dirty="0" smtClean="0"/>
              <a:t> loop rather than a </a:t>
            </a:r>
            <a:r>
              <a:rPr lang="en-US" b="1" dirty="0" smtClean="0"/>
              <a:t>for </a:t>
            </a:r>
            <a:r>
              <a:rPr lang="en-US" dirty="0" smtClean="0"/>
              <a:t>loop.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945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686" y="233643"/>
            <a:ext cx="9404723" cy="1400530"/>
          </a:xfrm>
        </p:spPr>
        <p:txBody>
          <a:bodyPr/>
          <a:lstStyle/>
          <a:p>
            <a:r>
              <a:rPr lang="en-US" dirty="0" smtClean="0"/>
              <a:t>Exercise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757" y="3849858"/>
            <a:ext cx="9592068" cy="288431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Sample </a:t>
            </a:r>
            <a:r>
              <a:rPr lang="en-US" b="1" dirty="0" smtClean="0"/>
              <a:t>For Loop </a:t>
            </a:r>
            <a:r>
              <a:rPr lang="en-US" dirty="0" smtClean="0"/>
              <a:t>code:</a:t>
            </a:r>
          </a:p>
          <a:p>
            <a:pPr marL="0" indent="0">
              <a:buNone/>
            </a:pPr>
            <a:r>
              <a:rPr lang="en-US" dirty="0" smtClean="0"/>
              <a:t>word = “apricot”</a:t>
            </a:r>
          </a:p>
          <a:p>
            <a:pPr marL="0" indent="0">
              <a:buNone/>
            </a:pPr>
            <a:r>
              <a:rPr lang="en-US" dirty="0" err="1"/>
              <a:t>t</a:t>
            </a:r>
            <a:r>
              <a:rPr lang="en-US" dirty="0" err="1" smtClean="0"/>
              <a:t>otal_vowels</a:t>
            </a:r>
            <a:r>
              <a:rPr lang="en-US" dirty="0" smtClean="0"/>
              <a:t> = 0</a:t>
            </a:r>
          </a:p>
          <a:p>
            <a:pPr marL="0" indent="0">
              <a:buNone/>
            </a:pPr>
            <a:r>
              <a:rPr lang="en-US" dirty="0" smtClean="0"/>
              <a:t>for </a:t>
            </a:r>
            <a:r>
              <a:rPr lang="en-US" dirty="0" err="1" smtClean="0"/>
              <a:t>i</a:t>
            </a:r>
            <a:r>
              <a:rPr lang="en-US" dirty="0" smtClean="0"/>
              <a:t> in </a:t>
            </a:r>
            <a:r>
              <a:rPr lang="en-US" smtClean="0"/>
              <a:t>word:     </a:t>
            </a:r>
            <a:r>
              <a:rPr lang="en-US" smtClean="0">
                <a:solidFill>
                  <a:srgbClr val="FFFF00"/>
                </a:solidFill>
              </a:rPr>
              <a:t>#</a:t>
            </a:r>
            <a:r>
              <a:rPr lang="en-US" dirty="0" smtClean="0">
                <a:solidFill>
                  <a:srgbClr val="FFFF00"/>
                </a:solidFill>
              </a:rPr>
              <a:t>will loop once for each element in word</a:t>
            </a:r>
          </a:p>
          <a:p>
            <a:pPr marL="0" indent="0">
              <a:buNone/>
            </a:pPr>
            <a:r>
              <a:rPr lang="en-US" dirty="0" smtClean="0"/>
              <a:t>	if </a:t>
            </a:r>
            <a:r>
              <a:rPr lang="en-US" i="1" dirty="0" smtClean="0"/>
              <a:t>test</a:t>
            </a:r>
            <a:r>
              <a:rPr lang="en-US" dirty="0" smtClean="0"/>
              <a:t>:         </a:t>
            </a:r>
            <a:r>
              <a:rPr lang="en-US" dirty="0" smtClean="0">
                <a:solidFill>
                  <a:srgbClr val="FFFF00"/>
                </a:solidFill>
              </a:rPr>
              <a:t>#build a condition to see if the current letter (</a:t>
            </a:r>
            <a:r>
              <a:rPr lang="en-US" dirty="0" err="1" smtClean="0">
                <a:solidFill>
                  <a:srgbClr val="FFFF00"/>
                </a:solidFill>
              </a:rPr>
              <a:t>i</a:t>
            </a:r>
            <a:r>
              <a:rPr lang="en-US" dirty="0" smtClean="0">
                <a:solidFill>
                  <a:srgbClr val="FFFF00"/>
                </a:solidFill>
              </a:rPr>
              <a:t>) is a vowel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</a:t>
            </a:r>
            <a:r>
              <a:rPr lang="en-US" dirty="0" err="1" smtClean="0"/>
              <a:t>total_vowels</a:t>
            </a:r>
            <a:r>
              <a:rPr lang="en-US" dirty="0" smtClean="0"/>
              <a:t> = </a:t>
            </a:r>
            <a:r>
              <a:rPr lang="en-US" dirty="0" err="1" smtClean="0"/>
              <a:t>total_vowels</a:t>
            </a:r>
            <a:r>
              <a:rPr lang="en-US" dirty="0" smtClean="0"/>
              <a:t> + 1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FF00"/>
                </a:solidFill>
              </a:rPr>
              <a:t>#once the loop is done, use print() to report how many vowels were found!</a:t>
            </a:r>
            <a:r>
              <a:rPr lang="en-US" dirty="0"/>
              <a:t>	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endParaRPr lang="en-US" dirty="0" smtClean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71082" y="1187790"/>
            <a:ext cx="11344668" cy="2546009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b="1" dirty="0" smtClean="0"/>
              <a:t>Vowel Counter</a:t>
            </a:r>
            <a:br>
              <a:rPr lang="en-US" b="1" dirty="0" smtClean="0"/>
            </a:br>
            <a:endParaRPr lang="en-US" b="1" dirty="0" smtClean="0"/>
          </a:p>
          <a:p>
            <a:pPr lvl="1"/>
            <a:r>
              <a:rPr lang="en-US" sz="2000" dirty="0" smtClean="0"/>
              <a:t>Ask the user to enter a word, and store it in a String variable.</a:t>
            </a:r>
            <a:br>
              <a:rPr lang="en-US" sz="2000" dirty="0" smtClean="0"/>
            </a:br>
            <a:endParaRPr lang="en-US" sz="2000" dirty="0" smtClean="0"/>
          </a:p>
          <a:p>
            <a:pPr lvl="1"/>
            <a:r>
              <a:rPr lang="en-US" sz="2000" dirty="0" smtClean="0"/>
              <a:t>Using a </a:t>
            </a:r>
            <a:r>
              <a:rPr lang="en-US" sz="2000" b="1" dirty="0" smtClean="0"/>
              <a:t>for</a:t>
            </a:r>
            <a:r>
              <a:rPr lang="en-US" sz="2000" dirty="0" smtClean="0"/>
              <a:t> loop, count how many vowels (a, e, </a:t>
            </a:r>
            <a:r>
              <a:rPr lang="en-US" sz="2000" dirty="0" err="1" smtClean="0"/>
              <a:t>i</a:t>
            </a:r>
            <a:r>
              <a:rPr lang="en-US" sz="2000" dirty="0" smtClean="0"/>
              <a:t>, o, u) are in the word.</a:t>
            </a:r>
            <a:br>
              <a:rPr lang="en-US" sz="2000" dirty="0" smtClean="0"/>
            </a:br>
            <a:endParaRPr lang="en-US" sz="2000" dirty="0" smtClean="0"/>
          </a:p>
          <a:p>
            <a:pPr lvl="1"/>
            <a:r>
              <a:rPr lang="en-US" sz="2000" dirty="0" smtClean="0"/>
              <a:t>Print a message to the user reporting how many vowels were in that word.</a:t>
            </a:r>
            <a:br>
              <a:rPr lang="en-US" sz="2000" dirty="0" smtClean="0"/>
            </a:br>
            <a:endParaRPr lang="en-US" sz="2000" dirty="0" smtClean="0"/>
          </a:p>
          <a:p>
            <a:pPr lvl="1"/>
            <a:r>
              <a:rPr lang="en-US" sz="2000" dirty="0" smtClean="0"/>
              <a:t>Then ask if the user would like to try again. If yes, repeat the steps above. If no, end. May use a </a:t>
            </a:r>
            <a:r>
              <a:rPr lang="en-US" sz="2000" b="1" dirty="0" smtClean="0"/>
              <a:t>while </a:t>
            </a:r>
            <a:r>
              <a:rPr lang="en-US" sz="2000" dirty="0" smtClean="0"/>
              <a:t>loop for this step.</a:t>
            </a:r>
          </a:p>
        </p:txBody>
      </p:sp>
    </p:spTree>
    <p:extLst>
      <p:ext uri="{BB962C8B-B14F-4D97-AF65-F5344CB8AC3E}">
        <p14:creationId xmlns:p14="http://schemas.microsoft.com/office/powerpoint/2010/main" val="2453982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 One: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9489" y="1546142"/>
            <a:ext cx="11633812" cy="487669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while True:</a:t>
            </a:r>
          </a:p>
          <a:p>
            <a:pPr marL="0" indent="0">
              <a:buNone/>
            </a:pPr>
            <a:r>
              <a:rPr lang="en-US" dirty="0"/>
              <a:t>    count = 0</a:t>
            </a:r>
          </a:p>
          <a:p>
            <a:pPr marL="0" indent="0">
              <a:buNone/>
            </a:pPr>
            <a:r>
              <a:rPr lang="en-US" dirty="0"/>
              <a:t>    word = </a:t>
            </a:r>
            <a:r>
              <a:rPr lang="en-US" dirty="0" smtClean="0"/>
              <a:t>input</a:t>
            </a:r>
            <a:r>
              <a:rPr lang="en-US" dirty="0"/>
              <a:t>("Please enter a word")</a:t>
            </a:r>
          </a:p>
          <a:p>
            <a:pPr marL="0" indent="0">
              <a:buNone/>
            </a:pPr>
            <a:r>
              <a:rPr lang="en-US" dirty="0"/>
              <a:t>    for </a:t>
            </a:r>
            <a:r>
              <a:rPr lang="en-US" dirty="0" err="1"/>
              <a:t>i</a:t>
            </a:r>
            <a:r>
              <a:rPr lang="en-US" dirty="0"/>
              <a:t> in word:</a:t>
            </a:r>
          </a:p>
          <a:p>
            <a:pPr marL="0" indent="0">
              <a:buNone/>
            </a:pPr>
            <a:r>
              <a:rPr lang="en-US" dirty="0"/>
              <a:t>        if </a:t>
            </a:r>
            <a:r>
              <a:rPr lang="en-US" dirty="0" err="1"/>
              <a:t>i</a:t>
            </a:r>
            <a:r>
              <a:rPr lang="en-US" dirty="0"/>
              <a:t>=="a" or </a:t>
            </a:r>
            <a:r>
              <a:rPr lang="en-US" dirty="0" err="1"/>
              <a:t>i</a:t>
            </a:r>
            <a:r>
              <a:rPr lang="en-US" dirty="0"/>
              <a:t> == "A" or </a:t>
            </a:r>
            <a:r>
              <a:rPr lang="en-US" dirty="0" err="1"/>
              <a:t>i</a:t>
            </a:r>
            <a:r>
              <a:rPr lang="en-US" dirty="0"/>
              <a:t>=="e" or </a:t>
            </a:r>
            <a:r>
              <a:rPr lang="en-US" dirty="0" err="1"/>
              <a:t>i</a:t>
            </a:r>
            <a:r>
              <a:rPr lang="en-US" dirty="0"/>
              <a:t> == "E" or </a:t>
            </a:r>
            <a:r>
              <a:rPr lang="en-US" dirty="0" err="1"/>
              <a:t>i</a:t>
            </a:r>
            <a:r>
              <a:rPr lang="en-US" dirty="0"/>
              <a:t>=="</a:t>
            </a:r>
            <a:r>
              <a:rPr lang="en-US" dirty="0" err="1"/>
              <a:t>i</a:t>
            </a:r>
            <a:r>
              <a:rPr lang="en-US" dirty="0"/>
              <a:t>" or </a:t>
            </a:r>
            <a:r>
              <a:rPr lang="en-US" dirty="0" err="1"/>
              <a:t>i</a:t>
            </a:r>
            <a:r>
              <a:rPr lang="en-US" dirty="0"/>
              <a:t> == "I" or </a:t>
            </a:r>
            <a:r>
              <a:rPr lang="en-US" dirty="0" err="1"/>
              <a:t>i</a:t>
            </a:r>
            <a:r>
              <a:rPr lang="en-US" dirty="0"/>
              <a:t>=="o" or </a:t>
            </a:r>
            <a:r>
              <a:rPr lang="en-US" dirty="0" err="1"/>
              <a:t>i</a:t>
            </a:r>
            <a:r>
              <a:rPr lang="en-US" dirty="0"/>
              <a:t> == "O" or </a:t>
            </a:r>
            <a:r>
              <a:rPr lang="en-US" dirty="0" err="1"/>
              <a:t>i</a:t>
            </a:r>
            <a:r>
              <a:rPr lang="en-US" dirty="0"/>
              <a:t>=="u" or </a:t>
            </a:r>
            <a:r>
              <a:rPr lang="en-US" dirty="0" err="1"/>
              <a:t>i</a:t>
            </a:r>
            <a:r>
              <a:rPr lang="en-US" dirty="0"/>
              <a:t> == "U":</a:t>
            </a:r>
          </a:p>
          <a:p>
            <a:pPr marL="0" indent="0">
              <a:buNone/>
            </a:pPr>
            <a:r>
              <a:rPr lang="en-US" dirty="0"/>
              <a:t>            count += 1</a:t>
            </a:r>
          </a:p>
          <a:p>
            <a:pPr marL="0" indent="0">
              <a:buNone/>
            </a:pPr>
            <a:r>
              <a:rPr lang="en-US" dirty="0"/>
              <a:t>    print ("There were " + </a:t>
            </a:r>
            <a:r>
              <a:rPr lang="en-US" dirty="0" err="1"/>
              <a:t>str</a:t>
            </a:r>
            <a:r>
              <a:rPr lang="en-US" dirty="0"/>
              <a:t>(count)+ " vowels in that word!")</a:t>
            </a:r>
          </a:p>
          <a:p>
            <a:pPr marL="0" indent="0">
              <a:buNone/>
            </a:pPr>
            <a:r>
              <a:rPr lang="en-US" dirty="0"/>
              <a:t>    repeat = </a:t>
            </a:r>
            <a:r>
              <a:rPr lang="en-US" dirty="0" smtClean="0"/>
              <a:t>input</a:t>
            </a:r>
            <a:r>
              <a:rPr lang="en-US" dirty="0"/>
              <a:t>("Would you like to try again? (Y/N)")</a:t>
            </a:r>
          </a:p>
          <a:p>
            <a:pPr marL="0" indent="0">
              <a:buNone/>
            </a:pPr>
            <a:r>
              <a:rPr lang="en-US" dirty="0"/>
              <a:t>    while(repeat != "Y" and repeat != "N"):</a:t>
            </a:r>
          </a:p>
          <a:p>
            <a:pPr marL="0" indent="0">
              <a:buNone/>
            </a:pPr>
            <a:r>
              <a:rPr lang="en-US" dirty="0"/>
              <a:t>        repeat = </a:t>
            </a:r>
            <a:r>
              <a:rPr lang="en-US" dirty="0" smtClean="0"/>
              <a:t>input</a:t>
            </a:r>
            <a:r>
              <a:rPr lang="en-US" dirty="0"/>
              <a:t>("Would you like to try again? (Y/N)")</a:t>
            </a:r>
          </a:p>
          <a:p>
            <a:pPr marL="0" indent="0">
              <a:buNone/>
            </a:pPr>
            <a:r>
              <a:rPr lang="en-US" dirty="0"/>
              <a:t>    if repeat == "N":</a:t>
            </a:r>
          </a:p>
          <a:p>
            <a:pPr marL="0" indent="0">
              <a:buNone/>
            </a:pPr>
            <a:r>
              <a:rPr lang="en-US" dirty="0"/>
              <a:t>        break</a:t>
            </a:r>
          </a:p>
        </p:txBody>
      </p:sp>
    </p:spTree>
    <p:extLst>
      <p:ext uri="{BB962C8B-B14F-4D97-AF65-F5344CB8AC3E}">
        <p14:creationId xmlns:p14="http://schemas.microsoft.com/office/powerpoint/2010/main" val="4278198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 Two: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9489" y="1546142"/>
            <a:ext cx="11633812" cy="487669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while True:</a:t>
            </a:r>
          </a:p>
          <a:p>
            <a:pPr marL="0" indent="0">
              <a:buNone/>
            </a:pPr>
            <a:r>
              <a:rPr lang="en-US" dirty="0"/>
              <a:t>    count = 0</a:t>
            </a:r>
          </a:p>
          <a:p>
            <a:pPr marL="0" indent="0">
              <a:buNone/>
            </a:pPr>
            <a:r>
              <a:rPr lang="en-US" dirty="0"/>
              <a:t>    word = </a:t>
            </a:r>
            <a:r>
              <a:rPr lang="en-US" dirty="0" smtClean="0"/>
              <a:t>input</a:t>
            </a:r>
            <a:r>
              <a:rPr lang="en-US" dirty="0"/>
              <a:t>("Please enter a word")</a:t>
            </a:r>
          </a:p>
          <a:p>
            <a:pPr marL="0" indent="0">
              <a:buNone/>
            </a:pPr>
            <a:r>
              <a:rPr lang="en-US" dirty="0"/>
              <a:t>    for </a:t>
            </a:r>
            <a:r>
              <a:rPr lang="en-US" dirty="0" err="1"/>
              <a:t>i</a:t>
            </a:r>
            <a:r>
              <a:rPr lang="en-US" dirty="0"/>
              <a:t> in word:</a:t>
            </a:r>
          </a:p>
          <a:p>
            <a:pPr marL="0" indent="0">
              <a:buNone/>
            </a:pPr>
            <a:r>
              <a:rPr lang="en-US" dirty="0" smtClean="0"/>
              <a:t>	  </a:t>
            </a:r>
            <a:r>
              <a:rPr lang="en-US" dirty="0" smtClean="0">
                <a:solidFill>
                  <a:srgbClr val="FFFF00"/>
                </a:solidFill>
              </a:rPr>
              <a:t>if </a:t>
            </a:r>
            <a:r>
              <a:rPr lang="en-US" dirty="0" err="1" smtClean="0">
                <a:solidFill>
                  <a:srgbClr val="FFFF00"/>
                </a:solidFill>
              </a:rPr>
              <a:t>i</a:t>
            </a:r>
            <a:r>
              <a:rPr lang="en-US" dirty="0" smtClean="0">
                <a:solidFill>
                  <a:srgbClr val="FFFF00"/>
                </a:solidFill>
              </a:rPr>
              <a:t> in “</a:t>
            </a:r>
            <a:r>
              <a:rPr lang="en-US" dirty="0" err="1" smtClean="0">
                <a:solidFill>
                  <a:srgbClr val="FFFF00"/>
                </a:solidFill>
              </a:rPr>
              <a:t>AaEeIiOoUu</a:t>
            </a:r>
            <a:r>
              <a:rPr lang="en-US" dirty="0" smtClean="0">
                <a:solidFill>
                  <a:srgbClr val="FFFF00"/>
                </a:solidFill>
              </a:rPr>
              <a:t>”:</a:t>
            </a:r>
            <a:endParaRPr lang="en-US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dirty="0"/>
              <a:t>            count += 1</a:t>
            </a:r>
          </a:p>
          <a:p>
            <a:pPr marL="0" indent="0">
              <a:buNone/>
            </a:pPr>
            <a:r>
              <a:rPr lang="en-US" dirty="0"/>
              <a:t>    print ("There were " + </a:t>
            </a:r>
            <a:r>
              <a:rPr lang="en-US" dirty="0" err="1"/>
              <a:t>str</a:t>
            </a:r>
            <a:r>
              <a:rPr lang="en-US" dirty="0"/>
              <a:t>(count)+ " vowels in that word!")</a:t>
            </a:r>
          </a:p>
          <a:p>
            <a:pPr marL="0" indent="0">
              <a:buNone/>
            </a:pPr>
            <a:r>
              <a:rPr lang="en-US" dirty="0"/>
              <a:t>    repeat = </a:t>
            </a:r>
            <a:r>
              <a:rPr lang="en-US" dirty="0" smtClean="0"/>
              <a:t>input</a:t>
            </a:r>
            <a:r>
              <a:rPr lang="en-US" dirty="0"/>
              <a:t>("Would you like to try again? (Y/N)")</a:t>
            </a:r>
          </a:p>
          <a:p>
            <a:pPr marL="0" indent="0">
              <a:buNone/>
            </a:pPr>
            <a:r>
              <a:rPr lang="en-US" dirty="0"/>
              <a:t>    while(repeat != "Y" and repeat != "N"):</a:t>
            </a:r>
          </a:p>
          <a:p>
            <a:pPr marL="0" indent="0">
              <a:buNone/>
            </a:pPr>
            <a:r>
              <a:rPr lang="en-US" dirty="0"/>
              <a:t>        repeat = </a:t>
            </a:r>
            <a:r>
              <a:rPr lang="en-US" dirty="0" smtClean="0"/>
              <a:t>input</a:t>
            </a:r>
            <a:r>
              <a:rPr lang="en-US" dirty="0"/>
              <a:t>("Would you like to try again? (Y/N)")</a:t>
            </a:r>
          </a:p>
          <a:p>
            <a:pPr marL="0" indent="0">
              <a:buNone/>
            </a:pPr>
            <a:r>
              <a:rPr lang="en-US" dirty="0"/>
              <a:t>    if repeat == "N":</a:t>
            </a:r>
          </a:p>
          <a:p>
            <a:pPr marL="0" indent="0">
              <a:buNone/>
            </a:pPr>
            <a:r>
              <a:rPr lang="en-US" dirty="0"/>
              <a:t>        break</a:t>
            </a:r>
          </a:p>
        </p:txBody>
      </p:sp>
      <p:sp>
        <p:nvSpPr>
          <p:cNvPr id="4" name="Line Callout 1 (Accent Bar) 3"/>
          <p:cNvSpPr/>
          <p:nvPr/>
        </p:nvSpPr>
        <p:spPr>
          <a:xfrm>
            <a:off x="859316" y="3084723"/>
            <a:ext cx="2599980" cy="385590"/>
          </a:xfrm>
          <a:prstGeom prst="accentCallout1">
            <a:avLst>
              <a:gd name="adj1" fmla="val 33036"/>
              <a:gd name="adj2" fmla="val 107345"/>
              <a:gd name="adj3" fmla="val -81786"/>
              <a:gd name="adj4" fmla="val 237091"/>
            </a:avLst>
          </a:prstGeom>
          <a:solidFill>
            <a:srgbClr val="FFFF00">
              <a:alpha val="2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601639" y="1246193"/>
            <a:ext cx="394403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FF00"/>
                </a:solidFill>
              </a:rPr>
              <a:t>in keyword:</a:t>
            </a:r>
          </a:p>
          <a:p>
            <a:r>
              <a:rPr lang="en-US" dirty="0" smtClean="0">
                <a:solidFill>
                  <a:srgbClr val="FFFF00"/>
                </a:solidFill>
              </a:rPr>
              <a:t>Looks through the list </a:t>
            </a:r>
            <a:r>
              <a:rPr lang="en-US" dirty="0" smtClean="0">
                <a:solidFill>
                  <a:srgbClr val="CCFFFF"/>
                </a:solidFill>
              </a:rPr>
              <a:t>(“</a:t>
            </a:r>
            <a:r>
              <a:rPr lang="en-US" dirty="0" err="1" smtClean="0">
                <a:solidFill>
                  <a:srgbClr val="CCFFFF"/>
                </a:solidFill>
              </a:rPr>
              <a:t>AaEeIiOoUu</a:t>
            </a:r>
            <a:r>
              <a:rPr lang="en-US" dirty="0" smtClean="0">
                <a:solidFill>
                  <a:srgbClr val="CCFFFF"/>
                </a:solidFill>
              </a:rPr>
              <a:t>”) </a:t>
            </a:r>
            <a:r>
              <a:rPr lang="en-US" dirty="0" smtClean="0">
                <a:solidFill>
                  <a:srgbClr val="FFFF00"/>
                </a:solidFill>
              </a:rPr>
              <a:t>to see if item</a:t>
            </a:r>
            <a:r>
              <a:rPr lang="en-US" dirty="0" smtClean="0">
                <a:solidFill>
                  <a:srgbClr val="CCFFFF"/>
                </a:solidFill>
              </a:rPr>
              <a:t> </a:t>
            </a:r>
            <a:r>
              <a:rPr lang="en-US" dirty="0" err="1" smtClean="0">
                <a:solidFill>
                  <a:srgbClr val="CCFFFF"/>
                </a:solidFill>
              </a:rPr>
              <a:t>i</a:t>
            </a:r>
            <a:r>
              <a:rPr lang="en-US" dirty="0" smtClean="0">
                <a:solidFill>
                  <a:srgbClr val="CCFFFF"/>
                </a:solidFill>
              </a:rPr>
              <a:t> </a:t>
            </a:r>
            <a:r>
              <a:rPr lang="en-US" dirty="0" smtClean="0">
                <a:solidFill>
                  <a:srgbClr val="FFFF00"/>
                </a:solidFill>
              </a:rPr>
              <a:t>(each individual letter in word) is contained within. </a:t>
            </a:r>
          </a:p>
          <a:p>
            <a:endParaRPr lang="en-US" dirty="0">
              <a:solidFill>
                <a:srgbClr val="FFFF00"/>
              </a:solidFill>
            </a:endParaRPr>
          </a:p>
          <a:p>
            <a:r>
              <a:rPr lang="en-US" dirty="0" smtClean="0">
                <a:solidFill>
                  <a:srgbClr val="FFFF00"/>
                </a:solidFill>
              </a:rPr>
              <a:t>If it is, it must be a vowel. 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339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Orang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4894</TotalTime>
  <Words>855</Words>
  <Application>Microsoft Office PowerPoint</Application>
  <PresentationFormat>Widescreen</PresentationFormat>
  <Paragraphs>194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Century Gothic</vt:lpstr>
      <vt:lpstr>Wingdings 3</vt:lpstr>
      <vt:lpstr>Ion</vt:lpstr>
      <vt:lpstr>Computer Science 20</vt:lpstr>
      <vt:lpstr>Loops so far…</vt:lpstr>
      <vt:lpstr>For Loops</vt:lpstr>
      <vt:lpstr>Exercise</vt:lpstr>
      <vt:lpstr>Number of iterations</vt:lpstr>
      <vt:lpstr>As a class:</vt:lpstr>
      <vt:lpstr>Exercise</vt:lpstr>
      <vt:lpstr>Strings as Lists</vt:lpstr>
      <vt:lpstr>For loops and Strings</vt:lpstr>
      <vt:lpstr>Exercise:</vt:lpstr>
      <vt:lpstr>Exercise</vt:lpstr>
      <vt:lpstr>Solution One:</vt:lpstr>
      <vt:lpstr>Solution Two:</vt:lpstr>
    </vt:vector>
  </TitlesOfParts>
  <Company>Saskatoon Public Schools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Science 20</dc:title>
  <dc:creator>Scott, Stefan Graham (Stefan)</dc:creator>
  <cp:lastModifiedBy>Scott, Stefan</cp:lastModifiedBy>
  <cp:revision>135</cp:revision>
  <dcterms:created xsi:type="dcterms:W3CDTF">2016-08-31T14:32:10Z</dcterms:created>
  <dcterms:modified xsi:type="dcterms:W3CDTF">2019-04-17T19:06:49Z</dcterms:modified>
</cp:coreProperties>
</file>