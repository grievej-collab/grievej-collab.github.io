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75" r:id="rId3"/>
    <p:sldId id="278" r:id="rId4"/>
    <p:sldId id="279" r:id="rId5"/>
    <p:sldId id="280" r:id="rId6"/>
    <p:sldId id="276" r:id="rId7"/>
    <p:sldId id="284" r:id="rId8"/>
    <p:sldId id="28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5734"/>
    <a:srgbClr val="164A2B"/>
    <a:srgbClr val="14294C"/>
    <a:srgbClr val="DAC2EC"/>
    <a:srgbClr val="E8D8F4"/>
    <a:srgbClr val="BF95DF"/>
    <a:srgbClr val="DFC9EF"/>
    <a:srgbClr val="934BC9"/>
    <a:srgbClr val="66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434" autoAdjust="0"/>
  </p:normalViewPr>
  <p:slideViewPr>
    <p:cSldViewPr snapToGrid="0">
      <p:cViewPr varScale="1">
        <p:scale>
          <a:sx n="106" d="100"/>
          <a:sy n="106" d="100"/>
        </p:scale>
        <p:origin x="67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scott" userId="850d44055a446e9f" providerId="LiveId" clId="{85697B1A-9D1C-4701-B3CC-7B561A4A83EE}"/>
    <pc:docChg chg="undo addSld delSld">
      <pc:chgData name="stefan scott" userId="850d44055a446e9f" providerId="LiveId" clId="{85697B1A-9D1C-4701-B3CC-7B561A4A83EE}" dt="2019-04-04T03:58:32.625" v="2" actId="2696"/>
      <pc:docMkLst>
        <pc:docMk/>
      </pc:docMkLst>
      <pc:sldChg chg="add del">
        <pc:chgData name="stefan scott" userId="850d44055a446e9f" providerId="LiveId" clId="{85697B1A-9D1C-4701-B3CC-7B561A4A83EE}" dt="2019-04-04T03:58:32.625" v="2" actId="2696"/>
        <pc:sldMkLst>
          <pc:docMk/>
          <pc:sldMk cId="328762576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719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80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01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36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084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294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343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90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162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289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1437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3140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7319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518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890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729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01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03FDC43-65FB-4098-9D7F-4570BC948176}" type="datetimeFigureOut">
              <a:rPr lang="en-CA" smtClean="0"/>
              <a:t>2019-04-03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37906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iki.c2.com/?GlobalVariablesAreBa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Computer Science 20</a:t>
            </a:r>
            <a:endParaRPr lang="en-CA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FUNCTIONS AND INFORMATION SHARING</a:t>
            </a:r>
            <a:endParaRPr lang="en-CA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301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48" y="2311649"/>
            <a:ext cx="8254148" cy="618842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46" y="2148632"/>
            <a:ext cx="9420269" cy="70627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15" y="114581"/>
            <a:ext cx="9404723" cy="1400530"/>
          </a:xfrm>
        </p:spPr>
        <p:txBody>
          <a:bodyPr/>
          <a:lstStyle/>
          <a:p>
            <a:r>
              <a:rPr lang="en-US" dirty="0"/>
              <a:t>Functions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9672" y="3542365"/>
            <a:ext cx="3505884" cy="13871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Using the </a:t>
            </a:r>
            <a:r>
              <a:rPr lang="en-US" sz="1600" b="1" dirty="0"/>
              <a:t>global</a:t>
            </a:r>
            <a:r>
              <a:rPr lang="en-US" sz="1600" dirty="0"/>
              <a:t> keyword in a function indicates that the global variable will be used in the function, and may be modified.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646111" y="708846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ARGUMENTS, PARAMETERS, RETURN VALUES</a:t>
            </a:r>
            <a:endParaRPr lang="en-CA" dirty="0">
              <a:solidFill>
                <a:srgbClr val="92D05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136157" y="2732316"/>
            <a:ext cx="3637578" cy="4412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US" sz="1800" dirty="0"/>
          </a:p>
          <a:p>
            <a:pPr marL="0" indent="0">
              <a:buFont typeface="Wingdings 3" charset="2"/>
              <a:buNone/>
            </a:pPr>
            <a:endParaRPr lang="en-US" sz="1800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Font typeface="Wingdings 3" charset="2"/>
              <a:buNone/>
            </a:pPr>
            <a:endParaRPr lang="en-US" sz="1800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Font typeface="Wingdings 3" charset="2"/>
              <a:buNone/>
            </a:pPr>
            <a:endParaRPr lang="en-CA" sz="1800" dirty="0"/>
          </a:p>
          <a:p>
            <a:pPr marL="0" indent="0">
              <a:buFont typeface="Wingdings 3" charset="2"/>
              <a:buNone/>
            </a:pPr>
            <a:endParaRPr lang="en-US" sz="18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96" y="2212565"/>
            <a:ext cx="9282463" cy="6959392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4186707" y="5694037"/>
            <a:ext cx="3505884" cy="1387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rgbClr val="FFFF00"/>
                </a:solidFill>
              </a:rPr>
              <a:t>When this line is reached, the value stored in </a:t>
            </a:r>
            <a:r>
              <a:rPr lang="en-US" sz="1600" b="1" dirty="0">
                <a:solidFill>
                  <a:srgbClr val="FFFF00"/>
                </a:solidFill>
              </a:rPr>
              <a:t>name</a:t>
            </a:r>
            <a:r>
              <a:rPr lang="en-US" sz="1600" dirty="0">
                <a:solidFill>
                  <a:srgbClr val="FFFF00"/>
                </a:solidFill>
              </a:rPr>
              <a:t> will have been modified (with “Mr. “ prepended to it)</a:t>
            </a:r>
            <a:br>
              <a:rPr lang="en-US" sz="1600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3" name="Line Callout 1 (Accent Bar) 12"/>
          <p:cNvSpPr/>
          <p:nvPr/>
        </p:nvSpPr>
        <p:spPr>
          <a:xfrm>
            <a:off x="1655245" y="4443576"/>
            <a:ext cx="840504" cy="360421"/>
          </a:xfrm>
          <a:prstGeom prst="accentCallout1">
            <a:avLst>
              <a:gd name="adj1" fmla="val 16083"/>
              <a:gd name="adj2" fmla="val 106746"/>
              <a:gd name="adj3" fmla="val 420827"/>
              <a:gd name="adj4" fmla="val 299551"/>
            </a:avLst>
          </a:prstGeom>
          <a:solidFill>
            <a:srgbClr val="FFFF00">
              <a:alpha val="3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863982" y="1568536"/>
            <a:ext cx="5918067" cy="1387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600" dirty="0"/>
              <a:t>Recap: Accessing and Modifying global variables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77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15" y="452718"/>
            <a:ext cx="9404723" cy="762391"/>
          </a:xfrm>
        </p:spPr>
        <p:txBody>
          <a:bodyPr/>
          <a:lstStyle/>
          <a:p>
            <a:r>
              <a:rPr lang="en-US" dirty="0"/>
              <a:t>Functions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670" y="1908403"/>
            <a:ext cx="9932998" cy="4412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Although using and modifying global variables is simple, their usage is generally considered </a:t>
            </a:r>
            <a:r>
              <a:rPr lang="en-US" b="1" dirty="0"/>
              <a:t>bad practice!</a:t>
            </a:r>
            <a:r>
              <a:rPr lang="en-US" dirty="0"/>
              <a:t> Why?</a:t>
            </a:r>
            <a:br>
              <a:rPr lang="en-US" dirty="0"/>
            </a:b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Being able to access and modify global variables from anywhere in the code makes </a:t>
            </a:r>
            <a:r>
              <a:rPr lang="en-US" b="1" dirty="0"/>
              <a:t>readability</a:t>
            </a:r>
            <a:r>
              <a:rPr lang="en-US" dirty="0"/>
              <a:t> and </a:t>
            </a:r>
            <a:r>
              <a:rPr lang="en-US" b="1" dirty="0"/>
              <a:t>maintainability</a:t>
            </a:r>
            <a:r>
              <a:rPr lang="en-US" dirty="0"/>
              <a:t> much more difficult.</a:t>
            </a:r>
          </a:p>
          <a:p>
            <a:pPr marL="457200" indent="-457200">
              <a:buAutoNum type="arabicPeriod"/>
            </a:pPr>
            <a:r>
              <a:rPr lang="en-US" dirty="0"/>
              <a:t>In larger-scale programs (possibly with several developers), the possibility of mixing up local and global references increases drastically.</a:t>
            </a:r>
          </a:p>
          <a:p>
            <a:pPr marL="457200" indent="-457200">
              <a:buAutoNum type="arabicPeriod"/>
            </a:pPr>
            <a:r>
              <a:rPr lang="en-US" dirty="0"/>
              <a:t> (Advanced) For more information, see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hlinkClick r:id="rId2"/>
              </a:rPr>
              <a:t>here.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646111" y="104698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GLOBAL ISSUES</a:t>
            </a:r>
            <a:endParaRPr lang="en-CA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89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15" y="452718"/>
            <a:ext cx="9404723" cy="762391"/>
          </a:xfrm>
        </p:spPr>
        <p:txBody>
          <a:bodyPr/>
          <a:lstStyle/>
          <a:p>
            <a:r>
              <a:rPr lang="en-US" dirty="0"/>
              <a:t>Functions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6624" y="1728290"/>
            <a:ext cx="9932998" cy="4412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is another technique for accessing and modifying data in different program </a:t>
            </a:r>
            <a:r>
              <a:rPr lang="en-US" b="1" dirty="0"/>
              <a:t>scopes</a:t>
            </a:r>
            <a:r>
              <a:rPr lang="en-US" dirty="0"/>
              <a:t>, called </a:t>
            </a:r>
            <a:r>
              <a:rPr lang="en-US" b="1" dirty="0"/>
              <a:t>information passing.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To pass information into a function, we send it in as </a:t>
            </a:r>
            <a:r>
              <a:rPr lang="en-US" b="1" dirty="0"/>
              <a:t>arguments: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greeting(name):</a:t>
            </a:r>
          </a:p>
          <a:p>
            <a:pPr marL="0" indent="0">
              <a:buNone/>
            </a:pPr>
            <a:r>
              <a:rPr lang="en-US" dirty="0"/>
              <a:t>	print(“Hello, “ + name)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greeting(“Mr. Scott”)</a:t>
            </a:r>
            <a:br>
              <a:rPr lang="en-US" dirty="0"/>
            </a:br>
            <a:r>
              <a:rPr lang="en-US" dirty="0"/>
              <a:t>n = “Francis”</a:t>
            </a:r>
            <a:br>
              <a:rPr lang="en-US" dirty="0"/>
            </a:br>
            <a:r>
              <a:rPr lang="en-US" dirty="0"/>
              <a:t>greeting(n)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646111" y="104698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INFORMATION PASSING</a:t>
            </a:r>
            <a:endParaRPr lang="en-CA" dirty="0">
              <a:solidFill>
                <a:srgbClr val="92D05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392009" y="4018879"/>
            <a:ext cx="2883999" cy="3101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Program Output: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Hello, Mr. Scott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Hello, Francis</a:t>
            </a:r>
          </a:p>
        </p:txBody>
      </p:sp>
      <p:sp>
        <p:nvSpPr>
          <p:cNvPr id="6" name="Line Callout 1 (Accent Bar) 5"/>
          <p:cNvSpPr/>
          <p:nvPr/>
        </p:nvSpPr>
        <p:spPr>
          <a:xfrm>
            <a:off x="2277658" y="5126771"/>
            <a:ext cx="1355393" cy="266041"/>
          </a:xfrm>
          <a:prstGeom prst="accentCallout1">
            <a:avLst>
              <a:gd name="adj1" fmla="val 41818"/>
              <a:gd name="adj2" fmla="val 103797"/>
              <a:gd name="adj3" fmla="val 162399"/>
              <a:gd name="adj4" fmla="val 158459"/>
            </a:avLst>
          </a:prstGeom>
          <a:solidFill>
            <a:srgbClr val="66FFFF">
              <a:alpha val="31000"/>
            </a:srgbClr>
          </a:solidFill>
          <a:ln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ine Callout 1 (Accent Bar) 6"/>
          <p:cNvSpPr/>
          <p:nvPr/>
        </p:nvSpPr>
        <p:spPr>
          <a:xfrm>
            <a:off x="2277658" y="5749566"/>
            <a:ext cx="189381" cy="266041"/>
          </a:xfrm>
          <a:prstGeom prst="accentCallout1">
            <a:avLst>
              <a:gd name="adj1" fmla="val 41818"/>
              <a:gd name="adj2" fmla="val 103797"/>
              <a:gd name="adj3" fmla="val -72890"/>
              <a:gd name="adj4" fmla="val 1116337"/>
            </a:avLst>
          </a:prstGeom>
          <a:solidFill>
            <a:srgbClr val="66FFFF">
              <a:alpha val="31000"/>
            </a:srgbClr>
          </a:solidFill>
          <a:ln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86811" y="5384930"/>
            <a:ext cx="1461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66FFFF"/>
                </a:solidFill>
              </a:rPr>
              <a:t>Arguments</a:t>
            </a:r>
          </a:p>
        </p:txBody>
      </p:sp>
      <p:sp>
        <p:nvSpPr>
          <p:cNvPr id="9" name="Line Callout 1 (Accent Bar) 8"/>
          <p:cNvSpPr/>
          <p:nvPr/>
        </p:nvSpPr>
        <p:spPr>
          <a:xfrm>
            <a:off x="2772368" y="3860118"/>
            <a:ext cx="750220" cy="251614"/>
          </a:xfrm>
          <a:prstGeom prst="accentCallout1">
            <a:avLst>
              <a:gd name="adj1" fmla="val 16083"/>
              <a:gd name="adj2" fmla="val 125000"/>
              <a:gd name="adj3" fmla="val -35831"/>
              <a:gd name="adj4" fmla="val 250664"/>
            </a:avLst>
          </a:prstGeom>
          <a:solidFill>
            <a:srgbClr val="FFFF00">
              <a:alpha val="3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634702" y="3605121"/>
            <a:ext cx="1256735" cy="413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rgbClr val="FFFF00"/>
                </a:solidFill>
              </a:rPr>
              <a:t>Parameter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00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/>
      <p:bldP spid="9" grpId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00091" y="3209605"/>
            <a:ext cx="2730926" cy="1123055"/>
          </a:xfrm>
          <a:prstGeom prst="rect">
            <a:avLst/>
          </a:prstGeom>
          <a:solidFill>
            <a:srgbClr val="14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15" y="452718"/>
            <a:ext cx="9404723" cy="762391"/>
          </a:xfrm>
        </p:spPr>
        <p:txBody>
          <a:bodyPr/>
          <a:lstStyle/>
          <a:p>
            <a:r>
              <a:rPr lang="en-US" dirty="0"/>
              <a:t>Functions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3292" y="3333696"/>
            <a:ext cx="2648482" cy="994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add_10(</a:t>
            </a:r>
            <a:r>
              <a:rPr lang="en-US" dirty="0" err="1"/>
              <a:t>num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num</a:t>
            </a:r>
            <a:r>
              <a:rPr lang="en-US" dirty="0"/>
              <a:t> + 10)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646111" y="104698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INFORMATION PASSING</a:t>
            </a:r>
            <a:endParaRPr lang="en-CA" dirty="0">
              <a:solidFill>
                <a:srgbClr val="92D05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304590" y="828348"/>
            <a:ext cx="6042245" cy="1369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800" b="1" dirty="0"/>
              <a:t>Argument </a:t>
            </a:r>
            <a:r>
              <a:rPr lang="en-US" sz="1800" dirty="0"/>
              <a:t>values inside the parenthesis () on a </a:t>
            </a:r>
            <a:r>
              <a:rPr lang="en-US" sz="1800" b="1" dirty="0"/>
              <a:t>function call</a:t>
            </a:r>
            <a:r>
              <a:rPr lang="en-US" sz="1800" dirty="0"/>
              <a:t> are copied into the corresponding </a:t>
            </a:r>
            <a:r>
              <a:rPr lang="en-US" sz="1800" b="1" dirty="0"/>
              <a:t>parameter</a:t>
            </a:r>
            <a:r>
              <a:rPr lang="en-US" sz="1800" dirty="0"/>
              <a:t> local variable in the function.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7849111" y="4980105"/>
            <a:ext cx="4234469" cy="174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rgbClr val="FFFF00"/>
                </a:solidFill>
              </a:rPr>
              <a:t>Note: When a variable is passed in as an argument, only the </a:t>
            </a:r>
            <a:r>
              <a:rPr lang="en-US" sz="1600" b="1" dirty="0">
                <a:solidFill>
                  <a:srgbClr val="FFFF00"/>
                </a:solidFill>
              </a:rPr>
              <a:t>value contained in the variable</a:t>
            </a:r>
            <a:r>
              <a:rPr lang="en-US" sz="1600" dirty="0">
                <a:solidFill>
                  <a:srgbClr val="FFFF00"/>
                </a:solidFill>
              </a:rPr>
              <a:t> is communicated.</a:t>
            </a:r>
          </a:p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rgbClr val="FFFF00"/>
                </a:solidFill>
              </a:rPr>
              <a:t>There is no reference to the variable itself passed in, so the source variable can’t be modified from inside the function.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32498" y="2252247"/>
            <a:ext cx="2730926" cy="3602368"/>
          </a:xfrm>
          <a:prstGeom prst="rect">
            <a:avLst/>
          </a:prstGeom>
          <a:solidFill>
            <a:srgbClr val="0957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372074" y="2339515"/>
            <a:ext cx="2648482" cy="3245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one = 15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two = 10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add_10(one)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add_10(two)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add_10(25)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31" y="2130143"/>
            <a:ext cx="8418241" cy="400080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19" y="2018471"/>
            <a:ext cx="8784877" cy="41750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15" y="2100376"/>
            <a:ext cx="8781538" cy="417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57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15" y="452718"/>
            <a:ext cx="9404723" cy="1400530"/>
          </a:xfrm>
        </p:spPr>
        <p:txBody>
          <a:bodyPr/>
          <a:lstStyle/>
          <a:p>
            <a:r>
              <a:rPr lang="en-US" dirty="0"/>
              <a:t>Functions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670" y="1908403"/>
            <a:ext cx="7668478" cy="4412304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Create a program with a function called </a:t>
            </a:r>
            <a:r>
              <a:rPr lang="en-US" b="1" dirty="0"/>
              <a:t>multiplier</a:t>
            </a:r>
            <a:r>
              <a:rPr lang="en-US" dirty="0"/>
              <a:t>() that has two parameters: </a:t>
            </a:r>
            <a:r>
              <a:rPr lang="en-US" b="1" dirty="0"/>
              <a:t>num1</a:t>
            </a:r>
            <a:r>
              <a:rPr lang="en-US" dirty="0"/>
              <a:t> and </a:t>
            </a:r>
            <a:r>
              <a:rPr lang="en-US" b="1" dirty="0"/>
              <a:t>num2. </a:t>
            </a:r>
            <a:r>
              <a:rPr lang="en-US" dirty="0"/>
              <a:t>The function should multiply the two values passed into those arguments and print the result to the screen.</a:t>
            </a:r>
            <a:endParaRPr lang="en-US" b="1" dirty="0"/>
          </a:p>
          <a:p>
            <a:pPr marL="457200" indent="-457200">
              <a:buAutoNum type="arabicPeriod"/>
            </a:pPr>
            <a:r>
              <a:rPr lang="en-US" dirty="0"/>
              <a:t>Ask the user to input two values, and store these values in two variables, </a:t>
            </a:r>
            <a:r>
              <a:rPr lang="en-US" b="1" dirty="0"/>
              <a:t>input1</a:t>
            </a:r>
            <a:r>
              <a:rPr lang="en-US" dirty="0"/>
              <a:t> and </a:t>
            </a:r>
            <a:r>
              <a:rPr lang="en-US" b="1" dirty="0"/>
              <a:t>input2.</a:t>
            </a:r>
          </a:p>
          <a:p>
            <a:pPr marL="457200" indent="-457200">
              <a:buAutoNum type="arabicPeriod"/>
            </a:pPr>
            <a:r>
              <a:rPr lang="en-US" dirty="0"/>
              <a:t>Call multiplier() three times, with the following argument values: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literal integer values – 13 and 23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variables – </a:t>
            </a:r>
            <a:r>
              <a:rPr lang="en-US" b="1" dirty="0"/>
              <a:t>input1</a:t>
            </a:r>
            <a:r>
              <a:rPr lang="en-US" dirty="0"/>
              <a:t> and </a:t>
            </a:r>
            <a:r>
              <a:rPr lang="en-US" b="1" dirty="0"/>
              <a:t>input2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string and integer values – “Hey!” and 5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646111" y="104698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EXERCISE AS A CLASS</a:t>
            </a:r>
            <a:endParaRPr lang="en-CA" dirty="0">
              <a:solidFill>
                <a:srgbClr val="92D05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554422" y="1908403"/>
            <a:ext cx="3637578" cy="4412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700" b="1" dirty="0">
                <a:solidFill>
                  <a:srgbClr val="92D050"/>
                </a:solidFill>
              </a:rPr>
              <a:t>Sample Run Example: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92D050"/>
                </a:solidFill>
              </a:rPr>
              <a:t>&gt;&gt;&gt;</a:t>
            </a:r>
            <a:r>
              <a:rPr lang="en-US" sz="1700" dirty="0">
                <a:solidFill>
                  <a:schemeClr val="tx2">
                    <a:lumMod val="90000"/>
                  </a:schemeClr>
                </a:solidFill>
              </a:rPr>
              <a:t> Enter a number:  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13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92D050"/>
                </a:solidFill>
              </a:rPr>
              <a:t>&gt;&gt;&gt;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</a:rPr>
              <a:t> Enter a number:  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23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92D050"/>
                </a:solidFill>
              </a:rPr>
              <a:t>&gt;&gt;&gt;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</a:rPr>
              <a:t> Result: 299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92D050"/>
                </a:solidFill>
              </a:rPr>
              <a:t>&gt;&gt;&gt;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</a:rPr>
              <a:t> Enter a number</a:t>
            </a:r>
            <a:r>
              <a:rPr lang="en-US" sz="1800">
                <a:solidFill>
                  <a:schemeClr val="tx2">
                    <a:lumMod val="90000"/>
                  </a:schemeClr>
                </a:solidFill>
              </a:rPr>
              <a:t>: Hey</a:t>
            </a:r>
            <a:endParaRPr lang="en-US" sz="1800" dirty="0">
              <a:solidFill>
                <a:schemeClr val="tx2">
                  <a:lumMod val="9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92D050"/>
                </a:solidFill>
              </a:rPr>
              <a:t>&gt;&gt;&gt;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</a:rPr>
              <a:t> Enter a number: 5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92D050"/>
                </a:solidFill>
              </a:rPr>
              <a:t>&gt;&gt;&gt;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</a:rPr>
              <a:t> Result: ???</a:t>
            </a:r>
            <a:endParaRPr lang="en-US" sz="1800" dirty="0"/>
          </a:p>
          <a:p>
            <a:pPr marL="0" indent="0">
              <a:buFont typeface="Wingdings 3" charset="2"/>
              <a:buNone/>
            </a:pPr>
            <a:endParaRPr lang="en-US" sz="1800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Font typeface="Wingdings 3" charset="2"/>
              <a:buNone/>
            </a:pPr>
            <a:endParaRPr lang="en-US" sz="1800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Font typeface="Wingdings 3" charset="2"/>
              <a:buNone/>
            </a:pPr>
            <a:endParaRPr lang="en-CA" sz="1800" dirty="0"/>
          </a:p>
          <a:p>
            <a:pPr marL="0" indent="0">
              <a:buFont typeface="Wingdings 3" charset="2"/>
              <a:buNone/>
            </a:pPr>
            <a:endParaRPr lang="en-US" sz="1800" dirty="0"/>
          </a:p>
        </p:txBody>
      </p:sp>
      <p:sp>
        <p:nvSpPr>
          <p:cNvPr id="7" name="Line Callout 1 (Accent Bar) 6"/>
          <p:cNvSpPr/>
          <p:nvPr/>
        </p:nvSpPr>
        <p:spPr>
          <a:xfrm>
            <a:off x="9922923" y="4337459"/>
            <a:ext cx="534948" cy="266041"/>
          </a:xfrm>
          <a:prstGeom prst="accentCallout1">
            <a:avLst>
              <a:gd name="adj1" fmla="val 41818"/>
              <a:gd name="adj2" fmla="val -4715"/>
              <a:gd name="adj3" fmla="val 286963"/>
              <a:gd name="adj4" fmla="val -24691"/>
            </a:avLst>
          </a:prstGeom>
          <a:solidFill>
            <a:srgbClr val="66FFFF">
              <a:alpha val="31000"/>
            </a:srgbClr>
          </a:solidFill>
          <a:ln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395147" y="5147444"/>
            <a:ext cx="28067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rgbClr val="66FFFF"/>
                </a:solidFill>
              </a:rPr>
              <a:t>Predict:</a:t>
            </a:r>
          </a:p>
          <a:p>
            <a:r>
              <a:rPr lang="en-US" sz="1600" dirty="0">
                <a:solidFill>
                  <a:srgbClr val="66FFFF"/>
                </a:solidFill>
              </a:rPr>
              <a:t>What do you think will happen when using the * operator with a string and an integer?</a:t>
            </a:r>
          </a:p>
        </p:txBody>
      </p:sp>
    </p:spTree>
    <p:extLst>
      <p:ext uri="{BB962C8B-B14F-4D97-AF65-F5344CB8AC3E}">
        <p14:creationId xmlns:p14="http://schemas.microsoft.com/office/powerpoint/2010/main" val="382681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79871" y="3519835"/>
            <a:ext cx="3117552" cy="1199451"/>
          </a:xfrm>
          <a:prstGeom prst="rect">
            <a:avLst/>
          </a:prstGeom>
          <a:solidFill>
            <a:srgbClr val="14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15" y="452718"/>
            <a:ext cx="9404723" cy="762391"/>
          </a:xfrm>
        </p:spPr>
        <p:txBody>
          <a:bodyPr/>
          <a:lstStyle/>
          <a:p>
            <a:r>
              <a:rPr lang="en-US" dirty="0"/>
              <a:t>Functions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6640" y="3663512"/>
            <a:ext cx="2901688" cy="994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add_10(</a:t>
            </a:r>
            <a:r>
              <a:rPr lang="en-US" dirty="0" err="1"/>
              <a:t>num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	return (</a:t>
            </a:r>
            <a:r>
              <a:rPr lang="en-US" dirty="0" err="1"/>
              <a:t>num</a:t>
            </a:r>
            <a:r>
              <a:rPr lang="en-US" dirty="0"/>
              <a:t> + 10)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646111" y="104698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RETURN VALUES</a:t>
            </a:r>
            <a:endParaRPr lang="en-CA" dirty="0">
              <a:solidFill>
                <a:srgbClr val="92D05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6111" y="1601281"/>
            <a:ext cx="10903559" cy="13693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800" dirty="0"/>
              <a:t>Information can be passed </a:t>
            </a:r>
            <a:r>
              <a:rPr lang="en-US" sz="1800" b="1" dirty="0"/>
              <a:t>into functions</a:t>
            </a:r>
            <a:r>
              <a:rPr lang="en-US" sz="1800" dirty="0"/>
              <a:t> through use of arguments.</a:t>
            </a:r>
          </a:p>
          <a:p>
            <a:pPr marL="0" indent="0">
              <a:buFont typeface="Wingdings 3" charset="2"/>
              <a:buNone/>
            </a:pPr>
            <a:r>
              <a:rPr lang="en-US" sz="1800" dirty="0"/>
              <a:t>To send information </a:t>
            </a:r>
            <a:r>
              <a:rPr lang="en-US" sz="1800" b="1" dirty="0"/>
              <a:t>back to the main program</a:t>
            </a:r>
            <a:r>
              <a:rPr lang="en-US" sz="1800" dirty="0"/>
              <a:t> from inside functions, we use the </a:t>
            </a:r>
            <a:r>
              <a:rPr lang="en-US" sz="1800" b="1" dirty="0"/>
              <a:t>return</a:t>
            </a:r>
            <a:r>
              <a:rPr lang="en-US" sz="1800" dirty="0"/>
              <a:t> keyword.</a:t>
            </a:r>
          </a:p>
          <a:p>
            <a:pPr marL="0" indent="0">
              <a:buFont typeface="Wingdings 3" charset="2"/>
              <a:buNone/>
            </a:pPr>
            <a:endParaRPr lang="en-US" sz="1800" dirty="0"/>
          </a:p>
          <a:p>
            <a:pPr marL="0" indent="0">
              <a:buFont typeface="Wingdings 3" charset="2"/>
              <a:buNone/>
            </a:pPr>
            <a:r>
              <a:rPr lang="en-US" sz="1800" b="1" dirty="0"/>
              <a:t>Return </a:t>
            </a:r>
            <a:r>
              <a:rPr lang="en-US" sz="1800" dirty="0"/>
              <a:t>stops the function, and sends information back to the </a:t>
            </a:r>
            <a:r>
              <a:rPr lang="en-US" sz="1800" b="1" dirty="0"/>
              <a:t>line of code that called the function.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725423" y="5268538"/>
            <a:ext cx="7358157" cy="1460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rgbClr val="FFFF00"/>
                </a:solidFill>
              </a:rPr>
              <a:t>When a function has a return statement, the actual </a:t>
            </a:r>
            <a:r>
              <a:rPr lang="en-US" sz="1600" b="1" dirty="0">
                <a:solidFill>
                  <a:srgbClr val="FFFF00"/>
                </a:solidFill>
              </a:rPr>
              <a:t>function call</a:t>
            </a:r>
            <a:r>
              <a:rPr lang="en-US" sz="1600" dirty="0">
                <a:solidFill>
                  <a:srgbClr val="FFFF00"/>
                </a:solidFill>
              </a:rPr>
              <a:t> gets replaced with the return value:</a:t>
            </a:r>
          </a:p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rgbClr val="92D050"/>
                </a:solidFill>
              </a:rPr>
              <a:t>print (add_10(5) * </a:t>
            </a:r>
            <a:r>
              <a:rPr lang="en-US" sz="1600" dirty="0" err="1">
                <a:solidFill>
                  <a:srgbClr val="92D050"/>
                </a:solidFill>
              </a:rPr>
              <a:t>add_ten</a:t>
            </a:r>
            <a:r>
              <a:rPr lang="en-US" sz="1600" dirty="0">
                <a:solidFill>
                  <a:srgbClr val="92D050"/>
                </a:solidFill>
              </a:rPr>
              <a:t>(0))          </a:t>
            </a:r>
            <a:r>
              <a:rPr lang="en-US" sz="1600" dirty="0">
                <a:solidFill>
                  <a:srgbClr val="FFFF00"/>
                </a:solidFill>
              </a:rPr>
              <a:t>becomes</a:t>
            </a:r>
            <a:br>
              <a:rPr lang="en-US" sz="1600" dirty="0">
                <a:solidFill>
                  <a:srgbClr val="FFFF00"/>
                </a:solidFill>
              </a:rPr>
            </a:br>
            <a:r>
              <a:rPr lang="en-US" sz="1600" dirty="0">
                <a:solidFill>
                  <a:srgbClr val="92D050"/>
                </a:solidFill>
              </a:rPr>
              <a:t>print (15 * 10)</a:t>
            </a:r>
            <a:br>
              <a:rPr lang="en-US" sz="1600" dirty="0">
                <a:solidFill>
                  <a:srgbClr val="92D050"/>
                </a:solidFill>
              </a:rPr>
            </a:br>
            <a:r>
              <a:rPr lang="en-US" sz="1600" dirty="0">
                <a:solidFill>
                  <a:srgbClr val="92D050"/>
                </a:solidFill>
              </a:rPr>
              <a:t>print (150)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6111" y="3289384"/>
            <a:ext cx="3169242" cy="3246427"/>
          </a:xfrm>
          <a:prstGeom prst="rect">
            <a:avLst/>
          </a:prstGeom>
          <a:solidFill>
            <a:srgbClr val="0957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711883" y="3648485"/>
            <a:ext cx="2902760" cy="23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/>
              <a:t>result = add_10(40)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print (add_10(4))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add_10(25)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012948" y="4007586"/>
            <a:ext cx="2802405" cy="2528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# stores 50 in result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# prints 14 to screen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# nothing is done with return value, so no output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22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build="p"/>
      <p:bldP spid="13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15" y="452718"/>
            <a:ext cx="9404723" cy="1400530"/>
          </a:xfrm>
        </p:spPr>
        <p:txBody>
          <a:bodyPr/>
          <a:lstStyle/>
          <a:p>
            <a:r>
              <a:rPr lang="en-US" dirty="0"/>
              <a:t>Functions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670" y="1908403"/>
            <a:ext cx="7668478" cy="4412304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Create a function called </a:t>
            </a:r>
            <a:r>
              <a:rPr lang="en-US" b="1" dirty="0"/>
              <a:t>larger_than_10(</a:t>
            </a:r>
            <a:r>
              <a:rPr lang="en-US" b="1" dirty="0" err="1"/>
              <a:t>num</a:t>
            </a:r>
            <a:r>
              <a:rPr lang="en-US" b="1" dirty="0"/>
              <a:t>) </a:t>
            </a:r>
            <a:r>
              <a:rPr lang="en-US" dirty="0"/>
              <a:t>that takes one integer argument.</a:t>
            </a:r>
          </a:p>
          <a:p>
            <a:pPr marL="457200" indent="-457200">
              <a:buAutoNum type="arabicPeriod"/>
            </a:pPr>
            <a:r>
              <a:rPr lang="en-US" dirty="0"/>
              <a:t>If the value of </a:t>
            </a:r>
            <a:r>
              <a:rPr lang="en-US" b="1" dirty="0" err="1"/>
              <a:t>num</a:t>
            </a:r>
            <a:r>
              <a:rPr lang="en-US" dirty="0"/>
              <a:t> is greater than 10, return </a:t>
            </a:r>
            <a:r>
              <a:rPr lang="en-US" b="1" dirty="0"/>
              <a:t>True.</a:t>
            </a:r>
            <a:r>
              <a:rPr lang="en-US" dirty="0"/>
              <a:t> Otherwise, return </a:t>
            </a:r>
            <a:r>
              <a:rPr lang="en-US" b="1" dirty="0"/>
              <a:t>False.</a:t>
            </a:r>
          </a:p>
          <a:p>
            <a:pPr marL="457200" indent="-457200">
              <a:buAutoNum type="arabicPeriod"/>
            </a:pPr>
            <a:r>
              <a:rPr lang="en-US" dirty="0"/>
              <a:t>Ask the user for a number and print out the result of passing it into </a:t>
            </a:r>
            <a:r>
              <a:rPr lang="en-US" b="1" dirty="0"/>
              <a:t>larger_than_10().</a:t>
            </a: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646111" y="104698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EXERCISE AS A CLASS</a:t>
            </a:r>
            <a:endParaRPr lang="en-CA" dirty="0">
              <a:solidFill>
                <a:srgbClr val="92D05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136157" y="1908403"/>
            <a:ext cx="3637578" cy="4412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700" b="1" dirty="0">
                <a:solidFill>
                  <a:srgbClr val="92D050"/>
                </a:solidFill>
              </a:rPr>
              <a:t>Sample Run Example: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92D050"/>
                </a:solidFill>
              </a:rPr>
              <a:t>&gt;&gt;&gt;</a:t>
            </a:r>
            <a:r>
              <a:rPr lang="en-US" sz="1700" dirty="0">
                <a:solidFill>
                  <a:schemeClr val="tx2">
                    <a:lumMod val="90000"/>
                  </a:schemeClr>
                </a:solidFill>
              </a:rPr>
              <a:t> Enter a number:  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13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92D050"/>
                </a:solidFill>
              </a:rPr>
              <a:t>&gt;&gt;&gt;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</a:rPr>
              <a:t> Is it larger than 10: True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92D050"/>
                </a:solidFill>
              </a:rPr>
              <a:t>&gt;&gt;&gt;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</a:rPr>
              <a:t> Enter a number:  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92D050"/>
                </a:solidFill>
              </a:rPr>
              <a:t>&gt;&gt;&gt;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</a:rPr>
              <a:t> Is it larger than 10: False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Wingdings 3" charset="2"/>
              <a:buNone/>
            </a:pPr>
            <a:endParaRPr lang="en-US" sz="1800" dirty="0"/>
          </a:p>
          <a:p>
            <a:pPr marL="0" indent="0">
              <a:buFont typeface="Wingdings 3" charset="2"/>
              <a:buNone/>
            </a:pPr>
            <a:endParaRPr lang="en-US" sz="1800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Font typeface="Wingdings 3" charset="2"/>
              <a:buNone/>
            </a:pPr>
            <a:endParaRPr lang="en-US" sz="1800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Font typeface="Wingdings 3" charset="2"/>
              <a:buNone/>
            </a:pPr>
            <a:endParaRPr lang="en-CA" sz="1800" dirty="0"/>
          </a:p>
          <a:p>
            <a:pPr marL="0" indent="0">
              <a:buFont typeface="Wingdings 3" charset="2"/>
              <a:buNone/>
            </a:pPr>
            <a:endParaRPr lang="en-US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951538" y="4915276"/>
            <a:ext cx="7358157" cy="1460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rgbClr val="FFFF00"/>
                </a:solidFill>
              </a:rPr>
              <a:t>Note: IF statements in Python use the following syntax:</a:t>
            </a:r>
          </a:p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rgbClr val="FFFF00"/>
                </a:solidFill>
              </a:rPr>
              <a:t>if </a:t>
            </a:r>
            <a:r>
              <a:rPr lang="en-US" sz="1600" i="1" dirty="0">
                <a:solidFill>
                  <a:srgbClr val="FFFF00"/>
                </a:solidFill>
              </a:rPr>
              <a:t>test:		</a:t>
            </a:r>
            <a:r>
              <a:rPr lang="en-US" sz="1600" i="1" dirty="0">
                <a:solidFill>
                  <a:srgbClr val="92D050"/>
                </a:solidFill>
              </a:rPr>
              <a:t>#test </a:t>
            </a:r>
            <a:r>
              <a:rPr lang="en-US" sz="1600" dirty="0">
                <a:solidFill>
                  <a:srgbClr val="92D050"/>
                </a:solidFill>
              </a:rPr>
              <a:t>is any valid Boolean Expression</a:t>
            </a:r>
            <a:endParaRPr lang="en-US" sz="1600" b="1" i="1" dirty="0">
              <a:solidFill>
                <a:srgbClr val="92D050"/>
              </a:solidFill>
            </a:endParaRPr>
          </a:p>
          <a:p>
            <a:pPr marL="0" indent="0">
              <a:buFont typeface="Wingdings 3" charset="2"/>
              <a:buNone/>
            </a:pPr>
            <a:r>
              <a:rPr lang="en-US" sz="1600" b="1" i="1" dirty="0">
                <a:solidFill>
                  <a:srgbClr val="FFFF00"/>
                </a:solidFill>
              </a:rPr>
              <a:t>	</a:t>
            </a:r>
            <a:r>
              <a:rPr lang="en-US" sz="1600" dirty="0">
                <a:solidFill>
                  <a:srgbClr val="FFFF00"/>
                </a:solidFill>
              </a:rPr>
              <a:t>code	</a:t>
            </a:r>
            <a:r>
              <a:rPr lang="en-US" sz="1600" dirty="0">
                <a:solidFill>
                  <a:srgbClr val="92D050"/>
                </a:solidFill>
              </a:rPr>
              <a:t>#code to run if the test is True must be indented one level</a:t>
            </a:r>
            <a:br>
              <a:rPr lang="en-US" sz="1600" dirty="0">
                <a:solidFill>
                  <a:srgbClr val="FFFF00"/>
                </a:solidFill>
              </a:rPr>
            </a:br>
            <a:r>
              <a:rPr lang="en-US" sz="1600" dirty="0">
                <a:solidFill>
                  <a:srgbClr val="FFFF00"/>
                </a:solidFill>
              </a:rPr>
              <a:t>	code</a:t>
            </a:r>
            <a:endParaRPr lang="en-US" sz="16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953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274783" y="1091663"/>
            <a:ext cx="5057103" cy="6143222"/>
          </a:xfrm>
          <a:prstGeom prst="rect">
            <a:avLst/>
          </a:prstGeom>
          <a:solidFill>
            <a:schemeClr val="tx2">
              <a:lumMod val="7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46" y="1671063"/>
            <a:ext cx="7268139" cy="3065529"/>
          </a:xfrm>
        </p:spPr>
        <p:txBody>
          <a:bodyPr/>
          <a:lstStyle/>
          <a:p>
            <a:r>
              <a:rPr lang="en-US" dirty="0"/>
              <a:t>Create a general solution for the alarm clock problem: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Define a function called </a:t>
            </a:r>
            <a:r>
              <a:rPr lang="en-US" b="1" dirty="0"/>
              <a:t>alarm(</a:t>
            </a:r>
            <a:r>
              <a:rPr lang="en-US" b="1" dirty="0" err="1"/>
              <a:t>cur_time</a:t>
            </a:r>
            <a:r>
              <a:rPr lang="en-US" b="1" dirty="0"/>
              <a:t>, </a:t>
            </a:r>
            <a:r>
              <a:rPr lang="en-US" b="1" dirty="0" err="1"/>
              <a:t>alarm_length</a:t>
            </a:r>
            <a:r>
              <a:rPr lang="en-US" b="1" dirty="0"/>
              <a:t>)</a:t>
            </a:r>
            <a:br>
              <a:rPr lang="en-US" b="1" dirty="0"/>
            </a:br>
            <a:r>
              <a:rPr lang="en-US" dirty="0"/>
              <a:t>that will return the time of day that the alarm will go off.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Ask the user for the current time and store it in a variable.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Ask the user for how many hours later the alarm should go off and store it in a variable.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Call your </a:t>
            </a:r>
            <a:r>
              <a:rPr lang="en-US" b="1" dirty="0"/>
              <a:t>alarm()</a:t>
            </a:r>
            <a:r>
              <a:rPr lang="en-US" dirty="0"/>
              <a:t> function and pass in the user input as </a:t>
            </a:r>
            <a:r>
              <a:rPr lang="en-US" b="1" dirty="0"/>
              <a:t>arguments. </a:t>
            </a:r>
            <a:r>
              <a:rPr lang="en-US" dirty="0"/>
              <a:t>Print out the value that is </a:t>
            </a:r>
            <a:r>
              <a:rPr lang="en-US" b="1" dirty="0"/>
              <a:t>returned.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CA" dirty="0">
                <a:solidFill>
                  <a:srgbClr val="92D050"/>
                </a:solidFill>
              </a:rPr>
              <a:t>ALARM CLOCK PROBLEM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493724" y="1360124"/>
            <a:ext cx="4698276" cy="51694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/>
              <a:t>PYTHON CHEAT SHEET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b="1" dirty="0" err="1"/>
              <a:t>function_name</a:t>
            </a:r>
            <a:r>
              <a:rPr lang="en-US" b="1" dirty="0"/>
              <a:t> </a:t>
            </a:r>
            <a:r>
              <a:rPr lang="en-US" dirty="0"/>
              <a:t>(var1, var2, …) :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CFFFF"/>
                </a:solidFill>
              </a:rPr>
              <a:t>creates a user-defined function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input(String)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CFFFF"/>
                </a:solidFill>
              </a:rPr>
              <a:t>get user input from keyboard</a:t>
            </a:r>
            <a:br>
              <a:rPr lang="en-US" dirty="0">
                <a:solidFill>
                  <a:srgbClr val="CCFFFF"/>
                </a:solidFill>
              </a:rPr>
            </a:br>
            <a:br>
              <a:rPr lang="en-US" dirty="0"/>
            </a:br>
            <a:r>
              <a:rPr lang="en-US" dirty="0"/>
              <a:t>print(String)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CFFFF"/>
                </a:solidFill>
              </a:rPr>
              <a:t> displays a String on screen</a:t>
            </a:r>
            <a:br>
              <a:rPr lang="en-US" dirty="0">
                <a:solidFill>
                  <a:srgbClr val="CCFFFF"/>
                </a:solidFill>
              </a:rPr>
            </a:br>
            <a:br>
              <a:rPr lang="en-US" dirty="0"/>
            </a:br>
            <a:r>
              <a:rPr lang="en-US" dirty="0"/>
              <a:t>35 % 24              (35 % 24 == 11)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CFFFF"/>
                </a:solidFill>
              </a:rPr>
              <a:t> mod gives remainder on division</a:t>
            </a:r>
            <a:br>
              <a:rPr lang="en-US" dirty="0">
                <a:solidFill>
                  <a:srgbClr val="CCFFFF"/>
                </a:solidFill>
              </a:rPr>
            </a:br>
            <a:br>
              <a:rPr lang="en-US" dirty="0">
                <a:solidFill>
                  <a:srgbClr val="CCFFFF"/>
                </a:solidFill>
              </a:rPr>
            </a:br>
            <a:r>
              <a:rPr lang="en-US" b="1" dirty="0"/>
              <a:t>return</a:t>
            </a:r>
            <a:r>
              <a:rPr lang="en-US" dirty="0"/>
              <a:t> ______  (value or variable)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CFFFF"/>
                </a:solidFill>
              </a:rPr>
              <a:t> ends function and returns result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(String)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CFFFF"/>
                </a:solidFill>
              </a:rPr>
              <a:t> Converts a String to an Integer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0040" y="4926561"/>
            <a:ext cx="64871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HINTS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modulus division can be very handy: x % 24 will always result in a value between 0 and 23.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Once you know what the time is on a scale of 0 to 23, use an IF statement to determine AM or PM.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0-11: AM		12-23: PM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4900479"/>
            <a:ext cx="6954743" cy="1957521"/>
          </a:xfrm>
          <a:prstGeom prst="rect">
            <a:avLst/>
          </a:prstGeom>
          <a:solidFill>
            <a:srgbClr val="FFC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  <p:bldP spid="7" grpId="0"/>
      <p:bldP spid="8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11459</TotalTime>
  <Words>689</Words>
  <Application>Microsoft Office PowerPoint</Application>
  <PresentationFormat>Widescreen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Courier New</vt:lpstr>
      <vt:lpstr>Wingdings 3</vt:lpstr>
      <vt:lpstr>Ion</vt:lpstr>
      <vt:lpstr>Computer Science 20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Exercise</vt:lpstr>
    </vt:vector>
  </TitlesOfParts>
  <Company>Saskatoon Public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20</dc:title>
  <dc:creator>Scott, Stefan Graham (Stefan)</dc:creator>
  <cp:lastModifiedBy>stefan scott</cp:lastModifiedBy>
  <cp:revision>133</cp:revision>
  <dcterms:created xsi:type="dcterms:W3CDTF">2016-08-31T14:32:10Z</dcterms:created>
  <dcterms:modified xsi:type="dcterms:W3CDTF">2019-04-04T03:58:33Z</dcterms:modified>
</cp:coreProperties>
</file>