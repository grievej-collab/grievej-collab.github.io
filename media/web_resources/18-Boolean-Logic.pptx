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78" r:id="rId3"/>
    <p:sldId id="280" r:id="rId4"/>
    <p:sldId id="279" r:id="rId5"/>
    <p:sldId id="281" r:id="rId6"/>
    <p:sldId id="283" r:id="rId7"/>
    <p:sldId id="282" r:id="rId8"/>
    <p:sldId id="285" r:id="rId9"/>
    <p:sldId id="284" r:id="rId10"/>
    <p:sldId id="286" r:id="rId11"/>
    <p:sldId id="287" r:id="rId12"/>
    <p:sldId id="288" r:id="rId13"/>
    <p:sldId id="289" r:id="rId14"/>
    <p:sldId id="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08C"/>
    <a:srgbClr val="FF9966"/>
    <a:srgbClr val="CCFFFF"/>
    <a:srgbClr val="CEEAB0"/>
    <a:srgbClr val="FF9797"/>
    <a:srgbClr val="66FFFF"/>
    <a:srgbClr val="E1F2CE"/>
    <a:srgbClr val="118114"/>
    <a:srgbClr val="FF66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86055" autoAdjust="0"/>
  </p:normalViewPr>
  <p:slideViewPr>
    <p:cSldViewPr snapToGrid="0">
      <p:cViewPr varScale="1">
        <p:scale>
          <a:sx n="63" d="100"/>
          <a:sy n="63" d="100"/>
        </p:scale>
        <p:origin x="98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64926-3DCD-436A-8A94-5A5FF6CE9FDF}" type="datetimeFigureOut">
              <a:rPr lang="en-US" smtClean="0"/>
              <a:t>10/20/2017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20EB0-DF85-4407-B255-E5F628742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Simple exercise</a:t>
            </a:r>
            <a:r>
              <a:rPr lang="en-US" baseline="0" dirty="0" smtClean="0"/>
              <a:t> for just a few moments. Should give a chance to demonstrate basic conditions as well as one necessary Boolean operator (and)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57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Simple exercise</a:t>
            </a:r>
            <a:r>
              <a:rPr lang="en-US" baseline="0" dirty="0" smtClean="0"/>
              <a:t> for just a few moments. Should give a chance to demonstrate basic conditions as well as one necessary Boolean operator (and)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20EB0-DF85-4407-B255-E5F6287420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8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537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80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81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26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1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721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790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470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83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643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562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474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55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480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889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133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4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2017-10-20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302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BOOLEAN LOGIC and Decision MAKING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BOOLEAN VALUES AND LOGIC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3593" y="2367445"/>
            <a:ext cx="732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Recall that the </a:t>
            </a:r>
            <a:r>
              <a:rPr lang="en-US" b="1" dirty="0" smtClean="0">
                <a:solidFill>
                  <a:schemeClr val="tx1">
                    <a:lumMod val="95000"/>
                  </a:schemeClr>
                </a:solidFill>
              </a:rPr>
              <a:t>bool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(Boolean) data type in Python has two possible values: </a:t>
            </a:r>
            <a:r>
              <a:rPr lang="en-US" dirty="0" smtClean="0">
                <a:solidFill>
                  <a:srgbClr val="FFFF00"/>
                </a:solidFill>
              </a:rPr>
              <a:t>True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and </a:t>
            </a:r>
            <a:r>
              <a:rPr lang="en-US" dirty="0" smtClean="0">
                <a:solidFill>
                  <a:srgbClr val="FFFF00"/>
                </a:solidFill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3593" y="3728085"/>
            <a:ext cx="779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 Boolean expression is any expression that </a:t>
            </a:r>
            <a:r>
              <a:rPr lang="en-US" b="1" dirty="0" smtClean="0">
                <a:solidFill>
                  <a:schemeClr val="tx1">
                    <a:lumMod val="95000"/>
                  </a:schemeClr>
                </a:solidFill>
              </a:rPr>
              <a:t>can be evaluated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to either </a:t>
            </a:r>
            <a:r>
              <a:rPr lang="en-US" dirty="0">
                <a:solidFill>
                  <a:srgbClr val="FFFF00"/>
                </a:solidFill>
              </a:rPr>
              <a:t>True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or </a:t>
            </a:r>
            <a:r>
              <a:rPr lang="en-US" dirty="0" smtClean="0">
                <a:solidFill>
                  <a:srgbClr val="FFFF00"/>
                </a:solidFill>
              </a:rPr>
              <a:t>False.</a:t>
            </a:r>
            <a:endParaRPr lang="en-US" dirty="0" smtClean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3593" y="4904905"/>
            <a:ext cx="779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</a:rPr>
              <a:t>my_var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= 15	</a:t>
            </a:r>
            <a:r>
              <a:rPr lang="en-US" dirty="0" smtClean="0">
                <a:solidFill>
                  <a:srgbClr val="92D050"/>
                </a:solidFill>
              </a:rPr>
              <a:t>#not a Boolean Expression</a:t>
            </a:r>
          </a:p>
          <a:p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</a:rPr>
              <a:t>my_var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&lt; 20	</a:t>
            </a:r>
            <a:r>
              <a:rPr lang="en-US" dirty="0" smtClean="0">
                <a:solidFill>
                  <a:srgbClr val="92D050"/>
                </a:solidFill>
              </a:rPr>
              <a:t>#a Boolean Expression – evaluates to </a:t>
            </a:r>
            <a:r>
              <a:rPr lang="en-US" dirty="0" smtClean="0">
                <a:solidFill>
                  <a:srgbClr val="FFFF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8087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BOOLEAN VALUES AND LOGIC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17612" y="1996810"/>
            <a:ext cx="9727820" cy="68706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There are </a:t>
            </a:r>
            <a:r>
              <a:rPr lang="en-US" b="1" dirty="0" smtClean="0"/>
              <a:t>six common comparison </a:t>
            </a:r>
            <a:r>
              <a:rPr lang="en-US" dirty="0" smtClean="0"/>
              <a:t>operators available to use: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46376" y="3108355"/>
            <a:ext cx="7626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		  </a:t>
            </a:r>
            <a:r>
              <a:rPr lang="en-US" sz="2400" dirty="0" smtClean="0">
                <a:solidFill>
                  <a:srgbClr val="FFC000"/>
                </a:solidFill>
              </a:rPr>
              <a:t>Evaluates to True if…</a:t>
            </a:r>
          </a:p>
          <a:p>
            <a:r>
              <a:rPr lang="en-US" sz="2400" dirty="0" smtClean="0"/>
              <a:t>x == y		  # x is equal to y</a:t>
            </a:r>
          </a:p>
          <a:p>
            <a:r>
              <a:rPr lang="en-US" sz="2400" dirty="0" smtClean="0">
                <a:solidFill>
                  <a:srgbClr val="CCFFFF"/>
                </a:solidFill>
              </a:rPr>
              <a:t>x </a:t>
            </a:r>
            <a:r>
              <a:rPr lang="en-US" sz="2400" dirty="0">
                <a:solidFill>
                  <a:srgbClr val="CCFFFF"/>
                </a:solidFill>
              </a:rPr>
              <a:t>!= y               # x is not equal to y</a:t>
            </a:r>
          </a:p>
          <a:p>
            <a:r>
              <a:rPr lang="en-US" sz="2400" dirty="0"/>
              <a:t>x &gt; y                # x is greater than y</a:t>
            </a:r>
          </a:p>
          <a:p>
            <a:r>
              <a:rPr lang="en-US" sz="2400" dirty="0">
                <a:solidFill>
                  <a:srgbClr val="CCFFFF"/>
                </a:solidFill>
              </a:rPr>
              <a:t>x &lt; y                # x is less than y</a:t>
            </a:r>
          </a:p>
          <a:p>
            <a:r>
              <a:rPr lang="en-US" sz="2400" dirty="0"/>
              <a:t>x &gt;= y              </a:t>
            </a:r>
            <a:r>
              <a:rPr lang="en-US" sz="2400" dirty="0" smtClean="0"/>
              <a:t># </a:t>
            </a:r>
            <a:r>
              <a:rPr lang="en-US" sz="2400" dirty="0"/>
              <a:t>x is greater than or equal to y</a:t>
            </a:r>
          </a:p>
          <a:p>
            <a:r>
              <a:rPr lang="en-US" sz="2400" dirty="0">
                <a:solidFill>
                  <a:srgbClr val="CCFFFF"/>
                </a:solidFill>
              </a:rPr>
              <a:t>x &lt;= y              </a:t>
            </a:r>
            <a:r>
              <a:rPr lang="en-US" sz="2400" dirty="0" smtClean="0">
                <a:solidFill>
                  <a:srgbClr val="CCFFFF"/>
                </a:solidFill>
              </a:rPr>
              <a:t># </a:t>
            </a:r>
            <a:r>
              <a:rPr lang="en-US" sz="2400" dirty="0">
                <a:solidFill>
                  <a:srgbClr val="CCFFFF"/>
                </a:solidFill>
              </a:rPr>
              <a:t>x is less than or equal to y</a:t>
            </a:r>
          </a:p>
        </p:txBody>
      </p:sp>
    </p:spTree>
    <p:extLst>
      <p:ext uri="{BB962C8B-B14F-4D97-AF65-F5344CB8AC3E}">
        <p14:creationId xmlns:p14="http://schemas.microsoft.com/office/powerpoint/2010/main" val="29442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LOGICAL OPERATORS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5875" y="1709482"/>
            <a:ext cx="732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More sophisticated Boolean expressions can be created by the use of logical operators:  </a:t>
            </a:r>
            <a:r>
              <a:rPr lang="en-US" dirty="0" smtClean="0">
                <a:solidFill>
                  <a:srgbClr val="66FFFF"/>
                </a:solidFill>
              </a:rPr>
              <a:t>and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,  </a:t>
            </a:r>
            <a:r>
              <a:rPr lang="en-US" dirty="0" smtClean="0">
                <a:solidFill>
                  <a:srgbClr val="66FFFF"/>
                </a:solidFill>
              </a:rPr>
              <a:t>or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,  </a:t>
            </a:r>
            <a:r>
              <a:rPr lang="en-US" dirty="0" smtClean="0">
                <a:solidFill>
                  <a:srgbClr val="66FFFF"/>
                </a:solidFill>
              </a:rPr>
              <a:t>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2466811"/>
            <a:ext cx="988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semantics (meaning) of these three operators is similar to their meaning in English: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125" y="3187558"/>
            <a:ext cx="93440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x &gt; 0 </a:t>
            </a:r>
            <a:r>
              <a:rPr lang="en-US" dirty="0" smtClean="0">
                <a:solidFill>
                  <a:srgbClr val="66FFFF"/>
                </a:solidFill>
              </a:rPr>
              <a:t>and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x &lt; 5		</a:t>
            </a:r>
            <a:r>
              <a:rPr lang="en-US" dirty="0" smtClean="0">
                <a:solidFill>
                  <a:srgbClr val="92D050"/>
                </a:solidFill>
              </a:rPr>
              <a:t>#produces True only if the value of x is both greater than</a:t>
            </a:r>
            <a:br>
              <a:rPr lang="en-US" dirty="0" smtClean="0">
                <a:solidFill>
                  <a:srgbClr val="92D050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			   0 and also less than 5.</a:t>
            </a:r>
            <a:br>
              <a:rPr lang="en-US" dirty="0" smtClean="0">
                <a:solidFill>
                  <a:srgbClr val="92D050"/>
                </a:solidFill>
              </a:rPr>
            </a:br>
            <a:endParaRPr lang="en-US" dirty="0" smtClean="0">
              <a:solidFill>
                <a:srgbClr val="92D050"/>
              </a:solidFill>
            </a:endParaRPr>
          </a:p>
          <a:p>
            <a:endParaRPr lang="en-US" dirty="0" smtClean="0">
              <a:solidFill>
                <a:srgbClr val="92D050"/>
              </a:solidFill>
            </a:endParaRPr>
          </a:p>
          <a:p>
            <a:endParaRPr lang="en-US" dirty="0" smtClean="0">
              <a:solidFill>
                <a:srgbClr val="92D050"/>
              </a:solidFill>
            </a:endParaRPr>
          </a:p>
          <a:p>
            <a:endParaRPr lang="en-US" dirty="0" smtClean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%2 == 0 </a:t>
            </a:r>
            <a:r>
              <a:rPr lang="en-US" dirty="0">
                <a:solidFill>
                  <a:srgbClr val="66FFFF"/>
                </a:solidFill>
              </a:rPr>
              <a:t>or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x %3 == 0	</a:t>
            </a:r>
            <a:r>
              <a:rPr lang="en-US" dirty="0">
                <a:solidFill>
                  <a:srgbClr val="92D050"/>
                </a:solidFill>
              </a:rPr>
              <a:t># produces </a:t>
            </a:r>
            <a:r>
              <a:rPr lang="en-US" dirty="0" smtClean="0">
                <a:solidFill>
                  <a:srgbClr val="92D050"/>
                </a:solidFill>
              </a:rPr>
              <a:t>True </a:t>
            </a:r>
            <a:r>
              <a:rPr lang="en-US" dirty="0">
                <a:solidFill>
                  <a:srgbClr val="92D050"/>
                </a:solidFill>
              </a:rPr>
              <a:t>only if the value of x is evenly divisible by</a:t>
            </a:r>
            <a:br>
              <a:rPr lang="en-US" dirty="0">
                <a:solidFill>
                  <a:srgbClr val="92D050"/>
                </a:solidFill>
              </a:rPr>
            </a:br>
            <a:r>
              <a:rPr lang="en-US" dirty="0">
                <a:solidFill>
                  <a:srgbClr val="92D050"/>
                </a:solidFill>
              </a:rPr>
              <a:t>			    2 or it is evenly divisible by 3.  (or both</a:t>
            </a:r>
            <a:r>
              <a:rPr lang="en-US" dirty="0" smtClean="0">
                <a:solidFill>
                  <a:srgbClr val="92D050"/>
                </a:solidFill>
              </a:rPr>
              <a:t>!)</a:t>
            </a:r>
            <a:br>
              <a:rPr lang="en-US" dirty="0" smtClean="0">
                <a:solidFill>
                  <a:srgbClr val="92D050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/>
            </a:r>
            <a:br>
              <a:rPr lang="en-US" dirty="0" smtClean="0">
                <a:solidFill>
                  <a:srgbClr val="92D050"/>
                </a:solidFill>
              </a:rPr>
            </a:br>
            <a:endParaRPr lang="en-US" dirty="0">
              <a:solidFill>
                <a:srgbClr val="92D050"/>
              </a:solidFill>
            </a:endParaRPr>
          </a:p>
          <a:p>
            <a:r>
              <a:rPr lang="en-US" dirty="0" smtClean="0">
                <a:solidFill>
                  <a:srgbClr val="66FFFF"/>
                </a:solidFill>
              </a:rPr>
              <a:t>not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(x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==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0)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rgbClr val="92D050"/>
                </a:solidFill>
              </a:rPr>
              <a:t># </a:t>
            </a:r>
            <a:r>
              <a:rPr lang="en-US" dirty="0">
                <a:solidFill>
                  <a:srgbClr val="92D050"/>
                </a:solidFill>
              </a:rPr>
              <a:t>produces </a:t>
            </a:r>
            <a:r>
              <a:rPr lang="en-US" dirty="0" smtClean="0">
                <a:solidFill>
                  <a:srgbClr val="92D050"/>
                </a:solidFill>
              </a:rPr>
              <a:t>True the value of (x == 0) is False. The not 				   operator changes True to False and False to True.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3859" y="3825079"/>
            <a:ext cx="4213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FF00"/>
                </a:solidFill>
              </a:rPr>
              <a:t>The left condition is evaluated first. If it is False, Python won’t bother to evaluate the second</a:t>
            </a:r>
            <a:r>
              <a:rPr lang="en-US" sz="1400" dirty="0" smtClean="0"/>
              <a:t>.</a:t>
            </a:r>
          </a:p>
          <a:p>
            <a:r>
              <a:rPr lang="en-US" sz="1400" dirty="0" smtClean="0">
                <a:solidFill>
                  <a:srgbClr val="FFFF00"/>
                </a:solidFill>
              </a:rPr>
              <a:t>This is called </a:t>
            </a:r>
            <a:r>
              <a:rPr lang="en-US" sz="1400" b="1" dirty="0" smtClean="0">
                <a:solidFill>
                  <a:srgbClr val="FFFF00"/>
                </a:solidFill>
              </a:rPr>
              <a:t>Short-circuit</a:t>
            </a:r>
            <a:r>
              <a:rPr lang="en-US" sz="1400" dirty="0" smtClean="0">
                <a:solidFill>
                  <a:srgbClr val="FFFF00"/>
                </a:solidFill>
              </a:rPr>
              <a:t> evaluation.</a:t>
            </a:r>
          </a:p>
          <a:p>
            <a:endParaRPr lang="en-CA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44334" y="5319322"/>
            <a:ext cx="4213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C000"/>
                </a:solidFill>
              </a:rPr>
              <a:t>Similarly, if the left evaluates to True, evaluating the right expression is unnecessary</a:t>
            </a:r>
          </a:p>
          <a:p>
            <a:endParaRPr lang="en-CA" sz="1400" dirty="0">
              <a:solidFill>
                <a:srgbClr val="FFC000"/>
              </a:solidFill>
            </a:endParaRPr>
          </a:p>
        </p:txBody>
      </p:sp>
      <p:sp>
        <p:nvSpPr>
          <p:cNvPr id="11" name="Line Callout 1 (Accent Bar) 10"/>
          <p:cNvSpPr/>
          <p:nvPr/>
        </p:nvSpPr>
        <p:spPr>
          <a:xfrm>
            <a:off x="1390649" y="3196429"/>
            <a:ext cx="666750" cy="374792"/>
          </a:xfrm>
          <a:prstGeom prst="accentCallout1">
            <a:avLst>
              <a:gd name="adj1" fmla="val 18750"/>
              <a:gd name="adj2" fmla="val -8333"/>
              <a:gd name="adj3" fmla="val 168411"/>
              <a:gd name="adj4" fmla="val -42619"/>
            </a:avLst>
          </a:prstGeom>
          <a:solidFill>
            <a:srgbClr val="FFFF00">
              <a:alpha val="1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Line Callout 1 (Accent Bar) 11"/>
          <p:cNvSpPr/>
          <p:nvPr/>
        </p:nvSpPr>
        <p:spPr>
          <a:xfrm>
            <a:off x="1381125" y="4784327"/>
            <a:ext cx="1157794" cy="374792"/>
          </a:xfrm>
          <a:prstGeom prst="accentCallout1">
            <a:avLst>
              <a:gd name="adj1" fmla="val 18750"/>
              <a:gd name="adj2" fmla="val -8333"/>
              <a:gd name="adj3" fmla="val 135373"/>
              <a:gd name="adj4" fmla="val -44048"/>
            </a:avLst>
          </a:prstGeom>
          <a:solidFill>
            <a:srgbClr val="FFC000">
              <a:alpha val="17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9" grpId="0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43193"/>
            <a:ext cx="9404723" cy="947457"/>
          </a:xfrm>
        </p:spPr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0786" y="1566100"/>
            <a:ext cx="7328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 truth table is a table that describes all of the possible inputs for a Boolean statement, and express the results of using different logical operators.</a:t>
            </a:r>
            <a:endParaRPr lang="en-US" dirty="0" smtClean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518" y="2813396"/>
            <a:ext cx="1083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</a:t>
            </a:r>
            <a:r>
              <a:rPr lang="en-US" dirty="0" smtClean="0">
                <a:solidFill>
                  <a:srgbClr val="66FFFF"/>
                </a:solidFill>
              </a:rPr>
              <a:t>and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</a:rPr>
              <a:t>and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smtClean="0">
                <a:solidFill>
                  <a:srgbClr val="66FFFF"/>
                </a:solidFill>
              </a:rPr>
              <a:t>or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operators both have two operands, so their truth tables are quite simple: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15652"/>
              </p:ext>
            </p:extLst>
          </p:nvPr>
        </p:nvGraphicFramePr>
        <p:xfrm>
          <a:off x="1029169" y="4291541"/>
          <a:ext cx="346663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5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 and b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72056" y="3727510"/>
            <a:ext cx="298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3370" y="466813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False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3369" y="504472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False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73368" y="5414053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False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73368" y="577292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118114"/>
                </a:solidFill>
              </a:rPr>
              <a:t>True</a:t>
            </a:r>
            <a:endParaRPr lang="en-CA" dirty="0">
              <a:solidFill>
                <a:srgbClr val="118114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40391"/>
              </p:ext>
            </p:extLst>
          </p:nvPr>
        </p:nvGraphicFramePr>
        <p:xfrm>
          <a:off x="6807838" y="4288053"/>
          <a:ext cx="346663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5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 or b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50725" y="3724022"/>
            <a:ext cx="298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358" y="466813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False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48357" y="5037463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118114"/>
                </a:solidFill>
              </a:rPr>
              <a:t>True</a:t>
            </a:r>
            <a:endParaRPr lang="en-CA" dirty="0">
              <a:solidFill>
                <a:srgbClr val="118114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248357" y="5403589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118114"/>
                </a:solidFill>
              </a:rPr>
              <a:t>True</a:t>
            </a:r>
            <a:endParaRPr lang="en-CA" dirty="0">
              <a:solidFill>
                <a:srgbClr val="11811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248356" y="5769715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118114"/>
                </a:solidFill>
              </a:rPr>
              <a:t>True</a:t>
            </a:r>
            <a:endParaRPr lang="en-CA" dirty="0">
              <a:solidFill>
                <a:srgbClr val="1181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28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5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43193"/>
            <a:ext cx="9404723" cy="947457"/>
          </a:xfrm>
        </p:spPr>
        <p:txBody>
          <a:bodyPr/>
          <a:lstStyle/>
          <a:p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43568" y="2292599"/>
            <a:ext cx="1083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 </a:t>
            </a:r>
            <a:r>
              <a:rPr lang="en-US" dirty="0" smtClean="0">
                <a:solidFill>
                  <a:srgbClr val="66FFFF"/>
                </a:solidFill>
              </a:rPr>
              <a:t>not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operators has only one operand, so its truth tables only has two rows: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71830"/>
              </p:ext>
            </p:extLst>
          </p:nvPr>
        </p:nvGraphicFramePr>
        <p:xfrm>
          <a:off x="4699465" y="3951010"/>
          <a:ext cx="2346329" cy="10976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37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a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8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2202" y="3379214"/>
            <a:ext cx="298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>
                <a:solidFill>
                  <a:schemeClr val="tx1">
                    <a:lumMod val="95000"/>
                  </a:schemeClr>
                </a:solidFill>
              </a:rPr>
              <a:t>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22231" y="4705224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False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22232" y="4335892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118114"/>
                </a:solidFill>
              </a:rPr>
              <a:t>True</a:t>
            </a:r>
            <a:endParaRPr lang="en-CA" dirty="0">
              <a:solidFill>
                <a:srgbClr val="1181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97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Simplifying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BOOLEAN EXPRESSIONS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5932" y="1885854"/>
            <a:ext cx="7795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Just as algebraic statements can be simplified and rearranged, there are rules that allow for manipulation of Boolean expressions: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190" y="2925124"/>
            <a:ext cx="779536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x &lt; 15 and y == 5	</a:t>
            </a:r>
            <a:r>
              <a:rPr lang="en-US" dirty="0" smtClean="0">
                <a:solidFill>
                  <a:srgbClr val="92D050"/>
                </a:solidFill>
              </a:rPr>
              <a:t>#is equivalent to: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y == 5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and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&lt;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15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 and False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rgbClr val="92D050"/>
                </a:solidFill>
              </a:rPr>
              <a:t>#</a:t>
            </a:r>
            <a:r>
              <a:rPr lang="en-US" dirty="0">
                <a:solidFill>
                  <a:srgbClr val="92D050"/>
                </a:solidFill>
              </a:rPr>
              <a:t>is </a:t>
            </a:r>
            <a:r>
              <a:rPr lang="en-US" dirty="0" smtClean="0">
                <a:solidFill>
                  <a:srgbClr val="92D050"/>
                </a:solidFill>
              </a:rPr>
              <a:t>always: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	False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or True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US" dirty="0">
                <a:solidFill>
                  <a:srgbClr val="92D050"/>
                </a:solidFill>
              </a:rPr>
              <a:t>#is always: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True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not (not True)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US" dirty="0">
                <a:solidFill>
                  <a:srgbClr val="92D050"/>
                </a:solidFill>
              </a:rPr>
              <a:t>#is </a:t>
            </a:r>
            <a:r>
              <a:rPr lang="en-US" dirty="0" smtClean="0">
                <a:solidFill>
                  <a:srgbClr val="92D050"/>
                </a:solidFill>
              </a:rPr>
              <a:t>equivalent to: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True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US" sz="1400" dirty="0" smtClean="0">
                <a:solidFill>
                  <a:srgbClr val="FFFF00"/>
                </a:solidFill>
              </a:rPr>
              <a:t>Two not operators cancel each other</a:t>
            </a:r>
          </a:p>
          <a:p>
            <a:endParaRPr lang="en-US" sz="1400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and  x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US" dirty="0" smtClean="0">
                <a:solidFill>
                  <a:srgbClr val="92D050"/>
                </a:solidFill>
              </a:rPr>
              <a:t>#evaluates to: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x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x 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or x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US" dirty="0" smtClean="0">
                <a:solidFill>
                  <a:srgbClr val="92D050"/>
                </a:solidFill>
              </a:rPr>
              <a:t>#</a:t>
            </a:r>
            <a:r>
              <a:rPr lang="en-US" dirty="0">
                <a:solidFill>
                  <a:srgbClr val="92D050"/>
                </a:solidFill>
              </a:rPr>
              <a:t>evaluates to: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	x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6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What is True?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VALUES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5932" y="1828704"/>
            <a:ext cx="7795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So far we’ve seen that True and False are the two possible Boolean values. But actually Python considers a number of things to have a truth value to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81" y="3082557"/>
            <a:ext cx="10064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Try the following in your Python interpreter. Predict the truth value of each: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rgbClr val="CCFFFF"/>
                </a:solidFill>
              </a:rPr>
              <a:t>bool(1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)		</a:t>
            </a:r>
            <a:r>
              <a:rPr lang="en-US" dirty="0" smtClean="0">
                <a:solidFill>
                  <a:srgbClr val="CCFFFF"/>
                </a:solidFill>
              </a:rPr>
              <a:t>bool(0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)		</a:t>
            </a:r>
            <a:r>
              <a:rPr lang="en-US" dirty="0" smtClean="0">
                <a:solidFill>
                  <a:srgbClr val="CCFFFF"/>
                </a:solidFill>
              </a:rPr>
              <a:t>bool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(“Python!”)		</a:t>
            </a:r>
            <a:r>
              <a:rPr lang="en-US" dirty="0" smtClean="0">
                <a:solidFill>
                  <a:srgbClr val="CCFFFF"/>
                </a:solidFill>
              </a:rPr>
              <a:t>bool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([])		</a:t>
            </a:r>
            <a:r>
              <a:rPr lang="en-US" dirty="0" smtClean="0">
                <a:solidFill>
                  <a:srgbClr val="CCFFFF"/>
                </a:solidFill>
              </a:rPr>
              <a:t>bool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([1,2,3])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80252"/>
              </p:ext>
            </p:extLst>
          </p:nvPr>
        </p:nvGraphicFramePr>
        <p:xfrm>
          <a:off x="2924174" y="4434416"/>
          <a:ext cx="6457952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28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Non-empty strings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Empty strings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Non-empty lists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Empty lists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Numbers other</a:t>
                      </a:r>
                      <a:r>
                        <a:rPr lang="en-US" baseline="0" dirty="0" smtClean="0"/>
                        <a:t> than 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43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59424" y="0"/>
            <a:ext cx="4389501" cy="1154440"/>
          </a:xfrm>
          <a:prstGeom prst="rect">
            <a:avLst/>
          </a:prstGeom>
          <a:solidFill>
            <a:srgbClr val="0020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7457"/>
          </a:xfrm>
        </p:spPr>
        <p:txBody>
          <a:bodyPr/>
          <a:lstStyle/>
          <a:p>
            <a:r>
              <a:rPr lang="en-US" dirty="0" smtClean="0"/>
              <a:t>Test Yourself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4287839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BOOLEAN LOGIC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95514" y="1802163"/>
            <a:ext cx="9727820" cy="687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For each of the following Boolean statements, predict whether it will evaluate to True or False: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6111" y="2891218"/>
            <a:ext cx="1335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CFFFF"/>
                </a:solidFill>
              </a:rPr>
              <a:t>Given:       </a:t>
            </a:r>
          </a:p>
          <a:p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a = 6</a:t>
            </a:r>
          </a:p>
          <a:p>
            <a:r>
              <a:rPr lang="en-US" sz="2000" dirty="0" smtClean="0">
                <a:solidFill>
                  <a:schemeClr val="tx1">
                    <a:lumMod val="85000"/>
                  </a:schemeClr>
                </a:solidFill>
              </a:rPr>
              <a:t>b = 10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196015" y="3181350"/>
            <a:ext cx="6224257" cy="2895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== 6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(b == 6)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== 10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b == 10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a == 10 </a:t>
            </a:r>
            <a:r>
              <a:rPr lang="en-US" dirty="0" smtClean="0">
                <a:solidFill>
                  <a:srgbClr val="B8E08C"/>
                </a:solidFill>
              </a:rPr>
              <a:t>and</a:t>
            </a:r>
            <a:r>
              <a:rPr lang="en-US" dirty="0" smtClean="0"/>
              <a:t> b == 10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== 10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</a:t>
            </a:r>
            <a:r>
              <a:rPr lang="en-US" dirty="0" smtClean="0"/>
              <a:t>(b </a:t>
            </a:r>
            <a:r>
              <a:rPr lang="en-US" dirty="0" smtClean="0"/>
              <a:t>== </a:t>
            </a:r>
            <a:r>
              <a:rPr lang="en-US" dirty="0" smtClean="0"/>
              <a:t>10)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== 6 </a:t>
            </a:r>
            <a:r>
              <a:rPr lang="en-US" dirty="0" smtClean="0">
                <a:solidFill>
                  <a:srgbClr val="B8E08C"/>
                </a:solidFill>
              </a:rPr>
              <a:t>and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</a:t>
            </a:r>
            <a:r>
              <a:rPr lang="en-US" dirty="0" smtClean="0"/>
              <a:t>(a </a:t>
            </a:r>
            <a:r>
              <a:rPr lang="en-US" dirty="0" smtClean="0"/>
              <a:t>== </a:t>
            </a:r>
            <a:r>
              <a:rPr lang="en-US" dirty="0" smtClean="0"/>
              <a:t>10))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(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a == 10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</a:t>
            </a:r>
            <a:r>
              <a:rPr lang="en-US" dirty="0" smtClean="0"/>
              <a:t>(b </a:t>
            </a:r>
            <a:r>
              <a:rPr lang="en-US" dirty="0" smtClean="0"/>
              <a:t>== </a:t>
            </a:r>
            <a:r>
              <a:rPr lang="en-US" dirty="0" smtClean="0"/>
              <a:t>10))</a:t>
            </a: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315268" y="4764157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9797"/>
                </a:solidFill>
              </a:rPr>
              <a:t>False</a:t>
            </a:r>
            <a:endParaRPr lang="en-CA" dirty="0">
              <a:solidFill>
                <a:srgbClr val="FF979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05744" y="3181350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05744" y="3586748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5744" y="3992146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05744" y="4361478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15268" y="5166836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9684" y="5569515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9797"/>
                </a:solidFill>
              </a:rPr>
              <a:t>False</a:t>
            </a:r>
            <a:endParaRPr lang="en-CA" dirty="0">
              <a:solidFill>
                <a:srgbClr val="FF979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1722" y="133146"/>
            <a:ext cx="4112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B8E08C"/>
                </a:solidFill>
              </a:rPr>
              <a:t>and</a:t>
            </a:r>
            <a:r>
              <a:rPr lang="en-US" sz="1600" dirty="0" smtClean="0"/>
              <a:t>, </a:t>
            </a:r>
            <a:r>
              <a:rPr lang="en-US" sz="1600" dirty="0" smtClean="0">
                <a:solidFill>
                  <a:srgbClr val="B8E08C"/>
                </a:solidFill>
              </a:rPr>
              <a:t>or</a:t>
            </a:r>
            <a:r>
              <a:rPr lang="en-US" sz="1600" dirty="0" smtClean="0"/>
              <a:t>, </a:t>
            </a:r>
            <a:r>
              <a:rPr lang="en-US" sz="1600" dirty="0" smtClean="0">
                <a:solidFill>
                  <a:srgbClr val="B8E08C"/>
                </a:solidFill>
              </a:rPr>
              <a:t>not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chemeClr val="tx1">
                    <a:lumMod val="95000"/>
                  </a:schemeClr>
                </a:solidFill>
              </a:rPr>
              <a:t>all have the same precedence and should be evaluated left to right</a:t>
            </a:r>
            <a:endParaRPr lang="en-CA" sz="16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93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1" grpId="0"/>
      <p:bldP spid="12" grpId="0"/>
      <p:bldP spid="13" grpId="0"/>
      <p:bldP spid="14" grpId="0"/>
      <p:bldP spid="1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131" y="531831"/>
            <a:ext cx="9404723" cy="947457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1353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BASKETBALL RESULTS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9390" y="2388653"/>
            <a:ext cx="105980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There just was a great game between the U of S Huskies and the U of R Cougars, but the scorekeepers don’t know who won!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Ask the user for the number of field goals (2 </a:t>
            </a:r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</a:rPr>
              <a:t>pt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), three-pointers, (3 </a:t>
            </a:r>
            <a:r>
              <a:rPr lang="en-US" dirty="0" err="1" smtClean="0">
                <a:solidFill>
                  <a:schemeClr val="tx1">
                    <a:lumMod val="95000"/>
                  </a:schemeClr>
                </a:solidFill>
              </a:rPr>
              <a:t>pt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) and free throws (1 pt.)</a:t>
            </a:r>
            <a:br>
              <a:rPr lang="en-US" dirty="0" smtClean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for each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Based on this information, determine the result of the game. </a:t>
            </a:r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Display the final score and print out the name of the winning team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. If the game is tied, say it was a draw.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Also, print out whether it was a </a:t>
            </a:r>
            <a:r>
              <a:rPr lang="en-US" dirty="0" smtClean="0">
                <a:solidFill>
                  <a:srgbClr val="B8E08C"/>
                </a:solidFill>
              </a:rPr>
              <a:t>high scoring game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or a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low scoring game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. If both teams scored above 70, consider it a </a:t>
            </a:r>
            <a:r>
              <a:rPr lang="en-US" dirty="0" smtClean="0">
                <a:solidFill>
                  <a:srgbClr val="B8E08C"/>
                </a:solidFill>
              </a:rPr>
              <a:t>high scoring game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. If not, it was a </a:t>
            </a: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low scoring game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74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Chance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29390" y="2052919"/>
            <a:ext cx="10178321" cy="260902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Random number generation allows programs to model or simulate the concept of chance or probabilities.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Random number libraries allow programs to generate </a:t>
            </a:r>
            <a:r>
              <a:rPr lang="en-US" dirty="0" smtClean="0">
                <a:solidFill>
                  <a:srgbClr val="FFC000"/>
                </a:solidFill>
              </a:rPr>
              <a:t>pseudo-random</a:t>
            </a:r>
            <a:r>
              <a:rPr lang="en-US" dirty="0" smtClean="0"/>
              <a:t> numbers.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To use random functions, we must put </a:t>
            </a:r>
            <a:r>
              <a:rPr lang="en-US" dirty="0" smtClean="0">
                <a:solidFill>
                  <a:srgbClr val="66FFFF"/>
                </a:solidFill>
              </a:rPr>
              <a:t>import random </a:t>
            </a:r>
            <a:r>
              <a:rPr lang="en-US" dirty="0" smtClean="0"/>
              <a:t>at the top of our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04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Chance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29390" y="2052919"/>
            <a:ext cx="10178321" cy="4482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following random functions we will make use of: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>
                <a:solidFill>
                  <a:srgbClr val="CCFFFF"/>
                </a:solidFill>
              </a:rPr>
              <a:t>random.randint</a:t>
            </a:r>
            <a:r>
              <a:rPr lang="en-US" dirty="0" smtClean="0">
                <a:solidFill>
                  <a:srgbClr val="CCFFFF"/>
                </a:solidFill>
              </a:rPr>
              <a:t>(</a:t>
            </a:r>
            <a:r>
              <a:rPr lang="en-US" dirty="0" err="1" smtClean="0">
                <a:solidFill>
                  <a:srgbClr val="CCFFFF"/>
                </a:solidFill>
              </a:rPr>
              <a:t>low_val</a:t>
            </a:r>
            <a:r>
              <a:rPr lang="en-US" dirty="0" smtClean="0">
                <a:solidFill>
                  <a:srgbClr val="CCFFFF"/>
                </a:solidFill>
              </a:rPr>
              <a:t>, </a:t>
            </a:r>
            <a:r>
              <a:rPr lang="en-US" dirty="0" err="1" smtClean="0">
                <a:solidFill>
                  <a:srgbClr val="CCFFFF"/>
                </a:solidFill>
              </a:rPr>
              <a:t>high_val</a:t>
            </a:r>
            <a:r>
              <a:rPr lang="en-US" dirty="0" smtClean="0">
                <a:solidFill>
                  <a:srgbClr val="CC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9797"/>
                </a:solidFill>
              </a:rPr>
              <a:t>returns a random </a:t>
            </a:r>
            <a:r>
              <a:rPr lang="en-US" dirty="0" smtClean="0">
                <a:solidFill>
                  <a:srgbClr val="FFFF00"/>
                </a:solidFill>
              </a:rPr>
              <a:t>integer</a:t>
            </a:r>
            <a:r>
              <a:rPr lang="en-US" dirty="0" smtClean="0">
                <a:solidFill>
                  <a:srgbClr val="FF9797"/>
                </a:solidFill>
              </a:rPr>
              <a:t> between </a:t>
            </a:r>
            <a:r>
              <a:rPr lang="en-US" dirty="0" err="1" smtClean="0">
                <a:solidFill>
                  <a:srgbClr val="CEEAB0"/>
                </a:solidFill>
              </a:rPr>
              <a:t>low_val</a:t>
            </a:r>
            <a:r>
              <a:rPr lang="en-US" dirty="0" smtClean="0">
                <a:solidFill>
                  <a:srgbClr val="CEEAB0"/>
                </a:solidFill>
              </a:rPr>
              <a:t> </a:t>
            </a:r>
            <a:r>
              <a:rPr lang="en-US" dirty="0" smtClean="0">
                <a:solidFill>
                  <a:srgbClr val="FF9797"/>
                </a:solidFill>
              </a:rPr>
              <a:t>and </a:t>
            </a:r>
            <a:r>
              <a:rPr lang="en-US" dirty="0" err="1" smtClean="0">
                <a:solidFill>
                  <a:srgbClr val="CEEAB0"/>
                </a:solidFill>
              </a:rPr>
              <a:t>high_val</a:t>
            </a:r>
            <a:r>
              <a:rPr lang="en-US" dirty="0" smtClean="0">
                <a:solidFill>
                  <a:srgbClr val="CEEAB0"/>
                </a:solidFill>
              </a:rPr>
              <a:t> </a:t>
            </a:r>
            <a:r>
              <a:rPr lang="en-US" dirty="0" smtClean="0">
                <a:solidFill>
                  <a:srgbClr val="FF9797"/>
                </a:solidFill>
              </a:rPr>
              <a:t>(inclusive)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>
                <a:solidFill>
                  <a:srgbClr val="CCFFFF"/>
                </a:solidFill>
              </a:rPr>
              <a:t>random.uniform</a:t>
            </a:r>
            <a:r>
              <a:rPr lang="en-US" dirty="0" smtClean="0">
                <a:solidFill>
                  <a:srgbClr val="CCFFFF"/>
                </a:solidFill>
              </a:rPr>
              <a:t>(</a:t>
            </a:r>
            <a:r>
              <a:rPr lang="en-US" dirty="0" err="1">
                <a:solidFill>
                  <a:srgbClr val="CCFFFF"/>
                </a:solidFill>
              </a:rPr>
              <a:t>low_val</a:t>
            </a:r>
            <a:r>
              <a:rPr lang="en-US" dirty="0">
                <a:solidFill>
                  <a:srgbClr val="CCFFFF"/>
                </a:solidFill>
              </a:rPr>
              <a:t>, </a:t>
            </a:r>
            <a:r>
              <a:rPr lang="en-US" dirty="0" err="1">
                <a:solidFill>
                  <a:srgbClr val="CCFFFF"/>
                </a:solidFill>
              </a:rPr>
              <a:t>high_val</a:t>
            </a:r>
            <a:r>
              <a:rPr lang="en-US" dirty="0" smtClean="0">
                <a:solidFill>
                  <a:srgbClr val="CC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9797"/>
                </a:solidFill>
              </a:rPr>
              <a:t>returns a random </a:t>
            </a:r>
            <a:r>
              <a:rPr lang="en-US" dirty="0" smtClean="0">
                <a:solidFill>
                  <a:srgbClr val="FFFF00"/>
                </a:solidFill>
              </a:rPr>
              <a:t>float</a:t>
            </a:r>
            <a:r>
              <a:rPr lang="en-US" dirty="0" smtClean="0">
                <a:solidFill>
                  <a:srgbClr val="FF9797"/>
                </a:solidFill>
              </a:rPr>
              <a:t> between </a:t>
            </a:r>
            <a:r>
              <a:rPr lang="en-US" dirty="0" err="1">
                <a:solidFill>
                  <a:srgbClr val="CEEAB0"/>
                </a:solidFill>
              </a:rPr>
              <a:t>low_val</a:t>
            </a:r>
            <a:r>
              <a:rPr lang="en-US" dirty="0">
                <a:solidFill>
                  <a:srgbClr val="CEEAB0"/>
                </a:solidFill>
              </a:rPr>
              <a:t> </a:t>
            </a:r>
            <a:r>
              <a:rPr lang="en-US" dirty="0">
                <a:solidFill>
                  <a:srgbClr val="FF9797"/>
                </a:solidFill>
              </a:rPr>
              <a:t>and </a:t>
            </a:r>
            <a:r>
              <a:rPr lang="en-US" dirty="0" err="1">
                <a:solidFill>
                  <a:srgbClr val="CEEAB0"/>
                </a:solidFill>
              </a:rPr>
              <a:t>high_val</a:t>
            </a:r>
            <a:r>
              <a:rPr lang="en-US" dirty="0">
                <a:solidFill>
                  <a:srgbClr val="CEEAB0"/>
                </a:solidFill>
              </a:rPr>
              <a:t> </a:t>
            </a:r>
            <a:r>
              <a:rPr lang="en-US" dirty="0">
                <a:solidFill>
                  <a:srgbClr val="FF9797"/>
                </a:solidFill>
              </a:rPr>
              <a:t>(inclusive</a:t>
            </a:r>
            <a:r>
              <a:rPr lang="en-US" dirty="0" smtClean="0">
                <a:solidFill>
                  <a:srgbClr val="FF9797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>
                <a:solidFill>
                  <a:srgbClr val="CCFFFF"/>
                </a:solidFill>
              </a:rPr>
              <a:t>random.choice</a:t>
            </a:r>
            <a:r>
              <a:rPr lang="en-US" dirty="0" smtClean="0">
                <a:solidFill>
                  <a:srgbClr val="CCFFFF"/>
                </a:solidFill>
              </a:rPr>
              <a:t>(</a:t>
            </a:r>
            <a:r>
              <a:rPr lang="en-US" dirty="0" err="1" smtClean="0">
                <a:solidFill>
                  <a:srgbClr val="CCFFFF"/>
                </a:solidFill>
              </a:rPr>
              <a:t>my_list</a:t>
            </a:r>
            <a:r>
              <a:rPr lang="en-US" dirty="0" smtClean="0">
                <a:solidFill>
                  <a:srgbClr val="CC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9797"/>
                </a:solidFill>
              </a:rPr>
              <a:t>chooses a random </a:t>
            </a:r>
            <a:r>
              <a:rPr lang="en-US" dirty="0" smtClean="0">
                <a:solidFill>
                  <a:srgbClr val="FFFF00"/>
                </a:solidFill>
              </a:rPr>
              <a:t>element</a:t>
            </a:r>
            <a:r>
              <a:rPr lang="en-US" dirty="0" smtClean="0">
                <a:solidFill>
                  <a:srgbClr val="FF9797"/>
                </a:solidFill>
              </a:rPr>
              <a:t> from </a:t>
            </a:r>
            <a:r>
              <a:rPr lang="en-US" dirty="0" err="1" smtClean="0">
                <a:solidFill>
                  <a:srgbClr val="CEEAB0"/>
                </a:solidFill>
              </a:rPr>
              <a:t>my_list</a:t>
            </a:r>
            <a:r>
              <a:rPr lang="en-US" dirty="0" smtClean="0">
                <a:solidFill>
                  <a:srgbClr val="CEEAB0"/>
                </a:solidFill>
              </a:rPr>
              <a:t> </a:t>
            </a:r>
            <a:r>
              <a:rPr lang="en-US" dirty="0" smtClean="0">
                <a:solidFill>
                  <a:srgbClr val="FF9797"/>
                </a:solidFill>
              </a:rPr>
              <a:t>and returns it</a:t>
            </a:r>
            <a:endParaRPr lang="en-US" dirty="0">
              <a:solidFill>
                <a:srgbClr val="FF9797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25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52568" y="5718685"/>
            <a:ext cx="3362632" cy="1139315"/>
          </a:xfrm>
          <a:prstGeom prst="rect">
            <a:avLst/>
          </a:prstGeom>
          <a:solidFill>
            <a:srgbClr val="00206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989" y="197535"/>
            <a:ext cx="9404723" cy="947457"/>
          </a:xfrm>
        </p:spPr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19969" y="801094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COIN FLIPS, DICE ROLLS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2549" y="1566100"/>
            <a:ext cx="23433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</a:schemeClr>
                </a:solidFill>
              </a:rPr>
              <a:t>One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Create a function called </a:t>
            </a:r>
            <a:r>
              <a:rPr lang="en-US" dirty="0" err="1" smtClean="0">
                <a:solidFill>
                  <a:srgbClr val="FFC000"/>
                </a:solidFill>
              </a:rPr>
              <a:t>coin_flip</a:t>
            </a:r>
            <a:r>
              <a:rPr lang="en-US" dirty="0" smtClean="0">
                <a:solidFill>
                  <a:srgbClr val="FFC000"/>
                </a:solidFill>
              </a:rPr>
              <a:t>()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that randomly returns “heads” or “tails”.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Call the function 100 times, and track how many times the function returns “tails”. Display this amount.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8558" y="1585179"/>
            <a:ext cx="234337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</a:schemeClr>
                </a:solidFill>
              </a:rPr>
              <a:t>Yahtzee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Create a function called </a:t>
            </a:r>
            <a:r>
              <a:rPr lang="en-US" dirty="0" smtClean="0">
                <a:solidFill>
                  <a:srgbClr val="FFC000"/>
                </a:solidFill>
              </a:rPr>
              <a:t>roll()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that simulates rolling 5 6-sided dice. 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Inside the function, print out the value of each rolled die. If a Yahtzee (all five dice the same) has occurred, print out “Yahtzee!”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47337" y="1585179"/>
            <a:ext cx="31102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</a:schemeClr>
                </a:solidFill>
              </a:rPr>
              <a:t>Weather Predictor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We’ve heard the forecast:</a:t>
            </a:r>
            <a:br>
              <a:rPr lang="en-US" dirty="0" smtClean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en-US" dirty="0" smtClean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50% chance of sun</a:t>
            </a:r>
            <a:br>
              <a:rPr lang="en-US" dirty="0" smtClean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25% chance of clouds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20% chance of rain</a:t>
            </a: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5% chance of snow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Create a function called weather() that returns what the weather will be (based on the probabilities above).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0387" y="5810865"/>
            <a:ext cx="3116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>
                    <a:lumMod val="75000"/>
                  </a:schemeClr>
                </a:solidFill>
              </a:rPr>
              <a:t>Extra for Experts: </a:t>
            </a:r>
            <a:r>
              <a:rPr lang="en-US" sz="1400" dirty="0" smtClean="0"/>
              <a:t>Check for other roll combinations (Full House, Large Straight (5 consecutive), 4-of-a-kind) 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8012940" y="5718685"/>
            <a:ext cx="3362632" cy="1139315"/>
          </a:xfrm>
          <a:prstGeom prst="rect">
            <a:avLst/>
          </a:prstGeom>
          <a:solidFill>
            <a:srgbClr val="00206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071024" y="5810865"/>
            <a:ext cx="3398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1">
                    <a:lumMod val="75000"/>
                  </a:schemeClr>
                </a:solidFill>
              </a:rPr>
              <a:t>Extra for Experts: </a:t>
            </a:r>
            <a:r>
              <a:rPr lang="en-US" sz="1400" dirty="0" smtClean="0"/>
              <a:t>Run weather() 10000 times and have your program record how often it snows. Does the result seem reasonable?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3954323" y="56"/>
            <a:ext cx="5548905" cy="1139315"/>
          </a:xfrm>
          <a:prstGeom prst="rect">
            <a:avLst/>
          </a:prstGeom>
          <a:solidFill>
            <a:srgbClr val="00206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082143" y="92236"/>
            <a:ext cx="51432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92D050"/>
                </a:solidFill>
              </a:rPr>
              <a:t>random.randint</a:t>
            </a:r>
            <a:r>
              <a:rPr lang="en-US" sz="1400" dirty="0">
                <a:solidFill>
                  <a:srgbClr val="92D050"/>
                </a:solidFill>
              </a:rPr>
              <a:t>(0,6)  #</a:t>
            </a:r>
            <a:r>
              <a:rPr lang="en-US" sz="1400" dirty="0" smtClean="0">
                <a:solidFill>
                  <a:srgbClr val="92D050"/>
                </a:solidFill>
              </a:rPr>
              <a:t>random </a:t>
            </a:r>
            <a:r>
              <a:rPr lang="en-US" sz="1400" dirty="0">
                <a:solidFill>
                  <a:srgbClr val="92D050"/>
                </a:solidFill>
              </a:rPr>
              <a:t>integer between 0 and </a:t>
            </a:r>
            <a:r>
              <a:rPr lang="en-US" sz="1400" dirty="0" smtClean="0">
                <a:solidFill>
                  <a:srgbClr val="92D050"/>
                </a:solidFill>
              </a:rPr>
              <a:t>6</a:t>
            </a:r>
            <a:br>
              <a:rPr lang="en-US" sz="1400" dirty="0" smtClean="0">
                <a:solidFill>
                  <a:srgbClr val="92D050"/>
                </a:solidFill>
              </a:rPr>
            </a:br>
            <a:endParaRPr lang="en-US" sz="700" dirty="0" smtClean="0">
              <a:solidFill>
                <a:srgbClr val="92D050"/>
              </a:solidFill>
            </a:endParaRPr>
          </a:p>
          <a:p>
            <a:r>
              <a:rPr lang="en-US" sz="1400" dirty="0" err="1" smtClean="0">
                <a:solidFill>
                  <a:srgbClr val="92D050"/>
                </a:solidFill>
              </a:rPr>
              <a:t>random.uniform</a:t>
            </a:r>
            <a:r>
              <a:rPr lang="en-US" sz="1400" dirty="0" smtClean="0">
                <a:solidFill>
                  <a:srgbClr val="92D050"/>
                </a:solidFill>
              </a:rPr>
              <a:t>(0,6)  #random float between 0 and 6</a:t>
            </a:r>
          </a:p>
          <a:p>
            <a:endParaRPr lang="en-US" sz="700" dirty="0">
              <a:solidFill>
                <a:srgbClr val="92D050"/>
              </a:solidFill>
            </a:endParaRPr>
          </a:p>
          <a:p>
            <a:r>
              <a:rPr lang="en-US" sz="1400" dirty="0" err="1" smtClean="0">
                <a:solidFill>
                  <a:srgbClr val="92D050"/>
                </a:solidFill>
              </a:rPr>
              <a:t>random.choice</a:t>
            </a:r>
            <a:r>
              <a:rPr lang="en-US" sz="1400" dirty="0" smtClean="0">
                <a:solidFill>
                  <a:srgbClr val="92D050"/>
                </a:solidFill>
              </a:rPr>
              <a:t>(</a:t>
            </a:r>
            <a:r>
              <a:rPr lang="en-US" sz="1400" dirty="0" err="1" smtClean="0">
                <a:solidFill>
                  <a:srgbClr val="92D050"/>
                </a:solidFill>
              </a:rPr>
              <a:t>my_list</a:t>
            </a:r>
            <a:r>
              <a:rPr lang="en-US" sz="1400" dirty="0" smtClean="0">
                <a:solidFill>
                  <a:srgbClr val="92D050"/>
                </a:solidFill>
              </a:rPr>
              <a:t>)  </a:t>
            </a:r>
            <a:r>
              <a:rPr lang="en-US" sz="1400" dirty="0">
                <a:solidFill>
                  <a:srgbClr val="92D050"/>
                </a:solidFill>
              </a:rPr>
              <a:t>#random </a:t>
            </a:r>
            <a:r>
              <a:rPr lang="en-US" sz="1400" dirty="0" smtClean="0">
                <a:solidFill>
                  <a:srgbClr val="92D050"/>
                </a:solidFill>
              </a:rPr>
              <a:t>selection from </a:t>
            </a:r>
            <a:r>
              <a:rPr lang="en-US" sz="1400" dirty="0" err="1" smtClean="0">
                <a:solidFill>
                  <a:srgbClr val="92D050"/>
                </a:solidFill>
              </a:rPr>
              <a:t>my_list</a:t>
            </a:r>
            <a:endParaRPr lang="en-US" sz="1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2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9" grpId="0" animBg="1"/>
      <p:bldP spid="10" grpId="0"/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Self-test two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49714" y="2536773"/>
            <a:ext cx="9521371" cy="2895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 smtClean="0"/>
              <a:t>[“0”]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1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0 and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[ ]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-1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True</a:t>
            </a:r>
            <a:r>
              <a:rPr lang="en-US" dirty="0" smtClean="0">
                <a:solidFill>
                  <a:srgbClr val="B8E08C"/>
                </a:solidFill>
              </a:rPr>
              <a:t> and </a:t>
            </a:r>
            <a:r>
              <a:rPr lang="en-US" dirty="0" smtClean="0"/>
              <a:t>True</a:t>
            </a:r>
            <a:r>
              <a:rPr lang="en-US" dirty="0" smtClean="0">
                <a:solidFill>
                  <a:srgbClr val="B8E08C"/>
                </a:solidFill>
              </a:rPr>
              <a:t> or </a:t>
            </a:r>
            <a:r>
              <a:rPr lang="en-US" dirty="0" smtClean="0"/>
              <a:t>False</a:t>
            </a:r>
            <a:r>
              <a:rPr lang="en-US" dirty="0" smtClean="0">
                <a:solidFill>
                  <a:srgbClr val="B8E08C"/>
                </a:solidFill>
              </a:rPr>
              <a:t> and </a:t>
            </a:r>
            <a:r>
              <a:rPr lang="en-US" dirty="0" smtClean="0"/>
              <a:t>True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1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False </a:t>
            </a:r>
            <a:r>
              <a:rPr lang="en-US" dirty="0" smtClean="0">
                <a:solidFill>
                  <a:srgbClr val="B8E08C"/>
                </a:solidFill>
              </a:rPr>
              <a:t>and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( True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(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B8E08C"/>
                </a:solidFill>
              </a:rPr>
              <a:t>not</a:t>
            </a:r>
            <a:r>
              <a:rPr lang="en-US" dirty="0" smtClean="0">
                <a:solidFill>
                  <a:srgbClr val="B8E08C"/>
                </a:solidFill>
              </a:rPr>
              <a:t> </a:t>
            </a:r>
            <a:r>
              <a:rPr lang="en-US" dirty="0" smtClean="0"/>
              <a:t>(False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True) </a:t>
            </a:r>
            <a:r>
              <a:rPr lang="en-US" dirty="0" smtClean="0">
                <a:solidFill>
                  <a:srgbClr val="B8E08C"/>
                </a:solidFill>
              </a:rPr>
              <a:t>and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True </a:t>
            </a:r>
            <a:r>
              <a:rPr lang="en-US" dirty="0" smtClean="0">
                <a:solidFill>
                  <a:srgbClr val="B8E08C"/>
                </a:solidFill>
              </a:rPr>
              <a:t>or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B8E08C"/>
                </a:solidFill>
              </a:rPr>
              <a:t>not</a:t>
            </a:r>
            <a:r>
              <a:rPr lang="en-US" dirty="0" smtClean="0"/>
              <a:t> False)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False</a:t>
            </a:r>
            <a:r>
              <a:rPr lang="en-US" dirty="0" smtClean="0">
                <a:solidFill>
                  <a:srgbClr val="B8E08C"/>
                </a:solidFill>
              </a:rPr>
              <a:t> and </a:t>
            </a:r>
            <a:r>
              <a:rPr lang="en-US" dirty="0" smtClean="0"/>
              <a:t>true</a:t>
            </a:r>
          </a:p>
          <a:p>
            <a:pPr marL="0" indent="0">
              <a:buFont typeface="Wingdings 3" charset="2"/>
              <a:buNone/>
            </a:pP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72457" y="4119580"/>
            <a:ext cx="1085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9797"/>
                </a:solidFill>
              </a:rPr>
              <a:t>Invalid</a:t>
            </a:r>
            <a:endParaRPr lang="en-CA" dirty="0">
              <a:solidFill>
                <a:srgbClr val="FF979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7949" y="2536773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57949" y="294217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False</a:t>
            </a:r>
            <a:endParaRPr lang="en-CA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57949" y="3347569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57949" y="3716901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E1F2CE"/>
                </a:solidFill>
              </a:rPr>
              <a:t>True</a:t>
            </a:r>
            <a:endParaRPr lang="en-CA" dirty="0">
              <a:solidFill>
                <a:srgbClr val="E1F2C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67473" y="4522259"/>
            <a:ext cx="890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False</a:t>
            </a:r>
            <a:endParaRPr lang="en-CA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2457" y="4924938"/>
            <a:ext cx="1099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9797"/>
                </a:solidFill>
              </a:rPr>
              <a:t>Invalid</a:t>
            </a:r>
            <a:endParaRPr lang="en-CA" dirty="0">
              <a:solidFill>
                <a:srgbClr val="FF9797"/>
              </a:solidFill>
            </a:endParaRPr>
          </a:p>
        </p:txBody>
      </p:sp>
      <p:sp>
        <p:nvSpPr>
          <p:cNvPr id="12" name="Line Callout 1 (Accent Bar) 11"/>
          <p:cNvSpPr/>
          <p:nvPr/>
        </p:nvSpPr>
        <p:spPr>
          <a:xfrm>
            <a:off x="2685143" y="4522259"/>
            <a:ext cx="1349828" cy="402679"/>
          </a:xfrm>
          <a:prstGeom prst="accentCallout1">
            <a:avLst>
              <a:gd name="adj1" fmla="val 15146"/>
              <a:gd name="adj2" fmla="val 99194"/>
              <a:gd name="adj3" fmla="val -103766"/>
              <a:gd name="adj4" fmla="val 357366"/>
            </a:avLst>
          </a:prstGeom>
          <a:solidFill>
            <a:srgbClr val="FFFF00">
              <a:alpha val="3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90972" y="3901567"/>
            <a:ext cx="293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Short Circuit Evaluation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111" y="1349829"/>
            <a:ext cx="960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Predict how the following Boolean expressions would be evaluated: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15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5659</TotalTime>
  <Words>876</Words>
  <Application>Microsoft Office PowerPoint</Application>
  <PresentationFormat>Widescreen</PresentationFormat>
  <Paragraphs>202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Ion</vt:lpstr>
      <vt:lpstr>Computer Science 20</vt:lpstr>
      <vt:lpstr>Concepts</vt:lpstr>
      <vt:lpstr>Concepts</vt:lpstr>
      <vt:lpstr>Concepts</vt:lpstr>
      <vt:lpstr>Concepts</vt:lpstr>
      <vt:lpstr>Concepts</vt:lpstr>
      <vt:lpstr>Simplifying</vt:lpstr>
      <vt:lpstr>What is True?</vt:lpstr>
      <vt:lpstr>Test Yourself</vt:lpstr>
      <vt:lpstr>Exercise</vt:lpstr>
      <vt:lpstr>Random Chance</vt:lpstr>
      <vt:lpstr>Random Chance</vt:lpstr>
      <vt:lpstr>Exercises</vt:lpstr>
      <vt:lpstr>Self-test two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 Graham (Stefan)</cp:lastModifiedBy>
  <cp:revision>213</cp:revision>
  <dcterms:created xsi:type="dcterms:W3CDTF">2016-08-31T14:32:10Z</dcterms:created>
  <dcterms:modified xsi:type="dcterms:W3CDTF">2017-10-20T18:06:22Z</dcterms:modified>
</cp:coreProperties>
</file>