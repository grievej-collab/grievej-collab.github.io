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876bdd8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876bdd8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486e0fd3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486e0fd3c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e5f2ab19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4e5f2ab194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731e7427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4731e74278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4e6a029d6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4e6a029d6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4e6a029d6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4e6a029d6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4dd4feb5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4dd4feb5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4c1ccb978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Collector Demo: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a script that uses the ASK block to ask the user a series of questions. Store each answer in a separate appropriately named variable.</a:t>
            </a:r>
            <a:br>
              <a:rPr lang="en-GB"/>
            </a:br>
            <a:br>
              <a:rPr lang="en-GB"/>
            </a:br>
            <a:r>
              <a:rPr lang="en-GB"/>
              <a:t>What is your name?</a:t>
            </a:r>
            <a:br>
              <a:rPr lang="en-GB"/>
            </a:br>
            <a:r>
              <a:rPr lang="en-GB"/>
              <a:t>How old are you?</a:t>
            </a:r>
            <a:br>
              <a:rPr lang="en-GB"/>
            </a:br>
            <a:r>
              <a:rPr lang="en-GB"/>
              <a:t>What is your favourite class?</a:t>
            </a:r>
            <a:br>
              <a:rPr lang="en-GB"/>
            </a:br>
            <a:br>
              <a:rPr lang="en-GB"/>
            </a:br>
            <a:r>
              <a:rPr lang="en-GB"/>
              <a:t>Create another variable called days_old</a:t>
            </a:r>
            <a:br>
              <a:rPr lang="en-GB"/>
            </a:br>
            <a:r>
              <a:rPr lang="en-GB"/>
              <a:t>Set this variable to be equal to how old the user is in days.</a:t>
            </a:r>
            <a:br>
              <a:rPr lang="en-GB"/>
            </a:br>
            <a:r>
              <a:rPr lang="en-GB"/>
              <a:t>Recall that there are 365.25 days in a year</a:t>
            </a:r>
            <a:br>
              <a:rPr lang="en-GB"/>
            </a:br>
            <a:br>
              <a:rPr lang="en-GB"/>
            </a:br>
            <a:r>
              <a:rPr lang="en-GB"/>
              <a:t>Have the sprite summarize the information stored in all four variables.</a:t>
            </a:r>
            <a:br>
              <a:rPr lang="en-GB"/>
            </a:br>
            <a:br>
              <a:rPr lang="en-GB"/>
            </a:br>
            <a:endParaRPr/>
          </a:p>
        </p:txBody>
      </p:sp>
      <p:sp>
        <p:nvSpPr>
          <p:cNvPr id="161" name="Google Shape;161;g4c1ccb978d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4dd4feb51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Variables Demo 2: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Maybe a Math flashcards type demo</a:t>
            </a:r>
            <a:br>
              <a:rPr lang="en-GB"/>
            </a:br>
            <a:br>
              <a:rPr lang="en-GB"/>
            </a:br>
            <a:endParaRPr/>
          </a:p>
        </p:txBody>
      </p:sp>
      <p:sp>
        <p:nvSpPr>
          <p:cNvPr id="166" name="Google Shape;166;g4dd4feb513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dd4feb51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Clones Demo - raincatcher?...Maybe save that for W4 since the dot game will be then. Need something else.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Show the situation where clones make clones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Better process - one hidden sprite to spawn all clones</a:t>
            </a:r>
            <a:br>
              <a:rPr lang="en-GB"/>
            </a:br>
            <a:br>
              <a:rPr lang="en-GB"/>
            </a:br>
            <a:endParaRPr/>
          </a:p>
        </p:txBody>
      </p:sp>
      <p:sp>
        <p:nvSpPr>
          <p:cNvPr id="171" name="Google Shape;171;g4dd4feb513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/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827484" y="1539688"/>
            <a:ext cx="67101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/>
          <a:lstStyle>
            <a:lvl1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/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rtl="0" algn="ctr">
              <a:spcBef>
                <a:spcPts val="0"/>
              </a:spcBef>
              <a:buNone/>
              <a:defRPr/>
            </a:lvl1pPr>
            <a:lvl2pPr indent="0" lvl="1" marL="0" rtl="0" algn="ctr">
              <a:spcBef>
                <a:spcPts val="0"/>
              </a:spcBef>
              <a:buNone/>
              <a:defRPr/>
            </a:lvl2pPr>
            <a:lvl3pPr indent="0" lvl="2" marL="0" rtl="0" algn="ctr">
              <a:spcBef>
                <a:spcPts val="0"/>
              </a:spcBef>
              <a:buNone/>
              <a:defRPr/>
            </a:lvl3pPr>
            <a:lvl4pPr indent="0" lvl="3" marL="0" rtl="0" algn="ctr">
              <a:spcBef>
                <a:spcPts val="0"/>
              </a:spcBef>
              <a:buNone/>
              <a:defRPr/>
            </a:lvl4pPr>
            <a:lvl5pPr indent="0" lvl="4" marL="0" rtl="0" algn="ctr">
              <a:spcBef>
                <a:spcPts val="0"/>
              </a:spcBef>
              <a:buNone/>
              <a:defRPr/>
            </a:lvl5pPr>
            <a:lvl6pPr indent="0" lvl="5" marL="0" rtl="0" algn="ctr">
              <a:spcBef>
                <a:spcPts val="0"/>
              </a:spcBef>
              <a:buNone/>
              <a:defRPr/>
            </a:lvl6pPr>
            <a:lvl7pPr indent="0" lvl="6" marL="0" rtl="0" algn="ctr">
              <a:spcBef>
                <a:spcPts val="0"/>
              </a:spcBef>
              <a:buNone/>
              <a:defRPr/>
            </a:lvl7pPr>
            <a:lvl8pPr indent="0" lvl="7" marL="0" rtl="0" algn="ctr">
              <a:spcBef>
                <a:spcPts val="0"/>
              </a:spcBef>
              <a:buNone/>
              <a:defRPr/>
            </a:lvl8pPr>
            <a:lvl9pPr indent="0" lvl="8" marL="0" rt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5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Variables / </a:t>
            </a:r>
            <a:r>
              <a:rPr lang="en-GB">
                <a:solidFill>
                  <a:schemeClr val="dk1"/>
                </a:solidFill>
              </a:rPr>
              <a:t>Data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859350" y="2479900"/>
            <a:ext cx="5694600" cy="13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Sequences of Instructions</a:t>
            </a:r>
            <a:br>
              <a:rPr lang="en-GB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Decision-making structures (Branching)</a:t>
            </a:r>
            <a:br>
              <a:rPr lang="en-GB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Repetition (Looping)</a:t>
            </a:r>
            <a:br>
              <a:rPr lang="en-GB"/>
            </a:br>
            <a:br>
              <a:rPr lang="en-GB"/>
            </a:br>
            <a:br>
              <a:rPr lang="en-GB"/>
            </a:br>
            <a:endParaRPr/>
          </a:p>
        </p:txBody>
      </p:sp>
      <p:sp>
        <p:nvSpPr>
          <p:cNvPr id="94" name="Google Shape;94;p14"/>
          <p:cNvSpPr txBox="1"/>
          <p:nvPr>
            <p:ph type="title"/>
          </p:nvPr>
        </p:nvSpPr>
        <p:spPr>
          <a:xfrm>
            <a:off x="0" y="483575"/>
            <a:ext cx="23583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3"/>
                </a:solidFill>
              </a:rPr>
              <a:t>Computer Science </a:t>
            </a:r>
            <a:r>
              <a:rPr lang="en-GB" sz="900">
                <a:solidFill>
                  <a:schemeClr val="dk1"/>
                </a:solidFill>
              </a:rPr>
              <a:t>Coding and Robotics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29450" y="4065825"/>
            <a:ext cx="81360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One thing we are missing so far, however, is a way for our programs to store and retrieve (remember) information.</a:t>
            </a:r>
            <a:br>
              <a:rPr lang="en-GB"/>
            </a:b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29450" y="2060800"/>
            <a:ext cx="8265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 far we have looked at </a:t>
            </a:r>
            <a:r>
              <a:rPr lang="en-GB" sz="1300" u="sng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several key building blocks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used in designing solutions through computation: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Computer Memory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84575" y="1133300"/>
            <a:ext cx="7764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Computers need to store a lot of information in order to operate, and typically do so in two separate ways:</a:t>
            </a:r>
            <a:br>
              <a:rPr lang="en-GB"/>
            </a:b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484575" y="1735700"/>
            <a:ext cx="5915700" cy="14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PERSISTENT MEMORY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This type of storage keeps track of the information even when your device is turned off. Long term storage (SSD, external HDD, memory cards)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○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Useful for documents, photographs, music, etc…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84575" y="3220950"/>
            <a:ext cx="5516100" cy="15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VOLATILE MEMORY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This memory is more temporary, and is wiped whenever the power is turned off. 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○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Not typically used directly by user, but instead by applications. (RAM, Cache)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2725" y="3687574"/>
            <a:ext cx="2360874" cy="117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2725" y="2078672"/>
            <a:ext cx="2360875" cy="1364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484575" y="339544"/>
            <a:ext cx="7053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lang="en-GB"/>
              <a:t>Variables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484575" y="1354000"/>
            <a:ext cx="61722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A variable is a container that can store a piece of information.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22500" y="742425"/>
            <a:ext cx="23583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Memory you can use!</a:t>
            </a:r>
            <a:endParaRPr b="1" sz="900">
              <a:solidFill>
                <a:srgbClr val="1A99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9575" y="1539148"/>
            <a:ext cx="2800051" cy="2800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421975" y="4258850"/>
            <a:ext cx="36324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lang="en-GB">
                <a:solidFill>
                  <a:srgbClr val="CC0000"/>
                </a:solidFill>
              </a:rPr>
              <a:t>variable container</a:t>
            </a:r>
            <a:r>
              <a:rPr lang="en-GB"/>
              <a:t> can only hold </a:t>
            </a:r>
            <a:r>
              <a:rPr b="1" lang="en-GB"/>
              <a:t>one piece of information at a time!</a:t>
            </a:r>
            <a:endParaRPr b="1"/>
          </a:p>
        </p:txBody>
      </p:sp>
      <p:sp>
        <p:nvSpPr>
          <p:cNvPr id="116" name="Google Shape;116;p16"/>
          <p:cNvSpPr txBox="1"/>
          <p:nvPr/>
        </p:nvSpPr>
        <p:spPr>
          <a:xfrm>
            <a:off x="484575" y="1228750"/>
            <a:ext cx="63273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When you are designing programs, </a:t>
            </a:r>
            <a:r>
              <a:rPr b="1" lang="en-GB" sz="1300">
                <a:latin typeface="Lato"/>
                <a:ea typeface="Lato"/>
                <a:cs typeface="Lato"/>
                <a:sym typeface="Lato"/>
              </a:rPr>
              <a:t>Variables </a:t>
            </a:r>
            <a:r>
              <a:rPr lang="en-GB" sz="1300">
                <a:latin typeface="Lato"/>
                <a:ea typeface="Lato"/>
                <a:cs typeface="Lato"/>
                <a:sym typeface="Lato"/>
              </a:rPr>
              <a:t>are memory that you can make use of.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84575" y="2327200"/>
            <a:ext cx="5311200" cy="10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We might want to use a variable to: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○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Store the value of a user’s name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○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Keep a running tally of the score in a game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○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Compute a value to be outputted to the screen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84575" y="3496075"/>
            <a:ext cx="48957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In Scratch, variables use persistent memory.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○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Values are not lost when the program is over!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472175" y="296350"/>
            <a:ext cx="49275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Raleway"/>
                <a:ea typeface="Raleway"/>
                <a:cs typeface="Raleway"/>
                <a:sym typeface="Raleway"/>
              </a:rPr>
              <a:t>Built-in </a:t>
            </a:r>
            <a:r>
              <a:rPr b="1" lang="en-GB" sz="2800">
                <a:latin typeface="Raleway"/>
                <a:ea typeface="Raleway"/>
                <a:cs typeface="Raleway"/>
                <a:sym typeface="Raleway"/>
              </a:rPr>
              <a:t>Variables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472175" y="1014650"/>
            <a:ext cx="65700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We’ve already seen and used some of the built-in variables in Scratch: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000" y="1598925"/>
            <a:ext cx="5718629" cy="31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User-defined Variables</a:t>
            </a:r>
            <a:endParaRPr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5766375" y="1062400"/>
            <a:ext cx="3239700" cy="703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200"/>
              <a:t>We can use the “Make a Variable” button in the </a:t>
            </a:r>
            <a:r>
              <a:rPr b="1" lang="en-GB" sz="1200"/>
              <a:t>Variables</a:t>
            </a:r>
            <a:r>
              <a:rPr lang="en-GB" sz="1200"/>
              <a:t> palette to create one of our own.</a:t>
            </a:r>
            <a:endParaRPr sz="1200"/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375" y="1115301"/>
            <a:ext cx="2399225" cy="382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6841" y="2003775"/>
            <a:ext cx="1043751" cy="70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2166" y="2945200"/>
            <a:ext cx="2112723" cy="98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2166" y="4060324"/>
            <a:ext cx="2112723" cy="98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17700" y="1062350"/>
            <a:ext cx="1982051" cy="7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" type="body"/>
          </p:nvPr>
        </p:nvSpPr>
        <p:spPr>
          <a:xfrm>
            <a:off x="5766375" y="2003825"/>
            <a:ext cx="3239700" cy="703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200"/>
              <a:t>Setting </a:t>
            </a:r>
            <a:r>
              <a:rPr lang="en-GB" sz="1200"/>
              <a:t>a variable </a:t>
            </a:r>
            <a:r>
              <a:rPr i="1" lang="en-GB" sz="1200"/>
              <a:t>puts a value </a:t>
            </a:r>
            <a:r>
              <a:rPr lang="en-GB" sz="1200"/>
              <a:t>into it. If there was a previous value, that is discarded.</a:t>
            </a:r>
            <a:endParaRPr sz="1200"/>
          </a:p>
        </p:txBody>
      </p:sp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5766375" y="3064038"/>
            <a:ext cx="3239700" cy="794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200"/>
              <a:t>Changing </a:t>
            </a:r>
            <a:r>
              <a:rPr lang="en-GB" sz="1200"/>
              <a:t>a variable creates a new value by </a:t>
            </a:r>
            <a:r>
              <a:rPr i="1" lang="en-GB" sz="1200"/>
              <a:t>adding to what is currently</a:t>
            </a:r>
            <a:r>
              <a:rPr i="1" lang="en-GB" sz="1200"/>
              <a:t> </a:t>
            </a:r>
            <a:r>
              <a:rPr lang="en-GB" sz="1200"/>
              <a:t>into it. The old value is discarded and the new value takes its place.</a:t>
            </a:r>
            <a:endParaRPr sz="1200"/>
          </a:p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5766375" y="4215150"/>
            <a:ext cx="3239700" cy="794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200"/>
              <a:t>Set </a:t>
            </a:r>
            <a:r>
              <a:rPr lang="en-GB" sz="1200"/>
              <a:t>can also be used to modify the existing value with other operations (multiplication, division, subtraction) in this way.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Just Numbers</a:t>
            </a:r>
            <a:endParaRPr/>
          </a:p>
        </p:txBody>
      </p:sp>
      <p:sp>
        <p:nvSpPr>
          <p:cNvPr id="145" name="Google Shape;145;p19"/>
          <p:cNvSpPr txBox="1"/>
          <p:nvPr>
            <p:ph idx="1" type="body"/>
          </p:nvPr>
        </p:nvSpPr>
        <p:spPr>
          <a:xfrm>
            <a:off x="693255" y="1276069"/>
            <a:ext cx="6995700" cy="75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/>
              <a:t>Information – or </a:t>
            </a:r>
            <a:r>
              <a:rPr b="1" lang="en-GB"/>
              <a:t>data </a:t>
            </a:r>
            <a:r>
              <a:rPr lang="en-GB"/>
              <a:t>–</a:t>
            </a:r>
            <a:r>
              <a:rPr b="1" lang="en-GB"/>
              <a:t> </a:t>
            </a:r>
            <a:r>
              <a:rPr lang="en-GB"/>
              <a:t>can take many forms. Although in computer science we typically </a:t>
            </a:r>
            <a:r>
              <a:rPr lang="en-GB"/>
              <a:t>group </a:t>
            </a:r>
            <a:r>
              <a:rPr lang="en-GB"/>
              <a:t>types of information into several categories, in Scratch there are only two to worry about:</a:t>
            </a:r>
            <a:endParaRPr/>
          </a:p>
        </p:txBody>
      </p:sp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693255" y="2137919"/>
            <a:ext cx="4809900" cy="75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/>
              <a:t>Numeric</a:t>
            </a:r>
            <a:r>
              <a:rPr lang="en-GB"/>
              <a:t>: 	Any values that are comprised entirely of numbers.</a:t>
            </a:r>
            <a:br>
              <a:rPr lang="en-GB"/>
            </a:br>
            <a:r>
              <a:rPr lang="en-GB"/>
              <a:t>		Can be modified arithmetically ( + - </a:t>
            </a:r>
            <a:r>
              <a:rPr lang="en-GB"/>
              <a:t>*</a:t>
            </a:r>
            <a:r>
              <a:rPr lang="en-GB"/>
              <a:t> / )</a:t>
            </a:r>
            <a:endParaRPr/>
          </a:p>
        </p:txBody>
      </p:sp>
      <p:sp>
        <p:nvSpPr>
          <p:cNvPr id="147" name="Google Shape;147;p19"/>
          <p:cNvSpPr txBox="1"/>
          <p:nvPr>
            <p:ph idx="1" type="body"/>
          </p:nvPr>
        </p:nvSpPr>
        <p:spPr>
          <a:xfrm>
            <a:off x="6065855" y="2137919"/>
            <a:ext cx="2639100" cy="75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400"/>
              <a:t>1        15        2.3        -200.9</a:t>
            </a:r>
            <a:endParaRPr b="1" sz="1400"/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693255" y="3344894"/>
            <a:ext cx="5499900" cy="75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/>
              <a:t>String</a:t>
            </a:r>
            <a:r>
              <a:rPr lang="en-GB"/>
              <a:t>: 	Any values that contain some (or all) non-numeric characters.</a:t>
            </a:r>
            <a:br>
              <a:rPr lang="en-GB"/>
            </a:br>
            <a:r>
              <a:rPr lang="en-GB"/>
              <a:t>		Can include </a:t>
            </a:r>
            <a:r>
              <a:rPr b="1" lang="en-GB"/>
              <a:t>letters,</a:t>
            </a:r>
            <a:r>
              <a:rPr lang="en-GB"/>
              <a:t> </a:t>
            </a:r>
            <a:r>
              <a:rPr b="1" lang="en-GB"/>
              <a:t>numbers, and symbols.</a:t>
            </a:r>
            <a:endParaRPr b="1"/>
          </a:p>
        </p:txBody>
      </p:sp>
      <p:sp>
        <p:nvSpPr>
          <p:cNvPr id="149" name="Google Shape;149;p19"/>
          <p:cNvSpPr txBox="1"/>
          <p:nvPr>
            <p:ph idx="1" type="body"/>
          </p:nvPr>
        </p:nvSpPr>
        <p:spPr>
          <a:xfrm>
            <a:off x="6261405" y="3344894"/>
            <a:ext cx="2693100" cy="75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400"/>
              <a:t>“Hello World”      “Greetings123”</a:t>
            </a:r>
            <a:endParaRPr b="1"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400"/>
              <a:t>“Go!!!”                     “me@mail.com”</a:t>
            </a:r>
            <a:endParaRPr b="1" sz="1400"/>
          </a:p>
        </p:txBody>
      </p:sp>
      <p:sp>
        <p:nvSpPr>
          <p:cNvPr id="150" name="Google Shape;150;p19"/>
          <p:cNvSpPr txBox="1"/>
          <p:nvPr/>
        </p:nvSpPr>
        <p:spPr>
          <a:xfrm>
            <a:off x="6006330" y="4242294"/>
            <a:ext cx="29241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Note: </a:t>
            </a:r>
            <a:r>
              <a:rPr lang="en-GB" sz="900">
                <a:solidFill>
                  <a:srgbClr val="EB5600"/>
                </a:solidFill>
                <a:latin typeface="Raleway"/>
                <a:ea typeface="Raleway"/>
                <a:cs typeface="Raleway"/>
                <a:sym typeface="Raleway"/>
              </a:rPr>
              <a:t>In scratch, you won’t actually include the quotation marks (“”). However, in most languages this is common, and allows there to be a distinction between   5 and “5”</a:t>
            </a:r>
            <a:endParaRPr sz="900">
              <a:solidFill>
                <a:srgbClr val="1A998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484575" y="339546"/>
            <a:ext cx="7053600" cy="701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Few Other Points</a:t>
            </a:r>
            <a:endParaRPr/>
          </a:p>
        </p:txBody>
      </p:sp>
      <p:pic>
        <p:nvPicPr>
          <p:cNvPr id="156" name="Google Shape;15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675" y="1141037"/>
            <a:ext cx="2907148" cy="382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6200" y="3214675"/>
            <a:ext cx="2250350" cy="151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5259050" y="1211400"/>
            <a:ext cx="3706800" cy="38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Variable names should be descriptive and relevant to their intended use.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Typically you will create one variable for each piece of information we want to keep track of.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Values stored inside variables can be modified during the time that a program is running.</a:t>
            </a:r>
            <a:br>
              <a:rPr lang="en-GB" sz="1300">
                <a:latin typeface="Lato"/>
                <a:ea typeface="Lato"/>
                <a:cs typeface="Lato"/>
                <a:sym typeface="Lato"/>
              </a:rPr>
            </a:b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300">
                <a:latin typeface="Lato"/>
                <a:ea typeface="Lato"/>
                <a:cs typeface="Lato"/>
                <a:sym typeface="Lato"/>
              </a:rPr>
              <a:t>Variables hold the value 0 by default. Remember that variables </a:t>
            </a:r>
            <a:r>
              <a:rPr i="1" lang="en-GB" sz="1300">
                <a:latin typeface="Lato"/>
                <a:ea typeface="Lato"/>
                <a:cs typeface="Lato"/>
                <a:sym typeface="Lato"/>
              </a:rPr>
              <a:t>remember what they were storing the last time the program was run.</a:t>
            </a:r>
            <a:r>
              <a:rPr lang="en-GB" sz="1300">
                <a:latin typeface="Lato"/>
                <a:ea typeface="Lato"/>
                <a:cs typeface="Lato"/>
                <a:sym typeface="Lato"/>
              </a:rPr>
              <a:t> You may need to reset them at the start of your program!</a:t>
            </a:r>
            <a:br>
              <a:rPr lang="en-GB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br>
              <a:rPr lang="en-GB"/>
            </a:b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/>
        </p:nvSpPr>
        <p:spPr>
          <a:xfrm>
            <a:off x="1841550" y="1841600"/>
            <a:ext cx="5460900" cy="19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Demos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/>
        </p:nvSpPr>
        <p:spPr>
          <a:xfrm>
            <a:off x="1841550" y="1841600"/>
            <a:ext cx="5460900" cy="19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Demos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/>
        </p:nvSpPr>
        <p:spPr>
          <a:xfrm>
            <a:off x="1841550" y="1841600"/>
            <a:ext cx="5460900" cy="19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Demos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