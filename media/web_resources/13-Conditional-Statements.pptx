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EAB0"/>
    <a:srgbClr val="E1F2CE"/>
    <a:srgbClr val="B8E08C"/>
    <a:srgbClr val="CCFFFF"/>
    <a:srgbClr val="FFCC99"/>
    <a:srgbClr val="FF5050"/>
    <a:srgbClr val="FF9966"/>
    <a:srgbClr val="66FFFF"/>
    <a:srgbClr val="81DEFF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434" autoAdjust="0"/>
  </p:normalViewPr>
  <p:slideViewPr>
    <p:cSldViewPr snapToGrid="0">
      <p:cViewPr varScale="1">
        <p:scale>
          <a:sx n="79" d="100"/>
          <a:sy n="79" d="100"/>
        </p:scale>
        <p:origin x="120" y="178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2017-02-20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719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2017-02-20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2800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2017-02-20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8014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2017-02-20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367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2017-02-20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0849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2017-02-20</a:t>
            </a:fld>
            <a:endParaRPr lang="en-CA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2943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2017-02-20</a:t>
            </a:fld>
            <a:endParaRPr lang="en-CA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3430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2017-02-20</a:t>
            </a:fld>
            <a:endParaRPr lang="en-CA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83902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2017-02-20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2162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2017-02-20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2898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2017-02-20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14373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2017-02-20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031409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2017-02-20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373195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2017-02-20</a:t>
            </a:fld>
            <a:endParaRPr lang="en-C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05188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2017-02-20</a:t>
            </a:fld>
            <a:endParaRPr lang="en-C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58904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2017-02-20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17296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2017-02-20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3018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03FDC43-65FB-4098-9D7F-4570BC948176}" type="datetimeFigureOut">
              <a:rPr lang="en-CA" smtClean="0"/>
              <a:t>2017-02-20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37906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 smtClean="0"/>
              <a:t>Computer Science 20</a:t>
            </a:r>
            <a:endParaRPr lang="en-CA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Conditionals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29301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Conditionals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1" y="1455313"/>
            <a:ext cx="9792215" cy="1927967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Boolean values: True or False      </a:t>
            </a:r>
            <a:r>
              <a:rPr lang="en-US" i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(note: Capitalization is important!)</a:t>
            </a:r>
          </a:p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FFFF00"/>
                </a:solidFill>
              </a:rPr>
              <a:t>Boolean Expression </a:t>
            </a:r>
            <a:r>
              <a:rPr lang="en-US" dirty="0" smtClean="0"/>
              <a:t>is an expression that </a:t>
            </a:r>
            <a:r>
              <a:rPr lang="en-US" b="1" dirty="0" smtClean="0"/>
              <a:t>evaluates to a Boolean Value.</a:t>
            </a:r>
          </a:p>
          <a:p>
            <a:r>
              <a:rPr lang="en-US" dirty="0" smtClean="0"/>
              <a:t>For example, the </a:t>
            </a:r>
            <a:r>
              <a:rPr lang="en-US" b="1" dirty="0" smtClean="0"/>
              <a:t>equality operator (==)</a:t>
            </a:r>
            <a:r>
              <a:rPr lang="en-US" dirty="0" smtClean="0"/>
              <a:t> can be used to compare two values and produce the appropriate Boolean value (True or False)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03311" y="3181654"/>
            <a:ext cx="6178937" cy="12623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2130987" y="3690592"/>
            <a:ext cx="61789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CCFFFF"/>
                </a:solidFill>
              </a:rPr>
              <a:t>print (3 == 3)            	#prints True</a:t>
            </a:r>
          </a:p>
          <a:p>
            <a:r>
              <a:rPr lang="en-US" sz="2400" dirty="0" smtClean="0">
                <a:solidFill>
                  <a:srgbClr val="FFCC99"/>
                </a:solidFill>
              </a:rPr>
              <a:t>print (5 == 3) 		#prints False</a:t>
            </a:r>
            <a:endParaRPr lang="en-US" sz="2400" dirty="0">
              <a:solidFill>
                <a:srgbClr val="FFCC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1517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Comparison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705188"/>
            <a:ext cx="9727820" cy="687067"/>
          </a:xfrm>
        </p:spPr>
        <p:txBody>
          <a:bodyPr/>
          <a:lstStyle/>
          <a:p>
            <a:r>
              <a:rPr lang="en-US" dirty="0" smtClean="0"/>
              <a:t>There are six common comparison operators available to use: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2093976" y="3035808"/>
            <a:ext cx="76260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x==y		  # x is equal to y</a:t>
            </a:r>
          </a:p>
          <a:p>
            <a:r>
              <a:rPr lang="en-US" sz="2400" dirty="0" smtClean="0">
                <a:solidFill>
                  <a:srgbClr val="CCFFFF"/>
                </a:solidFill>
              </a:rPr>
              <a:t>x </a:t>
            </a:r>
            <a:r>
              <a:rPr lang="en-US" sz="2400" dirty="0">
                <a:solidFill>
                  <a:srgbClr val="CCFFFF"/>
                </a:solidFill>
              </a:rPr>
              <a:t>!= y               # x is not equal to y</a:t>
            </a:r>
          </a:p>
          <a:p>
            <a:r>
              <a:rPr lang="en-US" sz="2400" dirty="0"/>
              <a:t>x &gt; y                # x is greater than y</a:t>
            </a:r>
          </a:p>
          <a:p>
            <a:r>
              <a:rPr lang="en-US" sz="2400" dirty="0">
                <a:solidFill>
                  <a:srgbClr val="CCFFFF"/>
                </a:solidFill>
              </a:rPr>
              <a:t>x &lt; y                # x is less than y</a:t>
            </a:r>
          </a:p>
          <a:p>
            <a:r>
              <a:rPr lang="en-US" sz="2400" dirty="0"/>
              <a:t>x &gt;= y              </a:t>
            </a:r>
            <a:r>
              <a:rPr lang="en-US" sz="2400" dirty="0" smtClean="0"/>
              <a:t># </a:t>
            </a:r>
            <a:r>
              <a:rPr lang="en-US" sz="2400" dirty="0"/>
              <a:t>x is greater than or equal to y</a:t>
            </a:r>
          </a:p>
          <a:p>
            <a:r>
              <a:rPr lang="en-US" sz="2400" dirty="0">
                <a:solidFill>
                  <a:srgbClr val="CCFFFF"/>
                </a:solidFill>
              </a:rPr>
              <a:t>x &lt;= y              </a:t>
            </a:r>
            <a:r>
              <a:rPr lang="en-US" sz="2400" dirty="0" smtClean="0">
                <a:solidFill>
                  <a:srgbClr val="CCFFFF"/>
                </a:solidFill>
              </a:rPr>
              <a:t># </a:t>
            </a:r>
            <a:r>
              <a:rPr lang="en-US" sz="2400" dirty="0">
                <a:solidFill>
                  <a:srgbClr val="CCFFFF"/>
                </a:solidFill>
              </a:rPr>
              <a:t>x is less than or equal to y</a:t>
            </a:r>
          </a:p>
        </p:txBody>
      </p:sp>
    </p:spTree>
    <p:extLst>
      <p:ext uri="{BB962C8B-B14F-4D97-AF65-F5344CB8AC3E}">
        <p14:creationId xmlns:p14="http://schemas.microsoft.com/office/powerpoint/2010/main" val="3939564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Self-check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9"/>
            <a:ext cx="8946541" cy="909738"/>
          </a:xfrm>
        </p:spPr>
        <p:txBody>
          <a:bodyPr/>
          <a:lstStyle/>
          <a:p>
            <a:r>
              <a:rPr lang="en-US" dirty="0" smtClean="0"/>
              <a:t>Consider the following: which are Boolean </a:t>
            </a:r>
            <a:r>
              <a:rPr lang="en-US" dirty="0" smtClean="0"/>
              <a:t>expressions</a:t>
            </a:r>
            <a:r>
              <a:rPr lang="en-US" dirty="0" smtClean="0"/>
              <a:t>? </a:t>
            </a:r>
            <a:r>
              <a:rPr lang="en-US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(Evaluate to a Boolean Value)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721609" y="3346704"/>
            <a:ext cx="1362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True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721608" y="3892296"/>
            <a:ext cx="1563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3 == 4</a:t>
            </a: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3721608" y="4437888"/>
            <a:ext cx="1563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4 + 4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3721608" y="4983480"/>
            <a:ext cx="1563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4 + 4 &lt; 5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721608" y="5602224"/>
            <a:ext cx="1563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“False”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5190744" y="4518305"/>
            <a:ext cx="4636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FFC000"/>
                </a:solidFill>
              </a:rPr>
              <a:t>NOT A BOOLEAN STATEMENT</a:t>
            </a:r>
            <a:endParaRPr lang="en-US" sz="1400" b="1" dirty="0">
              <a:solidFill>
                <a:srgbClr val="FFC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90744" y="5690934"/>
            <a:ext cx="4636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FFC000"/>
                </a:solidFill>
              </a:rPr>
              <a:t>NOT A BOOLEAN STATEMENT</a:t>
            </a:r>
            <a:endParaRPr lang="en-US" sz="1400" b="1" dirty="0">
              <a:solidFill>
                <a:srgbClr val="FFC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90744" y="3968726"/>
            <a:ext cx="4636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CCFFFF"/>
                </a:solidFill>
              </a:rPr>
              <a:t>BOOLEAN STATEMENT</a:t>
            </a:r>
            <a:endParaRPr lang="en-US" sz="1400" b="1" dirty="0">
              <a:solidFill>
                <a:srgbClr val="CCFF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90744" y="5072456"/>
            <a:ext cx="4636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CCFFFF"/>
                </a:solidFill>
              </a:rPr>
              <a:t>BOOLEAN STATEMENT</a:t>
            </a:r>
            <a:endParaRPr lang="en-US" sz="1400" b="1" dirty="0">
              <a:solidFill>
                <a:srgbClr val="CC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90744" y="3432703"/>
            <a:ext cx="4636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CCFFFF"/>
                </a:solidFill>
              </a:rPr>
              <a:t>BOOLEAN STATEMENT</a:t>
            </a:r>
            <a:endParaRPr lang="en-US" sz="1400" b="1" dirty="0">
              <a:solidFill>
                <a:srgbClr val="CC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761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Conditionals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763743"/>
            <a:ext cx="5833197" cy="1456900"/>
          </a:xfrm>
        </p:spPr>
        <p:txBody>
          <a:bodyPr/>
          <a:lstStyle/>
          <a:p>
            <a:r>
              <a:rPr lang="en-US" dirty="0" smtClean="0"/>
              <a:t>Decisions (branches) can be built into programs by using an IF statement. If the </a:t>
            </a:r>
            <a:r>
              <a:rPr lang="en-US" dirty="0" smtClean="0">
                <a:solidFill>
                  <a:srgbClr val="FFFF00"/>
                </a:solidFill>
              </a:rPr>
              <a:t>Boolean Condition evaluates to True</a:t>
            </a:r>
            <a:r>
              <a:rPr lang="en-US" dirty="0" smtClean="0"/>
              <a:t>, the code block for the IF is run.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646111" y="1091663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solidFill>
                  <a:srgbClr val="FFC000"/>
                </a:solidFill>
              </a:rPr>
              <a:t>IF, IF/ELSE, IF/ELIF/ELSE</a:t>
            </a:r>
            <a:endParaRPr lang="en-CA" dirty="0">
              <a:solidFill>
                <a:srgbClr val="FFC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6651" y="585216"/>
            <a:ext cx="7445846" cy="6070587"/>
          </a:xfrm>
          <a:prstGeom prst="rect">
            <a:avLst/>
          </a:prstGeom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770803" y="3201303"/>
            <a:ext cx="5833197" cy="17979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 err="1" smtClean="0">
                <a:solidFill>
                  <a:srgbClr val="CEEAB0"/>
                </a:solidFill>
              </a:rPr>
              <a:t>num</a:t>
            </a:r>
            <a:r>
              <a:rPr lang="en-US" dirty="0">
                <a:solidFill>
                  <a:srgbClr val="CEEAB0"/>
                </a:solidFill>
              </a:rPr>
              <a:t> </a:t>
            </a:r>
            <a:r>
              <a:rPr lang="en-US" dirty="0" smtClean="0">
                <a:solidFill>
                  <a:srgbClr val="CEEAB0"/>
                </a:solidFill>
              </a:rPr>
              <a:t>= 15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CEEAB0"/>
                </a:solidFill>
              </a:rPr>
              <a:t>if </a:t>
            </a:r>
            <a:r>
              <a:rPr lang="en-US" dirty="0" err="1" smtClean="0">
                <a:solidFill>
                  <a:srgbClr val="CEEAB0"/>
                </a:solidFill>
              </a:rPr>
              <a:t>num</a:t>
            </a:r>
            <a:r>
              <a:rPr lang="en-US" dirty="0" smtClean="0">
                <a:solidFill>
                  <a:srgbClr val="CEEAB0"/>
                </a:solidFill>
              </a:rPr>
              <a:t> &gt; 10:</a:t>
            </a:r>
          </a:p>
          <a:p>
            <a:pPr marL="0" indent="0">
              <a:buNone/>
            </a:pPr>
            <a:r>
              <a:rPr lang="en-US" dirty="0">
                <a:solidFill>
                  <a:srgbClr val="CEEAB0"/>
                </a:solidFill>
              </a:rPr>
              <a:t>	</a:t>
            </a:r>
            <a:r>
              <a:rPr lang="en-US" dirty="0" smtClean="0">
                <a:solidFill>
                  <a:srgbClr val="CEEAB0"/>
                </a:solidFill>
              </a:rPr>
              <a:t>print (“Larger than 10”)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CEEAB0"/>
                </a:solidFill>
              </a:rPr>
              <a:t>print (“This gets printed no matter what!”)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295564" y="4999203"/>
            <a:ext cx="7583054" cy="1656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1800" b="1" dirty="0" smtClean="0"/>
              <a:t>Exercise: </a:t>
            </a:r>
          </a:p>
          <a:p>
            <a:r>
              <a:rPr lang="en-US" sz="1800" dirty="0" smtClean="0">
                <a:solidFill>
                  <a:schemeClr val="tx1">
                    <a:lumMod val="95000"/>
                  </a:schemeClr>
                </a:solidFill>
              </a:rPr>
              <a:t>Ask the user to enter their </a:t>
            </a:r>
            <a:r>
              <a:rPr lang="en-US" sz="1800" dirty="0" err="1" smtClean="0">
                <a:solidFill>
                  <a:schemeClr val="tx1">
                    <a:lumMod val="95000"/>
                  </a:schemeClr>
                </a:solidFill>
              </a:rPr>
              <a:t>favourite</a:t>
            </a:r>
            <a:r>
              <a:rPr lang="en-US" sz="1800" dirty="0" smtClean="0">
                <a:solidFill>
                  <a:schemeClr val="tx1">
                    <a:lumMod val="95000"/>
                  </a:schemeClr>
                </a:solidFill>
              </a:rPr>
              <a:t> day of the week.</a:t>
            </a:r>
          </a:p>
          <a:p>
            <a:r>
              <a:rPr lang="en-US" sz="1800" dirty="0" smtClean="0">
                <a:solidFill>
                  <a:schemeClr val="tx1">
                    <a:lumMod val="95000"/>
                  </a:schemeClr>
                </a:solidFill>
              </a:rPr>
              <a:t>If it is equal to “Wednesday”, print out “Mine too!”</a:t>
            </a:r>
          </a:p>
          <a:p>
            <a:r>
              <a:rPr lang="en-US" sz="1800" dirty="0" smtClean="0">
                <a:solidFill>
                  <a:schemeClr val="tx1">
                    <a:lumMod val="95000"/>
                  </a:schemeClr>
                </a:solidFill>
              </a:rPr>
              <a:t>Lastly, print “Thanks for the chat!” regardless of their input.</a:t>
            </a:r>
          </a:p>
        </p:txBody>
      </p:sp>
      <p:sp>
        <p:nvSpPr>
          <p:cNvPr id="10" name="Line Callout 1 (Accent Bar) 9"/>
          <p:cNvSpPr/>
          <p:nvPr/>
        </p:nvSpPr>
        <p:spPr>
          <a:xfrm>
            <a:off x="1034473" y="3676073"/>
            <a:ext cx="1330036" cy="378691"/>
          </a:xfrm>
          <a:prstGeom prst="accentCallout1">
            <a:avLst>
              <a:gd name="adj1" fmla="val 26067"/>
              <a:gd name="adj2" fmla="val 105556"/>
              <a:gd name="adj3" fmla="val -34840"/>
              <a:gd name="adj4" fmla="val 295142"/>
            </a:avLst>
          </a:prstGeom>
          <a:solidFill>
            <a:srgbClr val="FFFF00">
              <a:alpha val="25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122843" y="3371161"/>
            <a:ext cx="1597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FF00"/>
                </a:solidFill>
              </a:rPr>
              <a:t>Boolean Condition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1007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Conditionals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1763743"/>
            <a:ext cx="6281162" cy="1456900"/>
          </a:xfrm>
        </p:spPr>
        <p:txBody>
          <a:bodyPr/>
          <a:lstStyle/>
          <a:p>
            <a:r>
              <a:rPr lang="en-US" dirty="0" smtClean="0"/>
              <a:t>The ELSE block creates a new path to follow if the Boolean condition ends up being </a:t>
            </a:r>
            <a:r>
              <a:rPr lang="en-US" b="1" dirty="0" smtClean="0"/>
              <a:t>False</a:t>
            </a:r>
            <a:r>
              <a:rPr lang="en-US" dirty="0" smtClean="0"/>
              <a:t>.</a:t>
            </a:r>
          </a:p>
          <a:p>
            <a:endParaRPr lang="en-US" dirty="0" smtClean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646111" y="1091663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solidFill>
                  <a:srgbClr val="FFC000"/>
                </a:solidFill>
              </a:rPr>
              <a:t>IF, IF/ELSE, IF/ELIF/ELSE</a:t>
            </a:r>
            <a:endParaRPr lang="en-CA" dirty="0">
              <a:solidFill>
                <a:srgbClr val="FFC000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295564" y="4999203"/>
            <a:ext cx="8495896" cy="1656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1800" b="1" dirty="0" smtClean="0"/>
              <a:t>Exercise: </a:t>
            </a:r>
          </a:p>
          <a:p>
            <a:r>
              <a:rPr lang="en-US" sz="1800" dirty="0" smtClean="0">
                <a:solidFill>
                  <a:schemeClr val="tx1">
                    <a:lumMod val="95000"/>
                  </a:schemeClr>
                </a:solidFill>
              </a:rPr>
              <a:t>Modify your </a:t>
            </a:r>
            <a:r>
              <a:rPr lang="en-US" sz="1800" dirty="0" err="1" smtClean="0">
                <a:solidFill>
                  <a:schemeClr val="tx1">
                    <a:lumMod val="95000"/>
                  </a:schemeClr>
                </a:solidFill>
              </a:rPr>
              <a:t>favourite</a:t>
            </a:r>
            <a:r>
              <a:rPr lang="en-US" sz="1800" dirty="0" smtClean="0">
                <a:solidFill>
                  <a:schemeClr val="tx1">
                    <a:lumMod val="95000"/>
                  </a:schemeClr>
                </a:solidFill>
              </a:rPr>
              <a:t> day of the week program:</a:t>
            </a:r>
          </a:p>
          <a:p>
            <a:r>
              <a:rPr lang="en-US" sz="1800" dirty="0" smtClean="0">
                <a:solidFill>
                  <a:schemeClr val="tx1">
                    <a:lumMod val="95000"/>
                  </a:schemeClr>
                </a:solidFill>
              </a:rPr>
              <a:t>If the user enters “Wednesday”, still print out “Mine too!”.</a:t>
            </a:r>
          </a:p>
          <a:p>
            <a:r>
              <a:rPr lang="en-US" sz="1800" dirty="0" smtClean="0">
                <a:solidFill>
                  <a:schemeClr val="tx1">
                    <a:lumMod val="95000"/>
                  </a:schemeClr>
                </a:solidFill>
              </a:rPr>
              <a:t>If the user enters anything else, print out “I guess that day is alright…”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202" y="126784"/>
            <a:ext cx="7589511" cy="6187717"/>
          </a:xfrm>
          <a:prstGeom prst="rect">
            <a:avLst/>
          </a:prstGeom>
        </p:spPr>
      </p:pic>
      <p:sp>
        <p:nvSpPr>
          <p:cNvPr id="10" name="Content Placeholder 2"/>
          <p:cNvSpPr txBox="1">
            <a:spLocks/>
          </p:cNvSpPr>
          <p:nvPr/>
        </p:nvSpPr>
        <p:spPr>
          <a:xfrm>
            <a:off x="646111" y="2633022"/>
            <a:ext cx="6346094" cy="236618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 err="1" smtClean="0">
                <a:solidFill>
                  <a:srgbClr val="CEEAB0"/>
                </a:solidFill>
              </a:rPr>
              <a:t>num</a:t>
            </a:r>
            <a:r>
              <a:rPr lang="en-US" dirty="0">
                <a:solidFill>
                  <a:srgbClr val="CEEAB0"/>
                </a:solidFill>
              </a:rPr>
              <a:t> </a:t>
            </a:r>
            <a:r>
              <a:rPr lang="en-US" dirty="0" smtClean="0">
                <a:solidFill>
                  <a:srgbClr val="CEEAB0"/>
                </a:solidFill>
              </a:rPr>
              <a:t>= 5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CEEAB0"/>
                </a:solidFill>
              </a:rPr>
              <a:t>if </a:t>
            </a:r>
            <a:r>
              <a:rPr lang="en-US" dirty="0" err="1" smtClean="0">
                <a:solidFill>
                  <a:srgbClr val="CEEAB0"/>
                </a:solidFill>
              </a:rPr>
              <a:t>num</a:t>
            </a:r>
            <a:r>
              <a:rPr lang="en-US" dirty="0" smtClean="0">
                <a:solidFill>
                  <a:srgbClr val="CEEAB0"/>
                </a:solidFill>
              </a:rPr>
              <a:t> &gt; 10:</a:t>
            </a:r>
          </a:p>
          <a:p>
            <a:pPr marL="0" indent="0">
              <a:buNone/>
            </a:pPr>
            <a:r>
              <a:rPr lang="en-US" dirty="0">
                <a:solidFill>
                  <a:srgbClr val="CEEAB0"/>
                </a:solidFill>
              </a:rPr>
              <a:t>	</a:t>
            </a:r>
            <a:r>
              <a:rPr lang="en-US" dirty="0" smtClean="0">
                <a:solidFill>
                  <a:srgbClr val="CEEAB0"/>
                </a:solidFill>
              </a:rPr>
              <a:t>print (“Larger than 10”)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CEEAB0"/>
                </a:solidFill>
              </a:rPr>
              <a:t>else:</a:t>
            </a:r>
          </a:p>
          <a:p>
            <a:pPr marL="0" indent="0">
              <a:buNone/>
            </a:pPr>
            <a:r>
              <a:rPr lang="en-US" dirty="0">
                <a:solidFill>
                  <a:srgbClr val="CEEAB0"/>
                </a:solidFill>
              </a:rPr>
              <a:t>	</a:t>
            </a:r>
            <a:r>
              <a:rPr lang="en-US" dirty="0" smtClean="0">
                <a:solidFill>
                  <a:srgbClr val="CEEAB0"/>
                </a:solidFill>
              </a:rPr>
              <a:t>print (“Less than 10”)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CEEAB0"/>
                </a:solidFill>
              </a:rPr>
              <a:t>print (“program complete”)</a:t>
            </a:r>
          </a:p>
        </p:txBody>
      </p:sp>
    </p:spTree>
    <p:extLst>
      <p:ext uri="{BB962C8B-B14F-4D97-AF65-F5344CB8AC3E}">
        <p14:creationId xmlns:p14="http://schemas.microsoft.com/office/powerpoint/2010/main" val="2445092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Conditionals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1763743"/>
            <a:ext cx="6281162" cy="1456900"/>
          </a:xfrm>
        </p:spPr>
        <p:txBody>
          <a:bodyPr/>
          <a:lstStyle/>
          <a:p>
            <a:r>
              <a:rPr lang="en-US" dirty="0" smtClean="0"/>
              <a:t>Conditionals can be nested to create more complex decisions.</a:t>
            </a:r>
          </a:p>
          <a:p>
            <a:endParaRPr lang="en-US" dirty="0" smtClean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646111" y="1091663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solidFill>
                  <a:srgbClr val="FFC000"/>
                </a:solidFill>
              </a:rPr>
              <a:t>IF, IF/ELSE, IF/ELIF/ELSE</a:t>
            </a:r>
            <a:endParaRPr lang="en-CA" dirty="0">
              <a:solidFill>
                <a:srgbClr val="FFC000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141870" y="2798275"/>
            <a:ext cx="4882140" cy="371035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 err="1" smtClean="0">
                <a:solidFill>
                  <a:srgbClr val="E1F2CE"/>
                </a:solidFill>
              </a:rPr>
              <a:t>num</a:t>
            </a:r>
            <a:r>
              <a:rPr lang="en-US" dirty="0">
                <a:solidFill>
                  <a:srgbClr val="E1F2CE"/>
                </a:solidFill>
              </a:rPr>
              <a:t> </a:t>
            </a:r>
            <a:r>
              <a:rPr lang="en-US" dirty="0" smtClean="0">
                <a:solidFill>
                  <a:srgbClr val="E1F2CE"/>
                </a:solidFill>
              </a:rPr>
              <a:t>= 5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E1F2CE"/>
                </a:solidFill>
              </a:rPr>
              <a:t>if </a:t>
            </a:r>
            <a:r>
              <a:rPr lang="en-US" dirty="0" err="1" smtClean="0">
                <a:solidFill>
                  <a:srgbClr val="E1F2CE"/>
                </a:solidFill>
              </a:rPr>
              <a:t>num</a:t>
            </a:r>
            <a:r>
              <a:rPr lang="en-US" dirty="0" smtClean="0">
                <a:solidFill>
                  <a:srgbClr val="E1F2CE"/>
                </a:solidFill>
              </a:rPr>
              <a:t> &gt; 10:</a:t>
            </a:r>
          </a:p>
          <a:p>
            <a:pPr marL="0" indent="0">
              <a:buNone/>
            </a:pPr>
            <a:r>
              <a:rPr lang="en-US" dirty="0">
                <a:solidFill>
                  <a:srgbClr val="E1F2CE"/>
                </a:solidFill>
              </a:rPr>
              <a:t>	</a:t>
            </a:r>
            <a:r>
              <a:rPr lang="en-US" dirty="0" smtClean="0">
                <a:solidFill>
                  <a:srgbClr val="E1F2CE"/>
                </a:solidFill>
              </a:rPr>
              <a:t>print (“Larger than 10”)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E1F2CE"/>
                </a:solidFill>
              </a:rPr>
              <a:t>else:</a:t>
            </a:r>
          </a:p>
          <a:p>
            <a:pPr marL="0" indent="0">
              <a:buNone/>
            </a:pPr>
            <a:r>
              <a:rPr lang="en-US" dirty="0">
                <a:solidFill>
                  <a:srgbClr val="E1F2CE"/>
                </a:solidFill>
              </a:rPr>
              <a:t>	</a:t>
            </a:r>
            <a:r>
              <a:rPr lang="en-US" dirty="0" smtClean="0">
                <a:solidFill>
                  <a:srgbClr val="E1F2CE"/>
                </a:solidFill>
              </a:rPr>
              <a:t>if </a:t>
            </a:r>
            <a:r>
              <a:rPr lang="en-US" dirty="0" err="1" smtClean="0">
                <a:solidFill>
                  <a:srgbClr val="E1F2CE"/>
                </a:solidFill>
              </a:rPr>
              <a:t>num</a:t>
            </a:r>
            <a:r>
              <a:rPr lang="en-US" dirty="0" smtClean="0">
                <a:solidFill>
                  <a:srgbClr val="E1F2CE"/>
                </a:solidFill>
              </a:rPr>
              <a:t> &gt; 0: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E1F2CE"/>
                </a:solidFill>
              </a:rPr>
              <a:t>		print (“between 1 and 9”)</a:t>
            </a:r>
          </a:p>
          <a:p>
            <a:pPr marL="0" indent="0">
              <a:buNone/>
            </a:pPr>
            <a:r>
              <a:rPr lang="en-US" dirty="0">
                <a:solidFill>
                  <a:srgbClr val="E1F2CE"/>
                </a:solidFill>
              </a:rPr>
              <a:t>	</a:t>
            </a:r>
            <a:r>
              <a:rPr lang="en-US" dirty="0" smtClean="0">
                <a:solidFill>
                  <a:srgbClr val="E1F2CE"/>
                </a:solidFill>
              </a:rPr>
              <a:t>else:</a:t>
            </a:r>
          </a:p>
          <a:p>
            <a:pPr marL="0" indent="0">
              <a:buNone/>
            </a:pPr>
            <a:r>
              <a:rPr lang="en-US" dirty="0">
                <a:solidFill>
                  <a:srgbClr val="E1F2CE"/>
                </a:solidFill>
              </a:rPr>
              <a:t>	</a:t>
            </a:r>
            <a:r>
              <a:rPr lang="en-US" dirty="0" smtClean="0">
                <a:solidFill>
                  <a:srgbClr val="E1F2CE"/>
                </a:solidFill>
              </a:rPr>
              <a:t>	print (“0 or lower!”)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E1F2CE"/>
                </a:solidFill>
              </a:rPr>
              <a:t>print(“program complete”)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8251" y="0"/>
            <a:ext cx="6663749" cy="809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492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One: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1953" y="1853248"/>
            <a:ext cx="8946541" cy="419548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1. Write a function which is given an exam mark, and it returns a string — the grade for that mark — according to this scheme: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Mark	Grade</a:t>
            </a:r>
          </a:p>
          <a:p>
            <a:pPr marL="0" indent="0">
              <a:buNone/>
            </a:pPr>
            <a:r>
              <a:rPr lang="en-US" dirty="0"/>
              <a:t>&gt;= 90	A</a:t>
            </a:r>
          </a:p>
          <a:p>
            <a:pPr marL="0" indent="0">
              <a:buNone/>
            </a:pPr>
            <a:r>
              <a:rPr lang="en-US" dirty="0"/>
              <a:t>[80-90)	B</a:t>
            </a:r>
          </a:p>
          <a:p>
            <a:pPr marL="0" indent="0">
              <a:buNone/>
            </a:pPr>
            <a:r>
              <a:rPr lang="en-US" dirty="0"/>
              <a:t>[70-80)	C</a:t>
            </a:r>
          </a:p>
          <a:p>
            <a:pPr marL="0" indent="0">
              <a:buNone/>
            </a:pPr>
            <a:r>
              <a:rPr lang="en-US" dirty="0"/>
              <a:t>[60-70)	D</a:t>
            </a:r>
          </a:p>
          <a:p>
            <a:pPr marL="0" indent="0">
              <a:buNone/>
            </a:pPr>
            <a:r>
              <a:rPr lang="en-US" dirty="0"/>
              <a:t>&lt; 60	F</a:t>
            </a:r>
          </a:p>
          <a:p>
            <a:pPr marL="0" indent="0">
              <a:buNone/>
            </a:pPr>
            <a:r>
              <a:rPr lang="en-US" dirty="0"/>
              <a:t>The square and round brackets denote closed and open intervals. A closed interval includes the number, and open interval excludes it. So 79.99999 gets grade C , but 80 gets grade B.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Test your function by printing the mark and the grade for a number of different marks.</a:t>
            </a:r>
          </a:p>
        </p:txBody>
      </p:sp>
    </p:spTree>
    <p:extLst>
      <p:ext uri="{BB962C8B-B14F-4D97-AF65-F5344CB8AC3E}">
        <p14:creationId xmlns:p14="http://schemas.microsoft.com/office/powerpoint/2010/main" val="555945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Two: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 smtClean="0"/>
              <a:t>Step One:</a:t>
            </a:r>
          </a:p>
          <a:p>
            <a:pPr marL="0" indent="0">
              <a:buNone/>
            </a:pPr>
            <a:r>
              <a:rPr lang="en-US" dirty="0"/>
              <a:t>Write a function called </a:t>
            </a:r>
            <a:r>
              <a:rPr lang="en-US" dirty="0" err="1"/>
              <a:t>is_even</a:t>
            </a:r>
            <a:r>
              <a:rPr lang="en-US" dirty="0"/>
              <a:t>(n) that takes an integer as an argument and returns True if the argument is an even number and False if it is odd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Step Two:</a:t>
            </a:r>
          </a:p>
          <a:p>
            <a:pPr marL="0" indent="0">
              <a:buNone/>
            </a:pPr>
            <a:r>
              <a:rPr lang="en-US" dirty="0"/>
              <a:t>Now write the function </a:t>
            </a:r>
            <a:r>
              <a:rPr lang="en-US" dirty="0" err="1"/>
              <a:t>is_odd</a:t>
            </a:r>
            <a:r>
              <a:rPr lang="en-US" dirty="0"/>
              <a:t>(n) that returns True when n is odd and False otherwise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Step Three:</a:t>
            </a:r>
          </a:p>
          <a:p>
            <a:pPr marL="0" indent="0">
              <a:buNone/>
            </a:pPr>
            <a:r>
              <a:rPr lang="en-US" dirty="0"/>
              <a:t>Modify </a:t>
            </a:r>
            <a:r>
              <a:rPr lang="en-US" dirty="0" err="1"/>
              <a:t>is_odd</a:t>
            </a:r>
            <a:r>
              <a:rPr lang="en-US" dirty="0"/>
              <a:t> so that it uses a call to </a:t>
            </a:r>
            <a:r>
              <a:rPr lang="en-US" dirty="0" err="1"/>
              <a:t>is_even</a:t>
            </a:r>
            <a:r>
              <a:rPr lang="en-US" dirty="0"/>
              <a:t> to determine if its argument is an odd integer.</a:t>
            </a:r>
          </a:p>
        </p:txBody>
      </p:sp>
    </p:spTree>
    <p:extLst>
      <p:ext uri="{BB962C8B-B14F-4D97-AF65-F5344CB8AC3E}">
        <p14:creationId xmlns:p14="http://schemas.microsoft.com/office/powerpoint/2010/main" val="1730937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4381</TotalTime>
  <Words>423</Words>
  <Application>Microsoft Office PowerPoint</Application>
  <PresentationFormat>Widescreen</PresentationFormat>
  <Paragraphs>87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</vt:lpstr>
      <vt:lpstr>Computer Science 20</vt:lpstr>
      <vt:lpstr>Conditionals</vt:lpstr>
      <vt:lpstr>Comparison Operators</vt:lpstr>
      <vt:lpstr>Self-check</vt:lpstr>
      <vt:lpstr>Conditionals</vt:lpstr>
      <vt:lpstr>Conditionals</vt:lpstr>
      <vt:lpstr>Conditionals</vt:lpstr>
      <vt:lpstr>Exercise One:</vt:lpstr>
      <vt:lpstr>Exercise Two:</vt:lpstr>
    </vt:vector>
  </TitlesOfParts>
  <Company>Saskatoon Public Schools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Science 20</dc:title>
  <dc:creator>Scott, Stefan Graham (Stefan)</dc:creator>
  <cp:lastModifiedBy>stefan scott</cp:lastModifiedBy>
  <cp:revision>104</cp:revision>
  <dcterms:created xsi:type="dcterms:W3CDTF">2016-08-31T14:32:10Z</dcterms:created>
  <dcterms:modified xsi:type="dcterms:W3CDTF">2017-02-20T21:26:10Z</dcterms:modified>
</cp:coreProperties>
</file>