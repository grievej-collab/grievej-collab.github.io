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67" r:id="rId3"/>
    <p:sldId id="268" r:id="rId4"/>
    <p:sldId id="269" r:id="rId5"/>
    <p:sldId id="271" r:id="rId6"/>
    <p:sldId id="270" r:id="rId7"/>
    <p:sldId id="272" r:id="rId8"/>
    <p:sldId id="273" r:id="rId9"/>
    <p:sldId id="274" r:id="rId10"/>
    <p:sldId id="275" r:id="rId11"/>
    <p:sldId id="282" r:id="rId12"/>
    <p:sldId id="27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5734"/>
    <a:srgbClr val="164A2B"/>
    <a:srgbClr val="14294C"/>
    <a:srgbClr val="DAC2EC"/>
    <a:srgbClr val="E8D8F4"/>
    <a:srgbClr val="BF95DF"/>
    <a:srgbClr val="DFC9EF"/>
    <a:srgbClr val="934BC9"/>
    <a:srgbClr val="66FF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434" autoAdjust="0"/>
  </p:normalViewPr>
  <p:slideViewPr>
    <p:cSldViewPr snapToGrid="0">
      <p:cViewPr varScale="1">
        <p:scale>
          <a:sx n="69" d="100"/>
          <a:sy n="69" d="100"/>
        </p:scale>
        <p:origin x="696" y="6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03FDC43-65FB-4098-9D7F-4570BC948176}" type="datetimeFigureOut">
              <a:rPr lang="en-CA" smtClean="0"/>
              <a:t>2017-11-13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96719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3FDC43-65FB-4098-9D7F-4570BC948176}" type="datetimeFigureOut">
              <a:rPr lang="en-CA" smtClean="0"/>
              <a:t>2017-11-13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822800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3FDC43-65FB-4098-9D7F-4570BC948176}" type="datetimeFigureOut">
              <a:rPr lang="en-CA" smtClean="0"/>
              <a:t>2017-11-13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348014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03FDC43-65FB-4098-9D7F-4570BC948176}" type="datetimeFigureOut">
              <a:rPr lang="en-CA" smtClean="0"/>
              <a:t>2017-11-13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369367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03FDC43-65FB-4098-9D7F-4570BC948176}" type="datetimeFigureOut">
              <a:rPr lang="en-CA" smtClean="0"/>
              <a:t>2017-11-13</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2470849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C03FDC43-65FB-4098-9D7F-4570BC948176}" type="datetimeFigureOut">
              <a:rPr lang="en-CA" smtClean="0"/>
              <a:t>2017-11-13</a:t>
            </a:fld>
            <a:endParaRPr lang="en-CA"/>
          </a:p>
        </p:txBody>
      </p:sp>
      <p:sp>
        <p:nvSpPr>
          <p:cNvPr id="5" name="Footer Placeholder 3"/>
          <p:cNvSpPr>
            <a:spLocks noGrp="1"/>
          </p:cNvSpPr>
          <p:nvPr>
            <p:ph type="ftr" sz="quarter" idx="11"/>
          </p:nvPr>
        </p:nvSpPr>
        <p:spPr/>
        <p:txBody>
          <a:bodyPr/>
          <a:lstStyle/>
          <a:p>
            <a:endParaRPr lang="en-CA"/>
          </a:p>
        </p:txBody>
      </p:sp>
      <p:sp>
        <p:nvSpPr>
          <p:cNvPr id="6" name="Slide Number Placeholder 4"/>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1032943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03FDC43-65FB-4098-9D7F-4570BC948176}" type="datetimeFigureOut">
              <a:rPr lang="en-CA" smtClean="0"/>
              <a:t>2017-11-13</a:t>
            </a:fld>
            <a:endParaRPr lang="en-CA"/>
          </a:p>
        </p:txBody>
      </p:sp>
      <p:sp>
        <p:nvSpPr>
          <p:cNvPr id="5" name="Footer Placeholder 2"/>
          <p:cNvSpPr>
            <a:spLocks noGrp="1"/>
          </p:cNvSpPr>
          <p:nvPr>
            <p:ph type="ftr" sz="quarter" idx="11"/>
          </p:nvPr>
        </p:nvSpPr>
        <p:spPr/>
        <p:txBody>
          <a:bodyPr/>
          <a:lstStyle/>
          <a:p>
            <a:endParaRPr lang="en-CA"/>
          </a:p>
        </p:txBody>
      </p:sp>
      <p:sp>
        <p:nvSpPr>
          <p:cNvPr id="6" name="Slide Number Placeholder 3"/>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2963430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C03FDC43-65FB-4098-9D7F-4570BC948176}" type="datetimeFigureOut">
              <a:rPr lang="en-CA" smtClean="0"/>
              <a:t>2017-11-13</a:t>
            </a:fld>
            <a:endParaRPr lang="en-CA"/>
          </a:p>
        </p:txBody>
      </p:sp>
      <p:sp>
        <p:nvSpPr>
          <p:cNvPr id="5" name="Footer Placeholder 5"/>
          <p:cNvSpPr>
            <a:spLocks noGrp="1"/>
          </p:cNvSpPr>
          <p:nvPr>
            <p:ph type="ftr" sz="quarter" idx="11"/>
          </p:nvPr>
        </p:nvSpPr>
        <p:spPr/>
        <p:txBody>
          <a:bodyPr/>
          <a:lstStyle/>
          <a:p>
            <a:endParaRPr lang="en-CA"/>
          </a:p>
        </p:txBody>
      </p:sp>
      <p:sp>
        <p:nvSpPr>
          <p:cNvPr id="6" name="Slide Number Placeholder 6"/>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2883902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3FDC43-65FB-4098-9D7F-4570BC948176}" type="datetimeFigureOut">
              <a:rPr lang="en-CA" smtClean="0"/>
              <a:t>2017-11-13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1422162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3FDC43-65FB-4098-9D7F-4570BC948176}" type="datetimeFigureOut">
              <a:rPr lang="en-CA" smtClean="0"/>
              <a:t>2017-11-13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1662898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3FDC43-65FB-4098-9D7F-4570BC948176}" type="datetimeFigureOut">
              <a:rPr lang="en-CA" smtClean="0"/>
              <a:t>2017-11-13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33414373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3FDC43-65FB-4098-9D7F-4570BC948176}" type="datetimeFigureOut">
              <a:rPr lang="en-CA" smtClean="0"/>
              <a:t>2017-11-13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59E6A50-E936-4F2E-ABC9-5A92FA533419}" type="slidenum">
              <a:rPr lang="en-CA" smtClean="0"/>
              <a:t>‹#›</a:t>
            </a:fld>
            <a:endParaRPr lang="en-CA"/>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31031409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3FDC43-65FB-4098-9D7F-4570BC948176}" type="datetimeFigureOut">
              <a:rPr lang="en-CA" smtClean="0"/>
              <a:t>2017-11-13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32373195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03FDC43-65FB-4098-9D7F-4570BC948176}" type="datetimeFigureOut">
              <a:rPr lang="en-CA" smtClean="0"/>
              <a:t>2017-11-13</a:t>
            </a:fld>
            <a:endParaRPr lang="en-CA"/>
          </a:p>
        </p:txBody>
      </p:sp>
      <p:sp>
        <p:nvSpPr>
          <p:cNvPr id="4"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4905188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03FDC43-65FB-4098-9D7F-4570BC948176}" type="datetimeFigureOut">
              <a:rPr lang="en-CA" smtClean="0"/>
              <a:t>2017-11-13</a:t>
            </a:fld>
            <a:endParaRPr lang="en-CA"/>
          </a:p>
        </p:txBody>
      </p:sp>
      <p:sp>
        <p:nvSpPr>
          <p:cNvPr id="4"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1775890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3FDC43-65FB-4098-9D7F-4570BC948176}" type="datetimeFigureOut">
              <a:rPr lang="en-CA" smtClean="0"/>
              <a:t>2017-11-13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4917296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3FDC43-65FB-4098-9D7F-4570BC948176}" type="datetimeFigureOut">
              <a:rPr lang="en-CA" smtClean="0"/>
              <a:t>2017-11-13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59E6A50-E936-4F2E-ABC9-5A92FA533419}" type="slidenum">
              <a:rPr lang="en-CA" smtClean="0"/>
              <a:t>‹#›</a:t>
            </a:fld>
            <a:endParaRPr lang="en-CA"/>
          </a:p>
        </p:txBody>
      </p:sp>
    </p:spTree>
    <p:extLst>
      <p:ext uri="{BB962C8B-B14F-4D97-AF65-F5344CB8AC3E}">
        <p14:creationId xmlns:p14="http://schemas.microsoft.com/office/powerpoint/2010/main" val="2213018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03FDC43-65FB-4098-9D7F-4570BC948176}" type="datetimeFigureOut">
              <a:rPr lang="en-CA" smtClean="0"/>
              <a:t>2017-11-13</a:t>
            </a:fld>
            <a:endParaRPr lang="en-CA"/>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CA"/>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E59E6A50-E936-4F2E-ABC9-5A92FA533419}" type="slidenum">
              <a:rPr lang="en-CA" smtClean="0"/>
              <a:t>‹#›</a:t>
            </a:fld>
            <a:endParaRPr lang="en-CA"/>
          </a:p>
        </p:txBody>
      </p:sp>
    </p:spTree>
    <p:extLst>
      <p:ext uri="{BB962C8B-B14F-4D97-AF65-F5344CB8AC3E}">
        <p14:creationId xmlns:p14="http://schemas.microsoft.com/office/powerpoint/2010/main" val="1723790610"/>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6000" dirty="0" smtClean="0"/>
              <a:t>Computer Science 20</a:t>
            </a:r>
            <a:endParaRPr lang="en-CA" sz="6000" dirty="0"/>
          </a:p>
        </p:txBody>
      </p:sp>
      <p:sp>
        <p:nvSpPr>
          <p:cNvPr id="3" name="Subtitle 2"/>
          <p:cNvSpPr>
            <a:spLocks noGrp="1"/>
          </p:cNvSpPr>
          <p:nvPr>
            <p:ph type="subTitle" idx="1"/>
          </p:nvPr>
        </p:nvSpPr>
        <p:spPr/>
        <p:txBody>
          <a:bodyPr/>
          <a:lstStyle/>
          <a:p>
            <a:r>
              <a:rPr lang="en-US" dirty="0" smtClean="0">
                <a:solidFill>
                  <a:srgbClr val="92D050"/>
                </a:solidFill>
              </a:rPr>
              <a:t>FUNCTIONS AND INFORMATION SHARING</a:t>
            </a:r>
            <a:endParaRPr lang="en-CA" dirty="0">
              <a:solidFill>
                <a:srgbClr val="92D050"/>
              </a:solidFill>
            </a:endParaRPr>
          </a:p>
        </p:txBody>
      </p:sp>
    </p:spTree>
    <p:extLst>
      <p:ext uri="{BB962C8B-B14F-4D97-AF65-F5344CB8AC3E}">
        <p14:creationId xmlns:p14="http://schemas.microsoft.com/office/powerpoint/2010/main" val="8293019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CA" dirty="0"/>
          </a:p>
        </p:txBody>
      </p:sp>
      <p:sp>
        <p:nvSpPr>
          <p:cNvPr id="3" name="Content Placeholder 2"/>
          <p:cNvSpPr>
            <a:spLocks noGrp="1"/>
          </p:cNvSpPr>
          <p:nvPr>
            <p:ph idx="1"/>
          </p:nvPr>
        </p:nvSpPr>
        <p:spPr>
          <a:xfrm>
            <a:off x="1103312" y="1742032"/>
            <a:ext cx="8946541" cy="4506367"/>
          </a:xfrm>
        </p:spPr>
        <p:txBody>
          <a:bodyPr/>
          <a:lstStyle/>
          <a:p>
            <a:r>
              <a:rPr lang="en-US" dirty="0" smtClean="0"/>
              <a:t>Functions allow us to </a:t>
            </a:r>
            <a:r>
              <a:rPr lang="en-US" b="1" dirty="0" smtClean="0"/>
              <a:t>build reusable</a:t>
            </a:r>
            <a:r>
              <a:rPr lang="en-US" dirty="0" smtClean="0"/>
              <a:t> code in our programs.</a:t>
            </a:r>
          </a:p>
          <a:p>
            <a:r>
              <a:rPr lang="en-US" dirty="0" smtClean="0"/>
              <a:t>We’ve had some preliminary experience in working with functions in </a:t>
            </a:r>
            <a:r>
              <a:rPr lang="en-US" dirty="0" err="1" smtClean="0"/>
              <a:t>Reeborg</a:t>
            </a:r>
            <a:r>
              <a:rPr lang="en-US" dirty="0" smtClean="0"/>
              <a:t>. Setting them up in Python is very similar:</a:t>
            </a:r>
            <a:br>
              <a:rPr lang="en-US" dirty="0" smtClean="0"/>
            </a:br>
            <a:endParaRPr lang="en-US" dirty="0" smtClean="0"/>
          </a:p>
          <a:p>
            <a:pPr marL="0" indent="0">
              <a:buNone/>
            </a:pPr>
            <a:r>
              <a:rPr lang="en-US" dirty="0"/>
              <a:t>	</a:t>
            </a:r>
            <a:r>
              <a:rPr lang="en-US" dirty="0" smtClean="0"/>
              <a:t/>
            </a:r>
            <a:br>
              <a:rPr lang="en-US" dirty="0" smtClean="0"/>
            </a:br>
            <a:endParaRPr lang="en-US" dirty="0"/>
          </a:p>
          <a:p>
            <a:pPr marL="0" indent="0">
              <a:buNone/>
            </a:pPr>
            <a:r>
              <a:rPr lang="en-US" dirty="0"/>
              <a:t>	</a:t>
            </a:r>
            <a:r>
              <a:rPr lang="en-US" dirty="0" smtClean="0"/>
              <a:t>			</a:t>
            </a:r>
            <a:r>
              <a:rPr lang="en-US" dirty="0" err="1" smtClean="0"/>
              <a:t>def</a:t>
            </a:r>
            <a:r>
              <a:rPr lang="en-US" dirty="0" smtClean="0"/>
              <a:t> </a:t>
            </a:r>
            <a:r>
              <a:rPr lang="en-US" dirty="0"/>
              <a:t>greeting():</a:t>
            </a:r>
          </a:p>
          <a:p>
            <a:pPr marL="0" indent="0">
              <a:buNone/>
            </a:pPr>
            <a:r>
              <a:rPr lang="en-US" dirty="0"/>
              <a:t>    </a:t>
            </a:r>
            <a:r>
              <a:rPr lang="en-US" dirty="0" smtClean="0"/>
              <a:t>					name </a:t>
            </a:r>
            <a:r>
              <a:rPr lang="en-US" dirty="0"/>
              <a:t>= </a:t>
            </a:r>
            <a:r>
              <a:rPr lang="en-US" dirty="0" smtClean="0"/>
              <a:t>input</a:t>
            </a:r>
            <a:r>
              <a:rPr lang="en-US" dirty="0"/>
              <a:t>("What is your name?")</a:t>
            </a:r>
          </a:p>
          <a:p>
            <a:pPr marL="0" indent="0">
              <a:buNone/>
            </a:pPr>
            <a:r>
              <a:rPr lang="en-US" dirty="0"/>
              <a:t>	</a:t>
            </a:r>
            <a:r>
              <a:rPr lang="en-US" dirty="0" smtClean="0"/>
              <a:t>				print</a:t>
            </a:r>
            <a:r>
              <a:rPr lang="en-US" dirty="0"/>
              <a:t>("Hi there, " + name + "!")</a:t>
            </a:r>
            <a:endParaRPr lang="en-CA" dirty="0"/>
          </a:p>
        </p:txBody>
      </p:sp>
      <p:sp>
        <p:nvSpPr>
          <p:cNvPr id="4" name="Line Callout 1 (Accent Bar) 3"/>
          <p:cNvSpPr/>
          <p:nvPr/>
        </p:nvSpPr>
        <p:spPr>
          <a:xfrm>
            <a:off x="3035455" y="4039642"/>
            <a:ext cx="477815" cy="266041"/>
          </a:xfrm>
          <a:prstGeom prst="accentCallout1">
            <a:avLst>
              <a:gd name="adj1" fmla="val 18750"/>
              <a:gd name="adj2" fmla="val -8333"/>
              <a:gd name="adj3" fmla="val -38743"/>
              <a:gd name="adj4" fmla="val -187174"/>
            </a:avLst>
          </a:prstGeom>
          <a:solidFill>
            <a:srgbClr val="66FFFF">
              <a:alpha val="31000"/>
            </a:srgbClr>
          </a:solidFill>
          <a:ln>
            <a:solidFill>
              <a:srgbClr val="66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Line Callout 1 (Accent Bar) 4"/>
          <p:cNvSpPr/>
          <p:nvPr/>
        </p:nvSpPr>
        <p:spPr>
          <a:xfrm>
            <a:off x="3562432" y="4039641"/>
            <a:ext cx="1049345" cy="266041"/>
          </a:xfrm>
          <a:prstGeom prst="accentCallout1">
            <a:avLst>
              <a:gd name="adj1" fmla="val 19150"/>
              <a:gd name="adj2" fmla="val 97803"/>
              <a:gd name="adj3" fmla="val -124833"/>
              <a:gd name="adj4" fmla="val 209235"/>
            </a:avLst>
          </a:prstGeom>
          <a:solidFill>
            <a:srgbClr val="BF95DF">
              <a:alpha val="33000"/>
            </a:srgbClr>
          </a:solidFill>
          <a:ln>
            <a:solidFill>
              <a:srgbClr val="DAC2EC">
                <a:alpha val="88627"/>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ine Callout 1 (Accent Bar) 5"/>
          <p:cNvSpPr/>
          <p:nvPr/>
        </p:nvSpPr>
        <p:spPr>
          <a:xfrm>
            <a:off x="3033637" y="4505352"/>
            <a:ext cx="418264" cy="661033"/>
          </a:xfrm>
          <a:prstGeom prst="accentCallout1">
            <a:avLst>
              <a:gd name="adj1" fmla="val 56939"/>
              <a:gd name="adj2" fmla="val -2145"/>
              <a:gd name="adj3" fmla="val 178423"/>
              <a:gd name="adj4" fmla="val -159370"/>
            </a:avLst>
          </a:prstGeom>
          <a:solidFill>
            <a:srgbClr val="FFFF00">
              <a:alpha val="32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39318" y="3627668"/>
            <a:ext cx="1890181" cy="1077218"/>
          </a:xfrm>
          <a:prstGeom prst="rect">
            <a:avLst/>
          </a:prstGeom>
          <a:noFill/>
        </p:spPr>
        <p:txBody>
          <a:bodyPr wrap="square" rtlCol="0">
            <a:spAutoFit/>
          </a:bodyPr>
          <a:lstStyle/>
          <a:p>
            <a:r>
              <a:rPr lang="en-US" sz="1600" b="1" dirty="0" err="1" smtClean="0">
                <a:solidFill>
                  <a:srgbClr val="66FFFF"/>
                </a:solidFill>
              </a:rPr>
              <a:t>def</a:t>
            </a:r>
            <a:r>
              <a:rPr lang="en-US" sz="1600" dirty="0" smtClean="0">
                <a:solidFill>
                  <a:srgbClr val="66FFFF"/>
                </a:solidFill>
              </a:rPr>
              <a:t> keyword signifies we are about to create a function. </a:t>
            </a:r>
            <a:endParaRPr lang="en-US" sz="1600" b="1" dirty="0">
              <a:solidFill>
                <a:srgbClr val="66FFFF"/>
              </a:solidFill>
            </a:endParaRPr>
          </a:p>
        </p:txBody>
      </p:sp>
      <p:sp>
        <p:nvSpPr>
          <p:cNvPr id="8" name="TextBox 7"/>
          <p:cNvSpPr txBox="1"/>
          <p:nvPr/>
        </p:nvSpPr>
        <p:spPr>
          <a:xfrm>
            <a:off x="617120" y="5166385"/>
            <a:ext cx="1890181" cy="1569660"/>
          </a:xfrm>
          <a:prstGeom prst="rect">
            <a:avLst/>
          </a:prstGeom>
          <a:noFill/>
        </p:spPr>
        <p:txBody>
          <a:bodyPr wrap="square" rtlCol="0">
            <a:spAutoFit/>
          </a:bodyPr>
          <a:lstStyle/>
          <a:p>
            <a:r>
              <a:rPr lang="en-US" sz="1600" b="1" dirty="0" smtClean="0">
                <a:solidFill>
                  <a:srgbClr val="FFFF00"/>
                </a:solidFill>
              </a:rPr>
              <a:t>function body </a:t>
            </a:r>
            <a:r>
              <a:rPr lang="en-US" sz="1600" dirty="0" smtClean="0">
                <a:solidFill>
                  <a:srgbClr val="FFFF00"/>
                </a:solidFill>
              </a:rPr>
              <a:t>is indented. First line of code not indented signifies the end of the function.</a:t>
            </a:r>
            <a:endParaRPr lang="en-US" sz="1600" b="1" dirty="0">
              <a:solidFill>
                <a:srgbClr val="FFFF00"/>
              </a:solidFill>
            </a:endParaRPr>
          </a:p>
        </p:txBody>
      </p:sp>
      <p:sp>
        <p:nvSpPr>
          <p:cNvPr id="9" name="TextBox 8"/>
          <p:cNvSpPr txBox="1"/>
          <p:nvPr/>
        </p:nvSpPr>
        <p:spPr>
          <a:xfrm>
            <a:off x="5773830" y="3290795"/>
            <a:ext cx="3594530" cy="1077218"/>
          </a:xfrm>
          <a:prstGeom prst="rect">
            <a:avLst/>
          </a:prstGeom>
          <a:noFill/>
        </p:spPr>
        <p:txBody>
          <a:bodyPr wrap="square" rtlCol="0">
            <a:spAutoFit/>
          </a:bodyPr>
          <a:lstStyle/>
          <a:p>
            <a:r>
              <a:rPr lang="en-US" sz="1600" dirty="0" smtClean="0">
                <a:solidFill>
                  <a:srgbClr val="E8D8F4"/>
                </a:solidFill>
              </a:rPr>
              <a:t>Immediately after the </a:t>
            </a:r>
            <a:r>
              <a:rPr lang="en-US" sz="1600" b="1" dirty="0" err="1" smtClean="0">
                <a:solidFill>
                  <a:srgbClr val="E8D8F4"/>
                </a:solidFill>
              </a:rPr>
              <a:t>def</a:t>
            </a:r>
            <a:r>
              <a:rPr lang="en-US" sz="1600" dirty="0" smtClean="0">
                <a:solidFill>
                  <a:srgbClr val="E8D8F4"/>
                </a:solidFill>
              </a:rPr>
              <a:t> keyword comes the function name. Make sure not to use any reserved words.</a:t>
            </a:r>
            <a:endParaRPr lang="en-US" sz="1600" dirty="0">
              <a:solidFill>
                <a:srgbClr val="E8D8F4"/>
              </a:solidFill>
            </a:endParaRPr>
          </a:p>
        </p:txBody>
      </p:sp>
    </p:spTree>
    <p:extLst>
      <p:ext uri="{BB962C8B-B14F-4D97-AF65-F5344CB8AC3E}">
        <p14:creationId xmlns:p14="http://schemas.microsoft.com/office/powerpoint/2010/main" val="4254756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50117"/>
          </a:xfrm>
        </p:spPr>
        <p:txBody>
          <a:bodyPr/>
          <a:lstStyle/>
          <a:p>
            <a:r>
              <a:rPr lang="en-US" dirty="0" smtClean="0"/>
              <a:t>Functions</a:t>
            </a:r>
            <a:endParaRPr lang="en-CA" dirty="0"/>
          </a:p>
        </p:txBody>
      </p:sp>
      <p:sp>
        <p:nvSpPr>
          <p:cNvPr id="3" name="Content Placeholder 2"/>
          <p:cNvSpPr>
            <a:spLocks noGrp="1"/>
          </p:cNvSpPr>
          <p:nvPr>
            <p:ph idx="1"/>
          </p:nvPr>
        </p:nvSpPr>
        <p:spPr>
          <a:xfrm>
            <a:off x="707969" y="1778873"/>
            <a:ext cx="8946541" cy="4506367"/>
          </a:xfrm>
        </p:spPr>
        <p:txBody>
          <a:bodyPr/>
          <a:lstStyle/>
          <a:p>
            <a:pPr marL="457200" indent="-457200">
              <a:buAutoNum type="arabicPeriod"/>
            </a:pPr>
            <a:r>
              <a:rPr lang="en-US" dirty="0" smtClean="0"/>
              <a:t>Code in a function body is only run when the program encounters a function call (not when the function definition is first seen).</a:t>
            </a:r>
          </a:p>
          <a:p>
            <a:pPr marL="0" indent="0">
              <a:buNone/>
            </a:pPr>
            <a:r>
              <a:rPr lang="en-US" dirty="0" smtClean="0"/>
              <a:t/>
            </a:r>
            <a:br>
              <a:rPr lang="en-US" dirty="0" smtClean="0"/>
            </a:br>
            <a:r>
              <a:rPr lang="en-US" dirty="0" err="1" smtClean="0">
                <a:solidFill>
                  <a:schemeClr val="tx1">
                    <a:lumMod val="85000"/>
                  </a:schemeClr>
                </a:solidFill>
              </a:rPr>
              <a:t>def</a:t>
            </a:r>
            <a:r>
              <a:rPr lang="en-US" dirty="0" smtClean="0">
                <a:solidFill>
                  <a:schemeClr val="tx1">
                    <a:lumMod val="85000"/>
                  </a:schemeClr>
                </a:solidFill>
              </a:rPr>
              <a:t> </a:t>
            </a:r>
            <a:r>
              <a:rPr lang="en-US" dirty="0">
                <a:solidFill>
                  <a:schemeClr val="tx1">
                    <a:lumMod val="85000"/>
                  </a:schemeClr>
                </a:solidFill>
              </a:rPr>
              <a:t>greeting():</a:t>
            </a:r>
          </a:p>
          <a:p>
            <a:pPr marL="0" indent="0">
              <a:buNone/>
            </a:pPr>
            <a:r>
              <a:rPr lang="en-US" dirty="0">
                <a:solidFill>
                  <a:schemeClr val="tx1">
                    <a:lumMod val="85000"/>
                  </a:schemeClr>
                </a:solidFill>
              </a:rPr>
              <a:t>    	</a:t>
            </a:r>
            <a:r>
              <a:rPr lang="en-US" dirty="0" smtClean="0">
                <a:solidFill>
                  <a:schemeClr val="tx1">
                    <a:lumMod val="85000"/>
                  </a:schemeClr>
                </a:solidFill>
              </a:rPr>
              <a:t>name </a:t>
            </a:r>
            <a:r>
              <a:rPr lang="en-US" dirty="0">
                <a:solidFill>
                  <a:schemeClr val="tx1">
                    <a:lumMod val="85000"/>
                  </a:schemeClr>
                </a:solidFill>
              </a:rPr>
              <a:t>= </a:t>
            </a:r>
            <a:r>
              <a:rPr lang="en-US" dirty="0" smtClean="0">
                <a:solidFill>
                  <a:schemeClr val="tx1">
                    <a:lumMod val="85000"/>
                  </a:schemeClr>
                </a:solidFill>
              </a:rPr>
              <a:t>input</a:t>
            </a:r>
            <a:r>
              <a:rPr lang="en-US" dirty="0">
                <a:solidFill>
                  <a:schemeClr val="tx1">
                    <a:lumMod val="85000"/>
                  </a:schemeClr>
                </a:solidFill>
              </a:rPr>
              <a:t>("What is your name?")</a:t>
            </a:r>
          </a:p>
          <a:p>
            <a:pPr marL="0" indent="0">
              <a:buNone/>
            </a:pPr>
            <a:r>
              <a:rPr lang="en-US" dirty="0">
                <a:solidFill>
                  <a:schemeClr val="tx1">
                    <a:lumMod val="85000"/>
                  </a:schemeClr>
                </a:solidFill>
              </a:rPr>
              <a:t>	</a:t>
            </a:r>
            <a:r>
              <a:rPr lang="en-US" dirty="0" smtClean="0">
                <a:solidFill>
                  <a:schemeClr val="tx1">
                    <a:lumMod val="85000"/>
                  </a:schemeClr>
                </a:solidFill>
              </a:rPr>
              <a:t>print</a:t>
            </a:r>
            <a:r>
              <a:rPr lang="en-US" dirty="0">
                <a:solidFill>
                  <a:schemeClr val="tx1">
                    <a:lumMod val="85000"/>
                  </a:schemeClr>
                </a:solidFill>
              </a:rPr>
              <a:t>("Hi there, " + name + </a:t>
            </a:r>
            <a:r>
              <a:rPr lang="en-US" dirty="0" smtClean="0">
                <a:solidFill>
                  <a:schemeClr val="tx1">
                    <a:lumMod val="85000"/>
                  </a:schemeClr>
                </a:solidFill>
              </a:rPr>
              <a:t>"!")</a:t>
            </a:r>
          </a:p>
          <a:p>
            <a:pPr marL="0" indent="0">
              <a:buNone/>
            </a:pPr>
            <a:endParaRPr lang="en-US" dirty="0">
              <a:solidFill>
                <a:schemeClr val="tx1">
                  <a:lumMod val="85000"/>
                </a:schemeClr>
              </a:solidFill>
            </a:endParaRPr>
          </a:p>
          <a:p>
            <a:pPr marL="0" indent="0">
              <a:buNone/>
            </a:pPr>
            <a:r>
              <a:rPr lang="en-US" dirty="0" smtClean="0">
                <a:solidFill>
                  <a:schemeClr val="tx1">
                    <a:lumMod val="85000"/>
                  </a:schemeClr>
                </a:solidFill>
              </a:rPr>
              <a:t>print(“Welcome to this program“)</a:t>
            </a:r>
          </a:p>
          <a:p>
            <a:pPr marL="0" indent="0">
              <a:buNone/>
            </a:pPr>
            <a:r>
              <a:rPr lang="en-US" dirty="0" smtClean="0">
                <a:solidFill>
                  <a:schemeClr val="tx1">
                    <a:lumMod val="85000"/>
                  </a:schemeClr>
                </a:solidFill>
              </a:rPr>
              <a:t>greeting()</a:t>
            </a:r>
          </a:p>
          <a:p>
            <a:pPr marL="0" indent="0">
              <a:buNone/>
            </a:pPr>
            <a:r>
              <a:rPr lang="en-US" dirty="0" smtClean="0">
                <a:solidFill>
                  <a:schemeClr val="tx1">
                    <a:lumMod val="85000"/>
                  </a:schemeClr>
                </a:solidFill>
              </a:rPr>
              <a:t>Print(“Nice to meet you!</a:t>
            </a:r>
            <a:r>
              <a:rPr lang="en-US" dirty="0">
                <a:solidFill>
                  <a:schemeClr val="tx1">
                    <a:lumMod val="85000"/>
                  </a:schemeClr>
                </a:solidFill>
              </a:rPr>
              <a:t> </a:t>
            </a:r>
            <a:r>
              <a:rPr lang="en-US" dirty="0" smtClean="0">
                <a:solidFill>
                  <a:schemeClr val="tx1">
                    <a:lumMod val="85000"/>
                  </a:schemeClr>
                </a:solidFill>
              </a:rPr>
              <a:t>“)</a:t>
            </a:r>
          </a:p>
          <a:p>
            <a:pPr marL="0" indent="0">
              <a:buNone/>
            </a:pPr>
            <a:endParaRPr lang="en-CA" dirty="0"/>
          </a:p>
          <a:p>
            <a:pPr marL="0" indent="0">
              <a:buNone/>
            </a:pPr>
            <a:endParaRPr lang="en-US" dirty="0" smtClean="0"/>
          </a:p>
        </p:txBody>
      </p:sp>
      <p:sp>
        <p:nvSpPr>
          <p:cNvPr id="4" name="Line Callout 1 (Accent Bar) 3"/>
          <p:cNvSpPr/>
          <p:nvPr/>
        </p:nvSpPr>
        <p:spPr>
          <a:xfrm>
            <a:off x="740124" y="2777362"/>
            <a:ext cx="5566221" cy="1427396"/>
          </a:xfrm>
          <a:prstGeom prst="accentCallout1">
            <a:avLst>
              <a:gd name="adj1" fmla="val 13264"/>
              <a:gd name="adj2" fmla="val 101006"/>
              <a:gd name="adj3" fmla="val 19852"/>
              <a:gd name="adj4" fmla="val 116576"/>
            </a:avLst>
          </a:prstGeom>
          <a:solidFill>
            <a:srgbClr val="66FFFF">
              <a:alpha val="31000"/>
            </a:srgbClr>
          </a:solidFill>
          <a:ln>
            <a:solidFill>
              <a:srgbClr val="66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ine Callout 1 (Accent Bar) 5"/>
          <p:cNvSpPr/>
          <p:nvPr/>
        </p:nvSpPr>
        <p:spPr>
          <a:xfrm>
            <a:off x="767834" y="4998314"/>
            <a:ext cx="1374665" cy="416598"/>
          </a:xfrm>
          <a:prstGeom prst="accentCallout1">
            <a:avLst>
              <a:gd name="adj1" fmla="val 76165"/>
              <a:gd name="adj2" fmla="val 103216"/>
              <a:gd name="adj3" fmla="val 88703"/>
              <a:gd name="adj4" fmla="val 252847"/>
            </a:avLst>
          </a:prstGeom>
          <a:solidFill>
            <a:srgbClr val="FFFF00">
              <a:alpha val="32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7339085" y="2964448"/>
            <a:ext cx="3450278" cy="1323439"/>
          </a:xfrm>
          <a:prstGeom prst="rect">
            <a:avLst/>
          </a:prstGeom>
          <a:noFill/>
        </p:spPr>
        <p:txBody>
          <a:bodyPr wrap="square" rtlCol="0">
            <a:spAutoFit/>
          </a:bodyPr>
          <a:lstStyle/>
          <a:p>
            <a:r>
              <a:rPr lang="en-US" sz="1600" dirty="0" smtClean="0">
                <a:solidFill>
                  <a:srgbClr val="66FFFF"/>
                </a:solidFill>
              </a:rPr>
              <a:t>The first time the computer sees this code, it does not execute it, but makes record that this code may be called at some point(s) later in the program.</a:t>
            </a:r>
            <a:endParaRPr lang="en-US" sz="1600" dirty="0">
              <a:solidFill>
                <a:srgbClr val="66FFFF"/>
              </a:solidFill>
            </a:endParaRPr>
          </a:p>
        </p:txBody>
      </p:sp>
      <p:sp>
        <p:nvSpPr>
          <p:cNvPr id="8" name="TextBox 7"/>
          <p:cNvSpPr txBox="1"/>
          <p:nvPr/>
        </p:nvSpPr>
        <p:spPr>
          <a:xfrm>
            <a:off x="4334854" y="5022010"/>
            <a:ext cx="5970501" cy="1077218"/>
          </a:xfrm>
          <a:prstGeom prst="rect">
            <a:avLst/>
          </a:prstGeom>
          <a:noFill/>
        </p:spPr>
        <p:txBody>
          <a:bodyPr wrap="square" rtlCol="0">
            <a:spAutoFit/>
          </a:bodyPr>
          <a:lstStyle/>
          <a:p>
            <a:r>
              <a:rPr lang="en-US" sz="1600" dirty="0" smtClean="0">
                <a:solidFill>
                  <a:srgbClr val="FFFF00"/>
                </a:solidFill>
              </a:rPr>
              <a:t>When this line is reached, it will jump the current location of execution to the function above. Once the function is completed, program flow will return here and proceed to the next line.</a:t>
            </a:r>
            <a:endParaRPr lang="en-US" sz="1600" dirty="0">
              <a:solidFill>
                <a:srgbClr val="FFFF00"/>
              </a:solidFill>
            </a:endParaRPr>
          </a:p>
        </p:txBody>
      </p:sp>
      <p:sp>
        <p:nvSpPr>
          <p:cNvPr id="10" name="Subtitle 2"/>
          <p:cNvSpPr txBox="1">
            <a:spLocks/>
          </p:cNvSpPr>
          <p:nvPr/>
        </p:nvSpPr>
        <p:spPr>
          <a:xfrm>
            <a:off x="646111" y="1046983"/>
            <a:ext cx="8825658" cy="86142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US" dirty="0" smtClean="0">
                <a:solidFill>
                  <a:srgbClr val="92D050"/>
                </a:solidFill>
              </a:rPr>
              <a:t>RULES AND BEHAVIOURS</a:t>
            </a:r>
            <a:endParaRPr lang="en-CA" dirty="0">
              <a:solidFill>
                <a:srgbClr val="92D050"/>
              </a:solidFill>
            </a:endParaRPr>
          </a:p>
        </p:txBody>
      </p:sp>
    </p:spTree>
    <p:extLst>
      <p:ext uri="{BB962C8B-B14F-4D97-AF65-F5344CB8AC3E}">
        <p14:creationId xmlns:p14="http://schemas.microsoft.com/office/powerpoint/2010/main" val="303167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CA" dirty="0"/>
          </a:p>
        </p:txBody>
      </p:sp>
      <p:sp>
        <p:nvSpPr>
          <p:cNvPr id="3" name="Content Placeholder 2"/>
          <p:cNvSpPr>
            <a:spLocks noGrp="1"/>
          </p:cNvSpPr>
          <p:nvPr>
            <p:ph idx="1"/>
          </p:nvPr>
        </p:nvSpPr>
        <p:spPr>
          <a:xfrm>
            <a:off x="707969" y="1778873"/>
            <a:ext cx="8946541" cy="4506367"/>
          </a:xfrm>
        </p:spPr>
        <p:txBody>
          <a:bodyPr/>
          <a:lstStyle/>
          <a:p>
            <a:pPr marL="457200" indent="-457200">
              <a:buFont typeface="+mj-lt"/>
              <a:buAutoNum type="arabicPeriod" startAt="2"/>
            </a:pPr>
            <a:r>
              <a:rPr lang="en-US" dirty="0" smtClean="0"/>
              <a:t>Function definitions should occur early in a program. A function call will not work if it occurs before the definition is encountered.</a:t>
            </a:r>
          </a:p>
          <a:p>
            <a:pPr marL="0" indent="0">
              <a:buNone/>
            </a:pPr>
            <a:endParaRPr lang="en-US" dirty="0" smtClean="0">
              <a:solidFill>
                <a:schemeClr val="tx1">
                  <a:lumMod val="85000"/>
                </a:schemeClr>
              </a:solidFill>
            </a:endParaRPr>
          </a:p>
          <a:p>
            <a:pPr marL="0" indent="0">
              <a:buNone/>
            </a:pPr>
            <a:r>
              <a:rPr lang="en-US" dirty="0" smtClean="0">
                <a:solidFill>
                  <a:schemeClr val="tx1">
                    <a:lumMod val="85000"/>
                  </a:schemeClr>
                </a:solidFill>
              </a:rPr>
              <a:t>print</a:t>
            </a:r>
            <a:r>
              <a:rPr lang="en-US" dirty="0">
                <a:solidFill>
                  <a:schemeClr val="tx1">
                    <a:lumMod val="85000"/>
                  </a:schemeClr>
                </a:solidFill>
              </a:rPr>
              <a:t>(“Welcome to this program“)</a:t>
            </a:r>
          </a:p>
          <a:p>
            <a:pPr marL="0" indent="0">
              <a:buNone/>
            </a:pPr>
            <a:r>
              <a:rPr lang="en-US" dirty="0">
                <a:solidFill>
                  <a:schemeClr val="tx1">
                    <a:lumMod val="85000"/>
                  </a:schemeClr>
                </a:solidFill>
              </a:rPr>
              <a:t>greeting()</a:t>
            </a:r>
          </a:p>
          <a:p>
            <a:pPr marL="0" indent="0">
              <a:buNone/>
            </a:pPr>
            <a:r>
              <a:rPr lang="en-US" dirty="0" smtClean="0"/>
              <a:t/>
            </a:r>
            <a:br>
              <a:rPr lang="en-US" dirty="0" smtClean="0"/>
            </a:br>
            <a:r>
              <a:rPr lang="en-US" dirty="0" err="1" smtClean="0">
                <a:solidFill>
                  <a:schemeClr val="tx1">
                    <a:lumMod val="85000"/>
                  </a:schemeClr>
                </a:solidFill>
              </a:rPr>
              <a:t>def</a:t>
            </a:r>
            <a:r>
              <a:rPr lang="en-US" dirty="0" smtClean="0">
                <a:solidFill>
                  <a:schemeClr val="tx1">
                    <a:lumMod val="85000"/>
                  </a:schemeClr>
                </a:solidFill>
              </a:rPr>
              <a:t> </a:t>
            </a:r>
            <a:r>
              <a:rPr lang="en-US" dirty="0">
                <a:solidFill>
                  <a:schemeClr val="tx1">
                    <a:lumMod val="85000"/>
                  </a:schemeClr>
                </a:solidFill>
              </a:rPr>
              <a:t>greeting():</a:t>
            </a:r>
          </a:p>
          <a:p>
            <a:pPr marL="0" indent="0">
              <a:buNone/>
            </a:pPr>
            <a:r>
              <a:rPr lang="en-US" dirty="0">
                <a:solidFill>
                  <a:schemeClr val="tx1">
                    <a:lumMod val="85000"/>
                  </a:schemeClr>
                </a:solidFill>
              </a:rPr>
              <a:t>    	</a:t>
            </a:r>
            <a:r>
              <a:rPr lang="en-US" dirty="0" smtClean="0">
                <a:solidFill>
                  <a:schemeClr val="tx1">
                    <a:lumMod val="85000"/>
                  </a:schemeClr>
                </a:solidFill>
              </a:rPr>
              <a:t>name </a:t>
            </a:r>
            <a:r>
              <a:rPr lang="en-US" dirty="0" smtClean="0">
                <a:solidFill>
                  <a:schemeClr val="tx1">
                    <a:lumMod val="85000"/>
                  </a:schemeClr>
                </a:solidFill>
              </a:rPr>
              <a:t>=input</a:t>
            </a:r>
            <a:r>
              <a:rPr lang="en-US" dirty="0">
                <a:solidFill>
                  <a:schemeClr val="tx1">
                    <a:lumMod val="85000"/>
                  </a:schemeClr>
                </a:solidFill>
              </a:rPr>
              <a:t>("What is your name?")</a:t>
            </a:r>
          </a:p>
          <a:p>
            <a:pPr marL="0" indent="0">
              <a:buNone/>
            </a:pPr>
            <a:r>
              <a:rPr lang="en-US" dirty="0">
                <a:solidFill>
                  <a:schemeClr val="tx1">
                    <a:lumMod val="85000"/>
                  </a:schemeClr>
                </a:solidFill>
              </a:rPr>
              <a:t>	</a:t>
            </a:r>
            <a:r>
              <a:rPr lang="en-US" dirty="0" smtClean="0">
                <a:solidFill>
                  <a:schemeClr val="tx1">
                    <a:lumMod val="85000"/>
                  </a:schemeClr>
                </a:solidFill>
              </a:rPr>
              <a:t>print</a:t>
            </a:r>
            <a:r>
              <a:rPr lang="en-US" dirty="0">
                <a:solidFill>
                  <a:schemeClr val="tx1">
                    <a:lumMod val="85000"/>
                  </a:schemeClr>
                </a:solidFill>
              </a:rPr>
              <a:t>("Hi there, " + name + </a:t>
            </a:r>
            <a:r>
              <a:rPr lang="en-US" dirty="0" smtClean="0">
                <a:solidFill>
                  <a:schemeClr val="tx1">
                    <a:lumMod val="85000"/>
                  </a:schemeClr>
                </a:solidFill>
              </a:rPr>
              <a:t>"!")</a:t>
            </a:r>
          </a:p>
          <a:p>
            <a:pPr marL="0" indent="0">
              <a:buNone/>
            </a:pPr>
            <a:endParaRPr lang="en-US" dirty="0">
              <a:solidFill>
                <a:schemeClr val="tx1">
                  <a:lumMod val="85000"/>
                </a:schemeClr>
              </a:solidFill>
            </a:endParaRPr>
          </a:p>
          <a:p>
            <a:pPr marL="0" indent="0">
              <a:buNone/>
            </a:pPr>
            <a:endParaRPr lang="en-CA" dirty="0"/>
          </a:p>
          <a:p>
            <a:pPr marL="0" indent="0">
              <a:buNone/>
            </a:pPr>
            <a:endParaRPr lang="en-US" dirty="0" smtClean="0"/>
          </a:p>
        </p:txBody>
      </p:sp>
      <p:sp>
        <p:nvSpPr>
          <p:cNvPr id="4" name="Line Callout 1 (Accent Bar) 3"/>
          <p:cNvSpPr/>
          <p:nvPr/>
        </p:nvSpPr>
        <p:spPr>
          <a:xfrm>
            <a:off x="761161" y="3383123"/>
            <a:ext cx="1454758" cy="427989"/>
          </a:xfrm>
          <a:prstGeom prst="accentCallout1">
            <a:avLst>
              <a:gd name="adj1" fmla="val 13264"/>
              <a:gd name="adj2" fmla="val 101006"/>
              <a:gd name="adj3" fmla="val 58839"/>
              <a:gd name="adj4" fmla="val 307896"/>
            </a:avLst>
          </a:prstGeom>
          <a:solidFill>
            <a:srgbClr val="66FFFF">
              <a:alpha val="31000"/>
            </a:srgbClr>
          </a:solidFill>
          <a:ln>
            <a:solidFill>
              <a:srgbClr val="66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297567" y="3427840"/>
            <a:ext cx="1859937" cy="338554"/>
          </a:xfrm>
          <a:prstGeom prst="rect">
            <a:avLst/>
          </a:prstGeom>
          <a:noFill/>
        </p:spPr>
        <p:txBody>
          <a:bodyPr wrap="square" rtlCol="0">
            <a:spAutoFit/>
          </a:bodyPr>
          <a:lstStyle/>
          <a:p>
            <a:r>
              <a:rPr lang="en-US" sz="1600" dirty="0" smtClean="0">
                <a:solidFill>
                  <a:srgbClr val="66FFFF"/>
                </a:solidFill>
              </a:rPr>
              <a:t>Error on this line</a:t>
            </a:r>
            <a:endParaRPr lang="en-US" sz="1600" dirty="0">
              <a:solidFill>
                <a:srgbClr val="66FFFF"/>
              </a:solidFill>
            </a:endParaRPr>
          </a:p>
        </p:txBody>
      </p:sp>
      <p:sp>
        <p:nvSpPr>
          <p:cNvPr id="8" name="TextBox 7"/>
          <p:cNvSpPr txBox="1"/>
          <p:nvPr/>
        </p:nvSpPr>
        <p:spPr>
          <a:xfrm>
            <a:off x="7774474" y="3096730"/>
            <a:ext cx="3420860" cy="2308324"/>
          </a:xfrm>
          <a:prstGeom prst="rect">
            <a:avLst/>
          </a:prstGeom>
          <a:noFill/>
        </p:spPr>
        <p:txBody>
          <a:bodyPr wrap="square" rtlCol="0">
            <a:spAutoFit/>
          </a:bodyPr>
          <a:lstStyle/>
          <a:p>
            <a:r>
              <a:rPr lang="en-US" sz="1600" dirty="0" smtClean="0">
                <a:solidFill>
                  <a:srgbClr val="FFFF00"/>
                </a:solidFill>
              </a:rPr>
              <a:t>Python programs are interpreted by the computer one line at a time, top to bottom.</a:t>
            </a:r>
          </a:p>
          <a:p>
            <a:endParaRPr lang="en-US" sz="1600" dirty="0">
              <a:solidFill>
                <a:srgbClr val="FFFF00"/>
              </a:solidFill>
            </a:endParaRPr>
          </a:p>
          <a:p>
            <a:r>
              <a:rPr lang="en-US" sz="1600" dirty="0" smtClean="0">
                <a:solidFill>
                  <a:srgbClr val="FFFF00"/>
                </a:solidFill>
              </a:rPr>
              <a:t>In this case, the computer will have no knowledge of the greeting() function, as the definition hasn’t been encountered yet!</a:t>
            </a:r>
            <a:endParaRPr lang="en-US" sz="1600" dirty="0">
              <a:solidFill>
                <a:srgbClr val="FFFF00"/>
              </a:solidFill>
            </a:endParaRPr>
          </a:p>
        </p:txBody>
      </p:sp>
      <p:sp>
        <p:nvSpPr>
          <p:cNvPr id="10" name="Subtitle 2"/>
          <p:cNvSpPr txBox="1">
            <a:spLocks/>
          </p:cNvSpPr>
          <p:nvPr/>
        </p:nvSpPr>
        <p:spPr>
          <a:xfrm>
            <a:off x="646111" y="1046983"/>
            <a:ext cx="8825658" cy="86142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US" dirty="0" smtClean="0">
                <a:solidFill>
                  <a:srgbClr val="92D050"/>
                </a:solidFill>
              </a:rPr>
              <a:t>RULES AND BEHAVIOURS</a:t>
            </a:r>
            <a:endParaRPr lang="en-CA" dirty="0">
              <a:solidFill>
                <a:srgbClr val="92D050"/>
              </a:solidFill>
            </a:endParaRPr>
          </a:p>
        </p:txBody>
      </p:sp>
    </p:spTree>
    <p:extLst>
      <p:ext uri="{BB962C8B-B14F-4D97-AF65-F5344CB8AC3E}">
        <p14:creationId xmlns:p14="http://schemas.microsoft.com/office/powerpoint/2010/main" val="20098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CA" dirty="0"/>
          </a:p>
        </p:txBody>
      </p:sp>
      <p:sp>
        <p:nvSpPr>
          <p:cNvPr id="3" name="Content Placeholder 2"/>
          <p:cNvSpPr>
            <a:spLocks noGrp="1"/>
          </p:cNvSpPr>
          <p:nvPr>
            <p:ph idx="1"/>
          </p:nvPr>
        </p:nvSpPr>
        <p:spPr>
          <a:xfrm>
            <a:off x="1662415" y="2175381"/>
            <a:ext cx="8946541" cy="3671439"/>
          </a:xfrm>
        </p:spPr>
        <p:txBody>
          <a:bodyPr/>
          <a:lstStyle/>
          <a:p>
            <a:pPr marL="0" indent="0">
              <a:buNone/>
            </a:pPr>
            <a:r>
              <a:rPr lang="en-US" dirty="0" smtClean="0"/>
              <a:t>Create a program with three </a:t>
            </a:r>
            <a:r>
              <a:rPr lang="en-US" b="1" dirty="0" smtClean="0"/>
              <a:t>user-defined functions</a:t>
            </a:r>
            <a:r>
              <a:rPr lang="en-US" dirty="0" smtClean="0"/>
              <a:t>:</a:t>
            </a:r>
          </a:p>
          <a:p>
            <a:pPr marL="0" indent="0">
              <a:buNone/>
            </a:pPr>
            <a:r>
              <a:rPr lang="en-US" dirty="0"/>
              <a:t>	</a:t>
            </a:r>
            <a:r>
              <a:rPr lang="en-US" dirty="0" err="1" smtClean="0"/>
              <a:t>fortune_one</a:t>
            </a:r>
            <a:r>
              <a:rPr lang="en-US" dirty="0" smtClean="0"/>
              <a:t>()</a:t>
            </a:r>
          </a:p>
          <a:p>
            <a:pPr marL="0" indent="0">
              <a:buNone/>
            </a:pPr>
            <a:r>
              <a:rPr lang="en-US" dirty="0"/>
              <a:t>	</a:t>
            </a:r>
            <a:r>
              <a:rPr lang="en-US" dirty="0" err="1" smtClean="0"/>
              <a:t>fortune_two</a:t>
            </a:r>
            <a:r>
              <a:rPr lang="en-US" dirty="0" smtClean="0"/>
              <a:t>()			each of these functions should print out</a:t>
            </a:r>
          </a:p>
          <a:p>
            <a:pPr marL="0" indent="0">
              <a:buNone/>
            </a:pPr>
            <a:r>
              <a:rPr lang="en-US" dirty="0"/>
              <a:t>	</a:t>
            </a:r>
            <a:r>
              <a:rPr lang="en-US" dirty="0" err="1" smtClean="0"/>
              <a:t>fortune_three</a:t>
            </a:r>
            <a:r>
              <a:rPr lang="en-US" dirty="0" smtClean="0"/>
              <a:t>()             a ‘fortune’ for the user.</a:t>
            </a:r>
          </a:p>
          <a:p>
            <a:pPr marL="0" indent="0">
              <a:buNone/>
            </a:pPr>
            <a:endParaRPr lang="en-US" dirty="0"/>
          </a:p>
          <a:p>
            <a:pPr marL="0" indent="0">
              <a:buNone/>
            </a:pPr>
            <a:r>
              <a:rPr lang="en-US" dirty="0" smtClean="0"/>
              <a:t>When the program is run, tell the user that they are going to be told three fortunes. Call each of the </a:t>
            </a:r>
            <a:r>
              <a:rPr lang="en-US" b="1" dirty="0" smtClean="0"/>
              <a:t>user-defined functions.</a:t>
            </a:r>
            <a:endParaRPr lang="en-US" dirty="0" smtClean="0"/>
          </a:p>
          <a:p>
            <a:pPr marL="0" indent="0">
              <a:buNone/>
            </a:pPr>
            <a:endParaRPr lang="en-US" dirty="0" smtClean="0">
              <a:solidFill>
                <a:schemeClr val="tx1">
                  <a:lumMod val="85000"/>
                </a:schemeClr>
              </a:solidFill>
            </a:endParaRPr>
          </a:p>
          <a:p>
            <a:pPr marL="0" indent="0">
              <a:buNone/>
            </a:pPr>
            <a:endParaRPr lang="en-US" dirty="0">
              <a:solidFill>
                <a:schemeClr val="tx1">
                  <a:lumMod val="85000"/>
                </a:schemeClr>
              </a:solidFill>
            </a:endParaRPr>
          </a:p>
          <a:p>
            <a:pPr marL="0" indent="0">
              <a:buNone/>
            </a:pPr>
            <a:endParaRPr lang="en-CA" dirty="0"/>
          </a:p>
          <a:p>
            <a:pPr marL="0" indent="0">
              <a:buNone/>
            </a:pPr>
            <a:endParaRPr lang="en-US" dirty="0" smtClean="0"/>
          </a:p>
        </p:txBody>
      </p:sp>
      <p:sp>
        <p:nvSpPr>
          <p:cNvPr id="10" name="Subtitle 2"/>
          <p:cNvSpPr txBox="1">
            <a:spLocks/>
          </p:cNvSpPr>
          <p:nvPr/>
        </p:nvSpPr>
        <p:spPr>
          <a:xfrm>
            <a:off x="646111" y="1046983"/>
            <a:ext cx="8825658" cy="86142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US" dirty="0" smtClean="0">
                <a:solidFill>
                  <a:srgbClr val="92D050"/>
                </a:solidFill>
              </a:rPr>
              <a:t>EXERCISE</a:t>
            </a:r>
            <a:endParaRPr lang="en-CA" dirty="0">
              <a:solidFill>
                <a:srgbClr val="92D050"/>
              </a:solidFill>
            </a:endParaRPr>
          </a:p>
        </p:txBody>
      </p:sp>
    </p:spTree>
    <p:extLst>
      <p:ext uri="{BB962C8B-B14F-4D97-AF65-F5344CB8AC3E}">
        <p14:creationId xmlns:p14="http://schemas.microsoft.com/office/powerpoint/2010/main" val="17837719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CA" dirty="0"/>
          </a:p>
        </p:txBody>
      </p:sp>
      <p:sp>
        <p:nvSpPr>
          <p:cNvPr id="3" name="Content Placeholder 2"/>
          <p:cNvSpPr>
            <a:spLocks noGrp="1"/>
          </p:cNvSpPr>
          <p:nvPr>
            <p:ph idx="1"/>
          </p:nvPr>
        </p:nvSpPr>
        <p:spPr>
          <a:xfrm>
            <a:off x="707969" y="1778873"/>
            <a:ext cx="10538484" cy="4506367"/>
          </a:xfrm>
        </p:spPr>
        <p:txBody>
          <a:bodyPr/>
          <a:lstStyle/>
          <a:p>
            <a:pPr marL="0" indent="0">
              <a:buNone/>
            </a:pPr>
            <a:r>
              <a:rPr lang="en-US" dirty="0" smtClean="0"/>
              <a:t>When information is stored in a variable, it is only visible in certain locations in your code. This is called </a:t>
            </a:r>
            <a:r>
              <a:rPr lang="en-US" b="1" dirty="0" smtClean="0"/>
              <a:t>variable scope. </a:t>
            </a:r>
            <a:r>
              <a:rPr lang="en-US" dirty="0" smtClean="0"/>
              <a:t>Variables also may exist for differing amounts of time, this is called </a:t>
            </a:r>
            <a:r>
              <a:rPr lang="en-US" b="1" dirty="0" smtClean="0"/>
              <a:t>variable lifetime.</a:t>
            </a:r>
            <a:endParaRPr lang="en-US" dirty="0" smtClean="0"/>
          </a:p>
          <a:p>
            <a:pPr marL="0" indent="0">
              <a:buNone/>
            </a:pPr>
            <a:endParaRPr lang="en-US" dirty="0" smtClean="0"/>
          </a:p>
          <a:p>
            <a:pPr marL="0" indent="0">
              <a:buNone/>
            </a:pPr>
            <a:r>
              <a:rPr lang="en-US" dirty="0" smtClean="0">
                <a:solidFill>
                  <a:schemeClr val="tx1">
                    <a:lumMod val="85000"/>
                  </a:schemeClr>
                </a:solidFill>
              </a:rPr>
              <a:t>a = 2</a:t>
            </a:r>
          </a:p>
          <a:p>
            <a:pPr marL="0" indent="0">
              <a:buNone/>
            </a:pPr>
            <a:r>
              <a:rPr lang="en-US" dirty="0" smtClean="0">
                <a:solidFill>
                  <a:schemeClr val="tx1">
                    <a:lumMod val="85000"/>
                  </a:schemeClr>
                </a:solidFill>
              </a:rPr>
              <a:t>b = 3</a:t>
            </a:r>
          </a:p>
          <a:p>
            <a:pPr marL="0" indent="0">
              <a:buNone/>
            </a:pPr>
            <a:r>
              <a:rPr lang="en-US" dirty="0" err="1" smtClean="0">
                <a:solidFill>
                  <a:schemeClr val="tx1">
                    <a:lumMod val="85000"/>
                  </a:schemeClr>
                </a:solidFill>
              </a:rPr>
              <a:t>def</a:t>
            </a:r>
            <a:r>
              <a:rPr lang="en-US" dirty="0" smtClean="0">
                <a:solidFill>
                  <a:schemeClr val="tx1">
                    <a:lumMod val="85000"/>
                  </a:schemeClr>
                </a:solidFill>
              </a:rPr>
              <a:t> </a:t>
            </a:r>
            <a:r>
              <a:rPr lang="en-US" dirty="0" err="1" smtClean="0">
                <a:solidFill>
                  <a:schemeClr val="tx1">
                    <a:lumMod val="85000"/>
                  </a:schemeClr>
                </a:solidFill>
              </a:rPr>
              <a:t>my_function</a:t>
            </a:r>
            <a:r>
              <a:rPr lang="en-US" dirty="0" smtClean="0">
                <a:solidFill>
                  <a:schemeClr val="tx1">
                    <a:lumMod val="85000"/>
                  </a:schemeClr>
                </a:solidFill>
              </a:rPr>
              <a:t>():</a:t>
            </a:r>
          </a:p>
          <a:p>
            <a:pPr marL="0" indent="0">
              <a:buNone/>
            </a:pPr>
            <a:r>
              <a:rPr lang="en-US" dirty="0">
                <a:solidFill>
                  <a:schemeClr val="tx1">
                    <a:lumMod val="85000"/>
                  </a:schemeClr>
                </a:solidFill>
              </a:rPr>
              <a:t>	</a:t>
            </a:r>
            <a:r>
              <a:rPr lang="en-US" dirty="0" smtClean="0">
                <a:solidFill>
                  <a:schemeClr val="tx1">
                    <a:lumMod val="85000"/>
                  </a:schemeClr>
                </a:solidFill>
              </a:rPr>
              <a:t>c = 4</a:t>
            </a:r>
          </a:p>
          <a:p>
            <a:pPr marL="0" indent="0">
              <a:buNone/>
            </a:pPr>
            <a:r>
              <a:rPr lang="en-US" dirty="0">
                <a:solidFill>
                  <a:schemeClr val="tx1">
                    <a:lumMod val="85000"/>
                  </a:schemeClr>
                </a:solidFill>
              </a:rPr>
              <a:t>	</a:t>
            </a:r>
            <a:r>
              <a:rPr lang="en-US" dirty="0" smtClean="0">
                <a:solidFill>
                  <a:schemeClr val="tx1">
                    <a:lumMod val="85000"/>
                  </a:schemeClr>
                </a:solidFill>
              </a:rPr>
              <a:t>print(c)</a:t>
            </a:r>
          </a:p>
          <a:p>
            <a:pPr marL="0" indent="0">
              <a:buNone/>
            </a:pPr>
            <a:r>
              <a:rPr lang="en-US" dirty="0">
                <a:solidFill>
                  <a:schemeClr val="tx1">
                    <a:lumMod val="85000"/>
                  </a:schemeClr>
                </a:solidFill>
              </a:rPr>
              <a:t>	</a:t>
            </a:r>
            <a:r>
              <a:rPr lang="en-US" dirty="0" smtClean="0">
                <a:solidFill>
                  <a:schemeClr val="tx1">
                    <a:lumMod val="85000"/>
                  </a:schemeClr>
                </a:solidFill>
              </a:rPr>
              <a:t>print(b)</a:t>
            </a:r>
          </a:p>
          <a:p>
            <a:pPr marL="0" indent="0">
              <a:buNone/>
            </a:pPr>
            <a:r>
              <a:rPr lang="en-US" dirty="0" smtClean="0">
                <a:solidFill>
                  <a:schemeClr val="tx1">
                    <a:lumMod val="85000"/>
                  </a:schemeClr>
                </a:solidFill>
              </a:rPr>
              <a:t>print(b)</a:t>
            </a:r>
          </a:p>
          <a:p>
            <a:pPr marL="0" indent="0">
              <a:buNone/>
            </a:pPr>
            <a:endParaRPr lang="en-US" dirty="0">
              <a:solidFill>
                <a:schemeClr val="tx1">
                  <a:lumMod val="85000"/>
                </a:schemeClr>
              </a:solidFill>
            </a:endParaRPr>
          </a:p>
          <a:p>
            <a:pPr marL="0" indent="0">
              <a:buNone/>
            </a:pPr>
            <a:endParaRPr lang="en-CA" dirty="0"/>
          </a:p>
          <a:p>
            <a:pPr marL="0" indent="0">
              <a:buNone/>
            </a:pPr>
            <a:endParaRPr lang="en-US" dirty="0" smtClean="0"/>
          </a:p>
        </p:txBody>
      </p:sp>
      <p:sp>
        <p:nvSpPr>
          <p:cNvPr id="4" name="Line Callout 1 (Accent Bar) 3"/>
          <p:cNvSpPr/>
          <p:nvPr/>
        </p:nvSpPr>
        <p:spPr>
          <a:xfrm>
            <a:off x="1188326" y="4569288"/>
            <a:ext cx="827359" cy="427989"/>
          </a:xfrm>
          <a:prstGeom prst="accentCallout1">
            <a:avLst>
              <a:gd name="adj1" fmla="val 13264"/>
              <a:gd name="adj2" fmla="val 101006"/>
              <a:gd name="adj3" fmla="val 116540"/>
              <a:gd name="adj4" fmla="val 324837"/>
            </a:avLst>
          </a:prstGeom>
          <a:solidFill>
            <a:srgbClr val="66FFFF">
              <a:alpha val="31000"/>
            </a:srgbClr>
          </a:solidFill>
          <a:ln>
            <a:solidFill>
              <a:srgbClr val="66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947793" y="4817545"/>
            <a:ext cx="4902532" cy="1323439"/>
          </a:xfrm>
          <a:prstGeom prst="rect">
            <a:avLst/>
          </a:prstGeom>
          <a:noFill/>
        </p:spPr>
        <p:txBody>
          <a:bodyPr wrap="square" rtlCol="0">
            <a:spAutoFit/>
          </a:bodyPr>
          <a:lstStyle/>
          <a:p>
            <a:r>
              <a:rPr lang="en-US" sz="1600" dirty="0" smtClean="0">
                <a:solidFill>
                  <a:srgbClr val="66FFFF"/>
                </a:solidFill>
              </a:rPr>
              <a:t>Variables declared within a function are </a:t>
            </a:r>
            <a:r>
              <a:rPr lang="en-US" sz="1600" b="1" dirty="0" smtClean="0">
                <a:solidFill>
                  <a:srgbClr val="66FFFF"/>
                </a:solidFill>
              </a:rPr>
              <a:t>local variables </a:t>
            </a:r>
            <a:r>
              <a:rPr lang="en-US" sz="1600" dirty="0" smtClean="0">
                <a:solidFill>
                  <a:srgbClr val="66FFFF"/>
                </a:solidFill>
              </a:rPr>
              <a:t>to that function. They are created when the function is called, and then cease to be stored once the function execution is complete. </a:t>
            </a:r>
            <a:endParaRPr lang="en-US" sz="1600" dirty="0">
              <a:solidFill>
                <a:srgbClr val="66FFFF"/>
              </a:solidFill>
            </a:endParaRPr>
          </a:p>
        </p:txBody>
      </p:sp>
      <p:sp>
        <p:nvSpPr>
          <p:cNvPr id="8" name="TextBox 7"/>
          <p:cNvSpPr txBox="1"/>
          <p:nvPr/>
        </p:nvSpPr>
        <p:spPr>
          <a:xfrm>
            <a:off x="3582917" y="3116753"/>
            <a:ext cx="4873614" cy="1323439"/>
          </a:xfrm>
          <a:prstGeom prst="rect">
            <a:avLst/>
          </a:prstGeom>
          <a:noFill/>
        </p:spPr>
        <p:txBody>
          <a:bodyPr wrap="square" rtlCol="0">
            <a:spAutoFit/>
          </a:bodyPr>
          <a:lstStyle/>
          <a:p>
            <a:r>
              <a:rPr lang="en-US" sz="1600" dirty="0" smtClean="0">
                <a:solidFill>
                  <a:srgbClr val="FFFF00"/>
                </a:solidFill>
              </a:rPr>
              <a:t>Variables declared in the main body of the program are </a:t>
            </a:r>
            <a:r>
              <a:rPr lang="en-US" sz="1600" b="1" dirty="0" smtClean="0">
                <a:solidFill>
                  <a:srgbClr val="FFFF00"/>
                </a:solidFill>
              </a:rPr>
              <a:t>global variables</a:t>
            </a:r>
            <a:r>
              <a:rPr lang="en-US" sz="1600" dirty="0" smtClean="0">
                <a:solidFill>
                  <a:srgbClr val="FFFF00"/>
                </a:solidFill>
              </a:rPr>
              <a:t> and are accessible throughout the main body of the program by default. Their lifetime will be the whole execution of the program.</a:t>
            </a:r>
            <a:endParaRPr lang="en-US" sz="1600" dirty="0">
              <a:solidFill>
                <a:srgbClr val="FFFF00"/>
              </a:solidFill>
            </a:endParaRPr>
          </a:p>
        </p:txBody>
      </p:sp>
      <p:sp>
        <p:nvSpPr>
          <p:cNvPr id="10" name="Subtitle 2"/>
          <p:cNvSpPr txBox="1">
            <a:spLocks/>
          </p:cNvSpPr>
          <p:nvPr/>
        </p:nvSpPr>
        <p:spPr>
          <a:xfrm>
            <a:off x="646111" y="1046983"/>
            <a:ext cx="8825658" cy="86142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US" dirty="0" smtClean="0">
                <a:solidFill>
                  <a:srgbClr val="92D050"/>
                </a:solidFill>
              </a:rPr>
              <a:t>VARIABLE SCOPE</a:t>
            </a:r>
            <a:endParaRPr lang="en-CA" dirty="0">
              <a:solidFill>
                <a:srgbClr val="92D050"/>
              </a:solidFill>
            </a:endParaRPr>
          </a:p>
        </p:txBody>
      </p:sp>
      <p:sp>
        <p:nvSpPr>
          <p:cNvPr id="9" name="Line Callout 1 (Accent Bar) 8"/>
          <p:cNvSpPr/>
          <p:nvPr/>
        </p:nvSpPr>
        <p:spPr>
          <a:xfrm>
            <a:off x="707969" y="3295447"/>
            <a:ext cx="840504" cy="755946"/>
          </a:xfrm>
          <a:prstGeom prst="accentCallout1">
            <a:avLst>
              <a:gd name="adj1" fmla="val 16083"/>
              <a:gd name="adj2" fmla="val 125000"/>
              <a:gd name="adj3" fmla="val 7940"/>
              <a:gd name="adj4" fmla="val 317277"/>
            </a:avLst>
          </a:prstGeom>
          <a:solidFill>
            <a:srgbClr val="FFFF00">
              <a:alpha val="32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11" name="Content Placeholder 2"/>
          <p:cNvSpPr txBox="1">
            <a:spLocks/>
          </p:cNvSpPr>
          <p:nvPr/>
        </p:nvSpPr>
        <p:spPr>
          <a:xfrm>
            <a:off x="9048975" y="3116753"/>
            <a:ext cx="2883999" cy="310126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dirty="0" smtClean="0"/>
              <a:t>Program Output:</a:t>
            </a:r>
          </a:p>
          <a:p>
            <a:pPr marL="0" indent="0">
              <a:buFont typeface="Wingdings 3" charset="2"/>
              <a:buNone/>
            </a:pPr>
            <a:r>
              <a:rPr lang="en-US" dirty="0" smtClean="0"/>
              <a:t>4</a:t>
            </a:r>
          </a:p>
          <a:p>
            <a:pPr marL="0" indent="0">
              <a:buFont typeface="Wingdings 3" charset="2"/>
              <a:buNone/>
            </a:pPr>
            <a:r>
              <a:rPr lang="en-US" dirty="0" smtClean="0"/>
              <a:t>3</a:t>
            </a:r>
          </a:p>
          <a:p>
            <a:pPr marL="0" indent="0">
              <a:buFont typeface="Wingdings 3" charset="2"/>
              <a:buNone/>
            </a:pPr>
            <a:r>
              <a:rPr lang="en-US" dirty="0"/>
              <a:t>3</a:t>
            </a:r>
            <a:endParaRPr lang="en-US" dirty="0" smtClean="0"/>
          </a:p>
        </p:txBody>
      </p:sp>
    </p:spTree>
    <p:extLst>
      <p:ext uri="{BB962C8B-B14F-4D97-AF65-F5344CB8AC3E}">
        <p14:creationId xmlns:p14="http://schemas.microsoft.com/office/powerpoint/2010/main" val="516850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500"/>
                                        <p:tgtEl>
                                          <p:spTgt spid="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p:bldP spid="9" grpId="0" animBg="1"/>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CA" dirty="0"/>
          </a:p>
        </p:txBody>
      </p:sp>
      <p:sp>
        <p:nvSpPr>
          <p:cNvPr id="3" name="Content Placeholder 2"/>
          <p:cNvSpPr>
            <a:spLocks noGrp="1"/>
          </p:cNvSpPr>
          <p:nvPr>
            <p:ph idx="1"/>
          </p:nvPr>
        </p:nvSpPr>
        <p:spPr>
          <a:xfrm>
            <a:off x="707969" y="1778873"/>
            <a:ext cx="10538484" cy="4506367"/>
          </a:xfrm>
        </p:spPr>
        <p:txBody>
          <a:bodyPr>
            <a:normAutofit fontScale="92500" lnSpcReduction="20000"/>
          </a:bodyPr>
          <a:lstStyle/>
          <a:p>
            <a:pPr marL="0" indent="0">
              <a:buNone/>
            </a:pPr>
            <a:r>
              <a:rPr lang="en-US" dirty="0" smtClean="0"/>
              <a:t>It is possible to have multiple variables with the </a:t>
            </a:r>
            <a:r>
              <a:rPr lang="en-US" b="1" dirty="0" smtClean="0"/>
              <a:t>same name</a:t>
            </a:r>
            <a:r>
              <a:rPr lang="en-US" dirty="0" smtClean="0"/>
              <a:t> if their scope is different:</a:t>
            </a:r>
          </a:p>
          <a:p>
            <a:pPr marL="0" indent="0">
              <a:buNone/>
            </a:pPr>
            <a:endParaRPr lang="en-US" dirty="0" smtClean="0"/>
          </a:p>
          <a:p>
            <a:pPr marL="0" indent="0">
              <a:buNone/>
            </a:pPr>
            <a:r>
              <a:rPr lang="en-US" dirty="0" smtClean="0">
                <a:solidFill>
                  <a:schemeClr val="tx1">
                    <a:lumMod val="85000"/>
                  </a:schemeClr>
                </a:solidFill>
              </a:rPr>
              <a:t>b = 3</a:t>
            </a:r>
          </a:p>
          <a:p>
            <a:pPr marL="0" indent="0">
              <a:buNone/>
            </a:pPr>
            <a:r>
              <a:rPr lang="en-US" dirty="0" err="1" smtClean="0">
                <a:solidFill>
                  <a:schemeClr val="tx1">
                    <a:lumMod val="85000"/>
                  </a:schemeClr>
                </a:solidFill>
              </a:rPr>
              <a:t>def</a:t>
            </a:r>
            <a:r>
              <a:rPr lang="en-US" dirty="0" smtClean="0">
                <a:solidFill>
                  <a:schemeClr val="tx1">
                    <a:lumMod val="85000"/>
                  </a:schemeClr>
                </a:solidFill>
              </a:rPr>
              <a:t> </a:t>
            </a:r>
            <a:r>
              <a:rPr lang="en-US" dirty="0" err="1" smtClean="0">
                <a:solidFill>
                  <a:schemeClr val="tx1">
                    <a:lumMod val="85000"/>
                  </a:schemeClr>
                </a:solidFill>
              </a:rPr>
              <a:t>my_function</a:t>
            </a:r>
            <a:r>
              <a:rPr lang="en-US" dirty="0" smtClean="0">
                <a:solidFill>
                  <a:schemeClr val="tx1">
                    <a:lumMod val="85000"/>
                  </a:schemeClr>
                </a:solidFill>
              </a:rPr>
              <a:t>():</a:t>
            </a:r>
          </a:p>
          <a:p>
            <a:pPr marL="0" indent="0">
              <a:buNone/>
            </a:pPr>
            <a:r>
              <a:rPr lang="en-US" dirty="0">
                <a:solidFill>
                  <a:schemeClr val="tx1">
                    <a:lumMod val="85000"/>
                  </a:schemeClr>
                </a:solidFill>
              </a:rPr>
              <a:t>	</a:t>
            </a:r>
            <a:r>
              <a:rPr lang="en-US" dirty="0" smtClean="0">
                <a:solidFill>
                  <a:schemeClr val="tx1">
                    <a:lumMod val="85000"/>
                  </a:schemeClr>
                </a:solidFill>
              </a:rPr>
              <a:t>b = 4</a:t>
            </a:r>
          </a:p>
          <a:p>
            <a:pPr marL="0" indent="0">
              <a:buNone/>
            </a:pPr>
            <a:r>
              <a:rPr lang="en-US" dirty="0">
                <a:solidFill>
                  <a:schemeClr val="tx1">
                    <a:lumMod val="85000"/>
                  </a:schemeClr>
                </a:solidFill>
              </a:rPr>
              <a:t>	</a:t>
            </a:r>
            <a:r>
              <a:rPr lang="en-US" dirty="0" smtClean="0">
                <a:solidFill>
                  <a:schemeClr val="tx1">
                    <a:lumMod val="85000"/>
                  </a:schemeClr>
                </a:solidFill>
              </a:rPr>
              <a:t>print(b)</a:t>
            </a:r>
          </a:p>
          <a:p>
            <a:pPr marL="0" indent="0">
              <a:buNone/>
            </a:pPr>
            <a:r>
              <a:rPr lang="en-US" dirty="0" err="1" smtClean="0">
                <a:solidFill>
                  <a:schemeClr val="tx1">
                    <a:lumMod val="85000"/>
                  </a:schemeClr>
                </a:solidFill>
              </a:rPr>
              <a:t>def</a:t>
            </a:r>
            <a:r>
              <a:rPr lang="en-US" dirty="0" smtClean="0">
                <a:solidFill>
                  <a:schemeClr val="tx1">
                    <a:lumMod val="85000"/>
                  </a:schemeClr>
                </a:solidFill>
              </a:rPr>
              <a:t> </a:t>
            </a:r>
            <a:r>
              <a:rPr lang="en-US" dirty="0" err="1" smtClean="0">
                <a:solidFill>
                  <a:schemeClr val="tx1">
                    <a:lumMod val="85000"/>
                  </a:schemeClr>
                </a:solidFill>
              </a:rPr>
              <a:t>function_two</a:t>
            </a:r>
            <a:r>
              <a:rPr lang="en-US" dirty="0" smtClean="0">
                <a:solidFill>
                  <a:schemeClr val="tx1">
                    <a:lumMod val="85000"/>
                  </a:schemeClr>
                </a:solidFill>
              </a:rPr>
              <a:t>()</a:t>
            </a:r>
          </a:p>
          <a:p>
            <a:pPr marL="0" indent="0">
              <a:buNone/>
            </a:pPr>
            <a:r>
              <a:rPr lang="en-US" dirty="0">
                <a:solidFill>
                  <a:schemeClr val="tx1">
                    <a:lumMod val="85000"/>
                  </a:schemeClr>
                </a:solidFill>
              </a:rPr>
              <a:t>	</a:t>
            </a:r>
            <a:r>
              <a:rPr lang="en-US" dirty="0" smtClean="0">
                <a:solidFill>
                  <a:schemeClr val="tx1">
                    <a:lumMod val="85000"/>
                  </a:schemeClr>
                </a:solidFill>
              </a:rPr>
              <a:t>b = “apple”</a:t>
            </a:r>
          </a:p>
          <a:p>
            <a:pPr marL="0" indent="0">
              <a:buNone/>
            </a:pPr>
            <a:r>
              <a:rPr lang="en-US" dirty="0">
                <a:solidFill>
                  <a:schemeClr val="tx1">
                    <a:lumMod val="85000"/>
                  </a:schemeClr>
                </a:solidFill>
              </a:rPr>
              <a:t>	</a:t>
            </a:r>
            <a:r>
              <a:rPr lang="en-US" dirty="0" smtClean="0">
                <a:solidFill>
                  <a:schemeClr val="tx1">
                    <a:lumMod val="85000"/>
                  </a:schemeClr>
                </a:solidFill>
              </a:rPr>
              <a:t>print(b)</a:t>
            </a:r>
          </a:p>
          <a:p>
            <a:pPr marL="0" indent="0">
              <a:buNone/>
            </a:pPr>
            <a:r>
              <a:rPr lang="en-US" dirty="0" err="1">
                <a:solidFill>
                  <a:schemeClr val="tx1">
                    <a:lumMod val="85000"/>
                  </a:schemeClr>
                </a:solidFill>
              </a:rPr>
              <a:t>m</a:t>
            </a:r>
            <a:r>
              <a:rPr lang="en-US" dirty="0" err="1" smtClean="0">
                <a:solidFill>
                  <a:schemeClr val="tx1">
                    <a:lumMod val="85000"/>
                  </a:schemeClr>
                </a:solidFill>
              </a:rPr>
              <a:t>y_function</a:t>
            </a:r>
            <a:r>
              <a:rPr lang="en-US" dirty="0" smtClean="0">
                <a:solidFill>
                  <a:schemeClr val="tx1">
                    <a:lumMod val="85000"/>
                  </a:schemeClr>
                </a:solidFill>
              </a:rPr>
              <a:t>()</a:t>
            </a:r>
          </a:p>
          <a:p>
            <a:pPr marL="0" indent="0">
              <a:buNone/>
            </a:pPr>
            <a:r>
              <a:rPr lang="en-US" dirty="0" err="1" smtClean="0">
                <a:solidFill>
                  <a:schemeClr val="tx1">
                    <a:lumMod val="85000"/>
                  </a:schemeClr>
                </a:solidFill>
              </a:rPr>
              <a:t>function_two</a:t>
            </a:r>
            <a:r>
              <a:rPr lang="en-US" dirty="0" smtClean="0">
                <a:solidFill>
                  <a:schemeClr val="tx1">
                    <a:lumMod val="85000"/>
                  </a:schemeClr>
                </a:solidFill>
              </a:rPr>
              <a:t>()</a:t>
            </a:r>
          </a:p>
          <a:p>
            <a:pPr marL="0" indent="0">
              <a:buNone/>
            </a:pPr>
            <a:r>
              <a:rPr lang="en-US" dirty="0" smtClean="0">
                <a:solidFill>
                  <a:schemeClr val="tx1">
                    <a:lumMod val="85000"/>
                  </a:schemeClr>
                </a:solidFill>
              </a:rPr>
              <a:t>print(b)</a:t>
            </a:r>
          </a:p>
          <a:p>
            <a:pPr marL="0" indent="0">
              <a:buNone/>
            </a:pPr>
            <a:endParaRPr lang="en-US" dirty="0">
              <a:solidFill>
                <a:schemeClr val="tx1">
                  <a:lumMod val="85000"/>
                </a:schemeClr>
              </a:solidFill>
            </a:endParaRPr>
          </a:p>
          <a:p>
            <a:pPr marL="0" indent="0">
              <a:buNone/>
            </a:pPr>
            <a:endParaRPr lang="en-CA" dirty="0"/>
          </a:p>
          <a:p>
            <a:pPr marL="0" indent="0">
              <a:buNone/>
            </a:pPr>
            <a:endParaRPr lang="en-US" dirty="0" smtClean="0"/>
          </a:p>
        </p:txBody>
      </p:sp>
      <p:sp>
        <p:nvSpPr>
          <p:cNvPr id="4" name="Line Callout 1 (Accent Bar) 3"/>
          <p:cNvSpPr/>
          <p:nvPr/>
        </p:nvSpPr>
        <p:spPr>
          <a:xfrm>
            <a:off x="1200410" y="3163911"/>
            <a:ext cx="761877" cy="427989"/>
          </a:xfrm>
          <a:prstGeom prst="accentCallout1">
            <a:avLst>
              <a:gd name="adj1" fmla="val 13264"/>
              <a:gd name="adj2" fmla="val 101006"/>
              <a:gd name="adj3" fmla="val 51041"/>
              <a:gd name="adj4" fmla="val 290798"/>
            </a:avLst>
          </a:prstGeom>
          <a:solidFill>
            <a:srgbClr val="66FFFF">
              <a:alpha val="31000"/>
            </a:srgbClr>
          </a:solidFill>
          <a:ln>
            <a:solidFill>
              <a:srgbClr val="66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411617" y="3234558"/>
            <a:ext cx="2533101" cy="338554"/>
          </a:xfrm>
          <a:prstGeom prst="rect">
            <a:avLst/>
          </a:prstGeom>
          <a:noFill/>
        </p:spPr>
        <p:txBody>
          <a:bodyPr wrap="square" rtlCol="0">
            <a:spAutoFit/>
          </a:bodyPr>
          <a:lstStyle/>
          <a:p>
            <a:r>
              <a:rPr lang="en-US" sz="1600" dirty="0" smtClean="0">
                <a:solidFill>
                  <a:srgbClr val="66FFFF"/>
                </a:solidFill>
              </a:rPr>
              <a:t>Local to </a:t>
            </a:r>
            <a:r>
              <a:rPr lang="en-US" sz="1600" dirty="0" err="1" smtClean="0">
                <a:solidFill>
                  <a:srgbClr val="66FFFF"/>
                </a:solidFill>
              </a:rPr>
              <a:t>my_function</a:t>
            </a:r>
            <a:r>
              <a:rPr lang="en-US" sz="1600" dirty="0" smtClean="0">
                <a:solidFill>
                  <a:srgbClr val="66FFFF"/>
                </a:solidFill>
              </a:rPr>
              <a:t>()</a:t>
            </a:r>
            <a:endParaRPr lang="en-US" sz="1600" dirty="0">
              <a:solidFill>
                <a:srgbClr val="66FFFF"/>
              </a:solidFill>
            </a:endParaRPr>
          </a:p>
        </p:txBody>
      </p:sp>
      <p:sp>
        <p:nvSpPr>
          <p:cNvPr id="8" name="TextBox 7"/>
          <p:cNvSpPr txBox="1"/>
          <p:nvPr/>
        </p:nvSpPr>
        <p:spPr>
          <a:xfrm>
            <a:off x="3411617" y="2415861"/>
            <a:ext cx="1936855" cy="338554"/>
          </a:xfrm>
          <a:prstGeom prst="rect">
            <a:avLst/>
          </a:prstGeom>
          <a:noFill/>
        </p:spPr>
        <p:txBody>
          <a:bodyPr wrap="square" rtlCol="0">
            <a:spAutoFit/>
          </a:bodyPr>
          <a:lstStyle/>
          <a:p>
            <a:r>
              <a:rPr lang="en-US" sz="1600" dirty="0" smtClean="0">
                <a:solidFill>
                  <a:srgbClr val="FFFF00"/>
                </a:solidFill>
              </a:rPr>
              <a:t>Global variable</a:t>
            </a:r>
            <a:endParaRPr lang="en-US" sz="1600" dirty="0">
              <a:solidFill>
                <a:srgbClr val="FFFF00"/>
              </a:solidFill>
            </a:endParaRPr>
          </a:p>
        </p:txBody>
      </p:sp>
      <p:sp>
        <p:nvSpPr>
          <p:cNvPr id="10" name="Subtitle 2"/>
          <p:cNvSpPr txBox="1">
            <a:spLocks/>
          </p:cNvSpPr>
          <p:nvPr/>
        </p:nvSpPr>
        <p:spPr>
          <a:xfrm>
            <a:off x="646111" y="1046983"/>
            <a:ext cx="8825658" cy="86142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US" dirty="0" smtClean="0">
                <a:solidFill>
                  <a:srgbClr val="92D050"/>
                </a:solidFill>
              </a:rPr>
              <a:t>VARIABLE SCOPE</a:t>
            </a:r>
            <a:endParaRPr lang="en-CA" dirty="0">
              <a:solidFill>
                <a:srgbClr val="92D050"/>
              </a:solidFill>
            </a:endParaRPr>
          </a:p>
        </p:txBody>
      </p:sp>
      <p:sp>
        <p:nvSpPr>
          <p:cNvPr id="9" name="Line Callout 1 (Accent Bar) 8"/>
          <p:cNvSpPr/>
          <p:nvPr/>
        </p:nvSpPr>
        <p:spPr>
          <a:xfrm>
            <a:off x="740845" y="2447513"/>
            <a:ext cx="840504" cy="360421"/>
          </a:xfrm>
          <a:prstGeom prst="accentCallout1">
            <a:avLst>
              <a:gd name="adj1" fmla="val 16083"/>
              <a:gd name="adj2" fmla="val 125000"/>
              <a:gd name="adj3" fmla="val 39421"/>
              <a:gd name="adj4" fmla="val 296630"/>
            </a:avLst>
          </a:prstGeom>
          <a:solidFill>
            <a:srgbClr val="FFFF00">
              <a:alpha val="32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11" name="Line Callout 1 (Accent Bar) 10"/>
          <p:cNvSpPr/>
          <p:nvPr/>
        </p:nvSpPr>
        <p:spPr>
          <a:xfrm>
            <a:off x="1200410" y="4190664"/>
            <a:ext cx="1456022" cy="427989"/>
          </a:xfrm>
          <a:prstGeom prst="accentCallout1">
            <a:avLst>
              <a:gd name="adj1" fmla="val 13264"/>
              <a:gd name="adj2" fmla="val 101006"/>
              <a:gd name="adj3" fmla="val 47922"/>
              <a:gd name="adj4" fmla="val 142275"/>
            </a:avLst>
          </a:prstGeom>
          <a:solidFill>
            <a:srgbClr val="66FFFF">
              <a:alpha val="31000"/>
            </a:srgbClr>
          </a:solidFill>
          <a:ln>
            <a:solidFill>
              <a:srgbClr val="66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344872" y="4305002"/>
            <a:ext cx="4841006" cy="338554"/>
          </a:xfrm>
          <a:prstGeom prst="rect">
            <a:avLst/>
          </a:prstGeom>
          <a:noFill/>
        </p:spPr>
        <p:txBody>
          <a:bodyPr wrap="square" rtlCol="0">
            <a:spAutoFit/>
          </a:bodyPr>
          <a:lstStyle/>
          <a:p>
            <a:r>
              <a:rPr lang="en-US" sz="1600" dirty="0" smtClean="0">
                <a:solidFill>
                  <a:srgbClr val="66FFFF"/>
                </a:solidFill>
              </a:rPr>
              <a:t>Local to </a:t>
            </a:r>
            <a:r>
              <a:rPr lang="en-US" sz="1600" dirty="0" err="1" smtClean="0">
                <a:solidFill>
                  <a:srgbClr val="66FFFF"/>
                </a:solidFill>
              </a:rPr>
              <a:t>function_two</a:t>
            </a:r>
            <a:r>
              <a:rPr lang="en-US" sz="1600" dirty="0" smtClean="0">
                <a:solidFill>
                  <a:srgbClr val="66FFFF"/>
                </a:solidFill>
              </a:rPr>
              <a:t>()</a:t>
            </a:r>
            <a:endParaRPr lang="en-US" sz="1600" dirty="0">
              <a:solidFill>
                <a:srgbClr val="66FFFF"/>
              </a:solidFill>
            </a:endParaRPr>
          </a:p>
        </p:txBody>
      </p:sp>
      <p:sp>
        <p:nvSpPr>
          <p:cNvPr id="13" name="Content Placeholder 2"/>
          <p:cNvSpPr txBox="1">
            <a:spLocks/>
          </p:cNvSpPr>
          <p:nvPr/>
        </p:nvSpPr>
        <p:spPr>
          <a:xfrm>
            <a:off x="8185878" y="2987928"/>
            <a:ext cx="2883999" cy="310126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dirty="0" smtClean="0"/>
              <a:t>Program Output:</a:t>
            </a:r>
          </a:p>
          <a:p>
            <a:pPr marL="0" indent="0">
              <a:buFont typeface="Wingdings 3" charset="2"/>
              <a:buNone/>
            </a:pPr>
            <a:r>
              <a:rPr lang="en-US" dirty="0" smtClean="0"/>
              <a:t>3</a:t>
            </a:r>
          </a:p>
          <a:p>
            <a:pPr marL="0" indent="0">
              <a:buFont typeface="Wingdings 3" charset="2"/>
              <a:buNone/>
            </a:pPr>
            <a:r>
              <a:rPr lang="en-US" dirty="0" smtClean="0"/>
              <a:t>4</a:t>
            </a:r>
          </a:p>
          <a:p>
            <a:pPr marL="0" indent="0">
              <a:buFont typeface="Wingdings 3" charset="2"/>
              <a:buNone/>
            </a:pPr>
            <a:r>
              <a:rPr lang="en-US" dirty="0" smtClean="0"/>
              <a:t>apple</a:t>
            </a:r>
          </a:p>
        </p:txBody>
      </p:sp>
      <p:sp>
        <p:nvSpPr>
          <p:cNvPr id="14" name="Line Callout 1 (Accent Bar) 13"/>
          <p:cNvSpPr/>
          <p:nvPr/>
        </p:nvSpPr>
        <p:spPr>
          <a:xfrm>
            <a:off x="1200409" y="4656118"/>
            <a:ext cx="1022183" cy="261937"/>
          </a:xfrm>
          <a:prstGeom prst="accentCallout1">
            <a:avLst>
              <a:gd name="adj1" fmla="val 21179"/>
              <a:gd name="adj2" fmla="val 108023"/>
              <a:gd name="adj3" fmla="val 251451"/>
              <a:gd name="adj4" fmla="val 206685"/>
            </a:avLst>
          </a:prstGeom>
          <a:solidFill>
            <a:srgbClr val="FFFF00">
              <a:alpha val="32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15" name="TextBox 14"/>
          <p:cNvSpPr txBox="1"/>
          <p:nvPr/>
        </p:nvSpPr>
        <p:spPr>
          <a:xfrm>
            <a:off x="3344872" y="5202788"/>
            <a:ext cx="4695825" cy="523220"/>
          </a:xfrm>
          <a:prstGeom prst="rect">
            <a:avLst/>
          </a:prstGeom>
          <a:noFill/>
        </p:spPr>
        <p:txBody>
          <a:bodyPr wrap="square" rtlCol="0">
            <a:spAutoFit/>
          </a:bodyPr>
          <a:lstStyle/>
          <a:p>
            <a:r>
              <a:rPr lang="en-US" sz="1400" dirty="0" smtClean="0">
                <a:solidFill>
                  <a:srgbClr val="FFFF00"/>
                </a:solidFill>
              </a:rPr>
              <a:t>Python will always assume reference to local variable over global if there is one.</a:t>
            </a:r>
            <a:endParaRPr lang="en-US" sz="1400" dirty="0">
              <a:solidFill>
                <a:srgbClr val="FFFF00"/>
              </a:solidFill>
            </a:endParaRPr>
          </a:p>
        </p:txBody>
      </p:sp>
    </p:spTree>
    <p:extLst>
      <p:ext uri="{BB962C8B-B14F-4D97-AF65-F5344CB8AC3E}">
        <p14:creationId xmlns:p14="http://schemas.microsoft.com/office/powerpoint/2010/main" val="218324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9" end="9"/>
                                            </p:txEl>
                                          </p:spTgt>
                                        </p:tgtEl>
                                        <p:attrNameLst>
                                          <p:attrName>style.visibility</p:attrName>
                                        </p:attrNameLst>
                                      </p:cBhvr>
                                      <p:to>
                                        <p:strVal val="visible"/>
                                      </p:to>
                                    </p:set>
                                    <p:animEffect transition="in" filter="fade">
                                      <p:cBhvr>
                                        <p:cTn id="28" dur="500"/>
                                        <p:tgtEl>
                                          <p:spTgt spid="3">
                                            <p:txEl>
                                              <p:pRg st="9" end="9"/>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Effect transition="in" filter="fade">
                                      <p:cBhvr>
                                        <p:cTn id="31" dur="500"/>
                                        <p:tgtEl>
                                          <p:spTgt spid="3">
                                            <p:txEl>
                                              <p:pRg st="10" end="10"/>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11" end="11"/>
                                            </p:txEl>
                                          </p:spTgt>
                                        </p:tgtEl>
                                        <p:attrNameLst>
                                          <p:attrName>style.visibility</p:attrName>
                                        </p:attrNameLst>
                                      </p:cBhvr>
                                      <p:to>
                                        <p:strVal val="visible"/>
                                      </p:to>
                                    </p:set>
                                    <p:animEffect transition="in" filter="fade">
                                      <p:cBhvr>
                                        <p:cTn id="34" dur="500"/>
                                        <p:tgtEl>
                                          <p:spTgt spid="3">
                                            <p:txEl>
                                              <p:pRg st="11" end="1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fade">
                                      <p:cBhvr>
                                        <p:cTn id="47" dur="500"/>
                                        <p:tgtEl>
                                          <p:spTgt spid="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fade">
                                      <p:cBhvr>
                                        <p:cTn id="50" dur="500"/>
                                        <p:tgtEl>
                                          <p:spTgt spid="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500"/>
                                        <p:tgtEl>
                                          <p:spTgt spid="1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500"/>
                                        <p:tgtEl>
                                          <p:spTgt spid="1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500"/>
                                        <p:tgtEl>
                                          <p:spTgt spid="15"/>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p:bldP spid="9" grpId="0" animBg="1"/>
      <p:bldP spid="11" grpId="0" animBg="1"/>
      <p:bldP spid="12" grpId="0"/>
      <p:bldP spid="13" grpId="0"/>
      <p:bldP spid="14" grpId="0" animBg="1"/>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415" y="452718"/>
            <a:ext cx="9404723" cy="1400530"/>
          </a:xfrm>
        </p:spPr>
        <p:txBody>
          <a:bodyPr/>
          <a:lstStyle/>
          <a:p>
            <a:r>
              <a:rPr lang="en-US" dirty="0" smtClean="0"/>
              <a:t>Functions</a:t>
            </a:r>
            <a:endParaRPr lang="en-CA" dirty="0"/>
          </a:p>
        </p:txBody>
      </p:sp>
      <p:sp>
        <p:nvSpPr>
          <p:cNvPr id="3" name="Content Placeholder 2"/>
          <p:cNvSpPr>
            <a:spLocks noGrp="1"/>
          </p:cNvSpPr>
          <p:nvPr>
            <p:ph idx="1"/>
          </p:nvPr>
        </p:nvSpPr>
        <p:spPr>
          <a:xfrm>
            <a:off x="585670" y="1908403"/>
            <a:ext cx="7150022" cy="4412304"/>
          </a:xfrm>
        </p:spPr>
        <p:txBody>
          <a:bodyPr>
            <a:normAutofit fontScale="92500" lnSpcReduction="10000"/>
          </a:bodyPr>
          <a:lstStyle/>
          <a:p>
            <a:pPr marL="0" indent="0">
              <a:buNone/>
            </a:pPr>
            <a:r>
              <a:rPr lang="en-US" dirty="0" smtClean="0"/>
              <a:t>Create a program that will allow three different individuals to be greeted. Create one </a:t>
            </a:r>
            <a:r>
              <a:rPr lang="en-US" b="1" dirty="0" smtClean="0"/>
              <a:t>user-defined function</a:t>
            </a:r>
            <a:r>
              <a:rPr lang="en-US" dirty="0" smtClean="0"/>
              <a:t> called greeting().</a:t>
            </a:r>
          </a:p>
          <a:p>
            <a:pPr marL="0" indent="0">
              <a:buNone/>
            </a:pPr>
            <a:endParaRPr lang="en-US" dirty="0"/>
          </a:p>
          <a:p>
            <a:pPr marL="0" indent="0">
              <a:buNone/>
            </a:pPr>
            <a:r>
              <a:rPr lang="en-US" dirty="0" smtClean="0"/>
              <a:t>In the main body of  your program, ask the user to supply a first name and store it in a </a:t>
            </a:r>
            <a:r>
              <a:rPr lang="en-US" b="1" dirty="0" smtClean="0"/>
              <a:t>global variable</a:t>
            </a:r>
            <a:r>
              <a:rPr lang="en-US" dirty="0" smtClean="0"/>
              <a:t> called </a:t>
            </a:r>
            <a:r>
              <a:rPr lang="en-US" b="1" dirty="0" smtClean="0"/>
              <a:t>name</a:t>
            </a:r>
            <a:r>
              <a:rPr lang="en-US" dirty="0" smtClean="0"/>
              <a:t>.</a:t>
            </a:r>
          </a:p>
          <a:p>
            <a:pPr marL="0" indent="0">
              <a:buNone/>
            </a:pPr>
            <a:endParaRPr lang="en-US" dirty="0"/>
          </a:p>
          <a:p>
            <a:pPr marL="0" indent="0">
              <a:buNone/>
            </a:pPr>
            <a:r>
              <a:rPr lang="en-US" dirty="0" smtClean="0"/>
              <a:t>After the user input is gathered, call the greeting() function. This function should reference the global variable </a:t>
            </a:r>
            <a:r>
              <a:rPr lang="en-US" b="1" dirty="0" smtClean="0"/>
              <a:t>name</a:t>
            </a:r>
            <a:r>
              <a:rPr lang="en-US" dirty="0" smtClean="0"/>
              <a:t> and print out “Nice to meet you, ________”</a:t>
            </a:r>
          </a:p>
          <a:p>
            <a:pPr marL="0" indent="0">
              <a:buNone/>
            </a:pPr>
            <a:endParaRPr lang="en-US" dirty="0"/>
          </a:p>
          <a:p>
            <a:pPr marL="0" indent="0">
              <a:buNone/>
            </a:pPr>
            <a:r>
              <a:rPr lang="en-US" dirty="0" smtClean="0"/>
              <a:t>Have your program repeat this sequence 3 times. Only use one variable (just overwrite it) and one function.</a:t>
            </a:r>
          </a:p>
          <a:p>
            <a:pPr marL="0" indent="0">
              <a:buNone/>
            </a:pPr>
            <a:endParaRPr lang="en-US" dirty="0"/>
          </a:p>
          <a:p>
            <a:pPr marL="0" indent="0">
              <a:buNone/>
            </a:pPr>
            <a:endParaRPr lang="en-US" dirty="0" smtClean="0">
              <a:solidFill>
                <a:schemeClr val="tx1">
                  <a:lumMod val="85000"/>
                </a:schemeClr>
              </a:solidFill>
            </a:endParaRPr>
          </a:p>
          <a:p>
            <a:pPr marL="0" indent="0">
              <a:buNone/>
            </a:pPr>
            <a:endParaRPr lang="en-US" dirty="0">
              <a:solidFill>
                <a:schemeClr val="tx1">
                  <a:lumMod val="85000"/>
                </a:schemeClr>
              </a:solidFill>
            </a:endParaRPr>
          </a:p>
          <a:p>
            <a:pPr marL="0" indent="0">
              <a:buNone/>
            </a:pPr>
            <a:endParaRPr lang="en-CA" dirty="0"/>
          </a:p>
          <a:p>
            <a:pPr marL="0" indent="0">
              <a:buNone/>
            </a:pPr>
            <a:endParaRPr lang="en-US" dirty="0" smtClean="0"/>
          </a:p>
        </p:txBody>
      </p:sp>
      <p:sp>
        <p:nvSpPr>
          <p:cNvPr id="10" name="Subtitle 2"/>
          <p:cNvSpPr txBox="1">
            <a:spLocks/>
          </p:cNvSpPr>
          <p:nvPr/>
        </p:nvSpPr>
        <p:spPr>
          <a:xfrm>
            <a:off x="646111" y="1046983"/>
            <a:ext cx="8825658" cy="86142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US" dirty="0" smtClean="0">
                <a:solidFill>
                  <a:srgbClr val="92D050"/>
                </a:solidFill>
              </a:rPr>
              <a:t>EXERCISE</a:t>
            </a:r>
            <a:endParaRPr lang="en-CA" dirty="0">
              <a:solidFill>
                <a:srgbClr val="92D050"/>
              </a:solidFill>
            </a:endParaRPr>
          </a:p>
        </p:txBody>
      </p:sp>
      <p:sp>
        <p:nvSpPr>
          <p:cNvPr id="5" name="Content Placeholder 2"/>
          <p:cNvSpPr txBox="1">
            <a:spLocks/>
          </p:cNvSpPr>
          <p:nvPr/>
        </p:nvSpPr>
        <p:spPr>
          <a:xfrm>
            <a:off x="8136157" y="1908403"/>
            <a:ext cx="3637578" cy="441230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sz="1700" b="1" dirty="0" smtClean="0">
                <a:solidFill>
                  <a:srgbClr val="92D050"/>
                </a:solidFill>
              </a:rPr>
              <a:t>Sample Run Example:</a:t>
            </a:r>
          </a:p>
          <a:p>
            <a:pPr marL="0" indent="0">
              <a:buNone/>
            </a:pPr>
            <a:r>
              <a:rPr lang="en-US" sz="1700" dirty="0">
                <a:solidFill>
                  <a:srgbClr val="92D050"/>
                </a:solidFill>
              </a:rPr>
              <a:t>&gt;&gt;&gt;</a:t>
            </a:r>
            <a:r>
              <a:rPr lang="en-US" sz="1700" dirty="0">
                <a:solidFill>
                  <a:schemeClr val="tx2">
                    <a:lumMod val="90000"/>
                  </a:schemeClr>
                </a:solidFill>
              </a:rPr>
              <a:t> Enter a name:  </a:t>
            </a:r>
            <a:r>
              <a:rPr lang="en-US" sz="1700" dirty="0">
                <a:solidFill>
                  <a:schemeClr val="accent1">
                    <a:lumMod val="60000"/>
                    <a:lumOff val="40000"/>
                  </a:schemeClr>
                </a:solidFill>
              </a:rPr>
              <a:t>Mr. Scott</a:t>
            </a:r>
          </a:p>
          <a:p>
            <a:pPr marL="0" indent="0">
              <a:buNone/>
            </a:pPr>
            <a:r>
              <a:rPr lang="en-US" sz="1700" dirty="0">
                <a:solidFill>
                  <a:srgbClr val="92D050"/>
                </a:solidFill>
              </a:rPr>
              <a:t>&gt;&gt;&gt;</a:t>
            </a:r>
            <a:r>
              <a:rPr lang="en-US" sz="1700" dirty="0">
                <a:solidFill>
                  <a:schemeClr val="tx2">
                    <a:lumMod val="90000"/>
                  </a:schemeClr>
                </a:solidFill>
              </a:rPr>
              <a:t> Nice to meet you, Mr. Scott</a:t>
            </a:r>
          </a:p>
          <a:p>
            <a:pPr marL="0" indent="0">
              <a:buNone/>
            </a:pPr>
            <a:r>
              <a:rPr lang="en-US" sz="1800" dirty="0">
                <a:solidFill>
                  <a:srgbClr val="92D050"/>
                </a:solidFill>
              </a:rPr>
              <a:t>&gt;&gt;&gt;</a:t>
            </a:r>
            <a:r>
              <a:rPr lang="en-US" sz="1800" dirty="0">
                <a:solidFill>
                  <a:schemeClr val="tx2">
                    <a:lumMod val="90000"/>
                  </a:schemeClr>
                </a:solidFill>
              </a:rPr>
              <a:t> Enter a name:  </a:t>
            </a:r>
            <a:r>
              <a:rPr lang="en-US" sz="1800" dirty="0" smtClean="0">
                <a:solidFill>
                  <a:schemeClr val="accent1">
                    <a:lumMod val="60000"/>
                    <a:lumOff val="40000"/>
                  </a:schemeClr>
                </a:solidFill>
              </a:rPr>
              <a:t>Francis</a:t>
            </a:r>
            <a:endParaRPr lang="en-US" sz="1800" dirty="0">
              <a:solidFill>
                <a:schemeClr val="accent1">
                  <a:lumMod val="60000"/>
                  <a:lumOff val="40000"/>
                </a:schemeClr>
              </a:solidFill>
            </a:endParaRPr>
          </a:p>
          <a:p>
            <a:pPr marL="0" indent="0">
              <a:buNone/>
            </a:pPr>
            <a:r>
              <a:rPr lang="en-US" sz="1800" dirty="0">
                <a:solidFill>
                  <a:srgbClr val="92D050"/>
                </a:solidFill>
              </a:rPr>
              <a:t>&gt;&gt;&gt;</a:t>
            </a:r>
            <a:r>
              <a:rPr lang="en-US" sz="1800" dirty="0">
                <a:solidFill>
                  <a:schemeClr val="tx2">
                    <a:lumMod val="90000"/>
                  </a:schemeClr>
                </a:solidFill>
              </a:rPr>
              <a:t> Nice to meet you, </a:t>
            </a:r>
            <a:r>
              <a:rPr lang="en-US" sz="1800" dirty="0" smtClean="0">
                <a:solidFill>
                  <a:schemeClr val="tx2">
                    <a:lumMod val="90000"/>
                  </a:schemeClr>
                </a:solidFill>
              </a:rPr>
              <a:t>Francis</a:t>
            </a:r>
            <a:endParaRPr lang="en-US" sz="1800" dirty="0">
              <a:solidFill>
                <a:schemeClr val="tx2">
                  <a:lumMod val="90000"/>
                </a:schemeClr>
              </a:solidFill>
            </a:endParaRPr>
          </a:p>
          <a:p>
            <a:pPr marL="0" indent="0">
              <a:buNone/>
            </a:pPr>
            <a:r>
              <a:rPr lang="en-US" sz="1800" dirty="0">
                <a:solidFill>
                  <a:srgbClr val="92D050"/>
                </a:solidFill>
              </a:rPr>
              <a:t>&gt;&gt;&gt;</a:t>
            </a:r>
            <a:r>
              <a:rPr lang="en-US" sz="1800" dirty="0">
                <a:solidFill>
                  <a:schemeClr val="tx2">
                    <a:lumMod val="90000"/>
                  </a:schemeClr>
                </a:solidFill>
              </a:rPr>
              <a:t> Enter a name:  </a:t>
            </a:r>
            <a:r>
              <a:rPr lang="en-US" sz="1800" dirty="0" smtClean="0">
                <a:solidFill>
                  <a:schemeClr val="accent1">
                    <a:lumMod val="60000"/>
                    <a:lumOff val="40000"/>
                  </a:schemeClr>
                </a:solidFill>
              </a:rPr>
              <a:t>Martha</a:t>
            </a:r>
            <a:endParaRPr lang="en-US" sz="1800" dirty="0">
              <a:solidFill>
                <a:schemeClr val="accent1">
                  <a:lumMod val="60000"/>
                  <a:lumOff val="40000"/>
                </a:schemeClr>
              </a:solidFill>
            </a:endParaRPr>
          </a:p>
          <a:p>
            <a:pPr marL="0" indent="0">
              <a:buNone/>
            </a:pPr>
            <a:r>
              <a:rPr lang="en-US" sz="1800" dirty="0">
                <a:solidFill>
                  <a:srgbClr val="92D050"/>
                </a:solidFill>
              </a:rPr>
              <a:t>&gt;&gt;&gt;</a:t>
            </a:r>
            <a:r>
              <a:rPr lang="en-US" sz="1800" dirty="0">
                <a:solidFill>
                  <a:schemeClr val="tx2">
                    <a:lumMod val="90000"/>
                  </a:schemeClr>
                </a:solidFill>
              </a:rPr>
              <a:t> Nice to meet you, Martha</a:t>
            </a:r>
          </a:p>
          <a:p>
            <a:pPr marL="0" indent="0">
              <a:buNone/>
            </a:pPr>
            <a:r>
              <a:rPr lang="en-US" sz="1800" dirty="0">
                <a:solidFill>
                  <a:srgbClr val="92D050"/>
                </a:solidFill>
              </a:rPr>
              <a:t>&gt;&gt;&gt;</a:t>
            </a:r>
            <a:r>
              <a:rPr lang="en-US" sz="1800" dirty="0">
                <a:solidFill>
                  <a:schemeClr val="tx2">
                    <a:lumMod val="90000"/>
                  </a:schemeClr>
                </a:solidFill>
              </a:rPr>
              <a:t> </a:t>
            </a:r>
            <a:r>
              <a:rPr lang="en-US" sz="1800" dirty="0" smtClean="0">
                <a:solidFill>
                  <a:schemeClr val="tx2">
                    <a:lumMod val="90000"/>
                  </a:schemeClr>
                </a:solidFill>
              </a:rPr>
              <a:t>Program complete.</a:t>
            </a:r>
            <a:endParaRPr lang="en-US" sz="1800" dirty="0">
              <a:solidFill>
                <a:schemeClr val="tx2">
                  <a:lumMod val="90000"/>
                </a:schemeClr>
              </a:solidFill>
            </a:endParaRPr>
          </a:p>
          <a:p>
            <a:pPr marL="0" indent="0">
              <a:buFont typeface="Wingdings 3" charset="2"/>
              <a:buNone/>
            </a:pPr>
            <a:endParaRPr lang="en-US" sz="1800" dirty="0" smtClean="0"/>
          </a:p>
          <a:p>
            <a:pPr marL="0" indent="0">
              <a:buFont typeface="Wingdings 3" charset="2"/>
              <a:buNone/>
            </a:pPr>
            <a:endParaRPr lang="en-US" sz="1800" dirty="0" smtClean="0">
              <a:solidFill>
                <a:schemeClr val="tx1">
                  <a:lumMod val="85000"/>
                </a:schemeClr>
              </a:solidFill>
            </a:endParaRPr>
          </a:p>
          <a:p>
            <a:pPr marL="0" indent="0">
              <a:buFont typeface="Wingdings 3" charset="2"/>
              <a:buNone/>
            </a:pPr>
            <a:endParaRPr lang="en-US" sz="1800" dirty="0" smtClean="0">
              <a:solidFill>
                <a:schemeClr val="tx1">
                  <a:lumMod val="85000"/>
                </a:schemeClr>
              </a:solidFill>
            </a:endParaRPr>
          </a:p>
          <a:p>
            <a:pPr marL="0" indent="0">
              <a:buFont typeface="Wingdings 3" charset="2"/>
              <a:buNone/>
            </a:pPr>
            <a:endParaRPr lang="en-CA" sz="1800" dirty="0" smtClean="0"/>
          </a:p>
          <a:p>
            <a:pPr marL="0" indent="0">
              <a:buFont typeface="Wingdings 3" charset="2"/>
              <a:buNone/>
            </a:pPr>
            <a:endParaRPr lang="en-US" sz="1800" dirty="0" smtClean="0"/>
          </a:p>
        </p:txBody>
      </p:sp>
    </p:spTree>
    <p:extLst>
      <p:ext uri="{BB962C8B-B14F-4D97-AF65-F5344CB8AC3E}">
        <p14:creationId xmlns:p14="http://schemas.microsoft.com/office/powerpoint/2010/main" val="34809485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6111" y="1477693"/>
            <a:ext cx="8289234" cy="6214732"/>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485" y="1326347"/>
            <a:ext cx="9404339" cy="7050766"/>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7529" y="1387732"/>
            <a:ext cx="8956565" cy="6715054"/>
          </a:xfrm>
          <a:prstGeom prst="rect">
            <a:avLst/>
          </a:prstGeom>
        </p:spPr>
      </p:pic>
      <p:sp>
        <p:nvSpPr>
          <p:cNvPr id="2" name="Title 1"/>
          <p:cNvSpPr>
            <a:spLocks noGrp="1"/>
          </p:cNvSpPr>
          <p:nvPr>
            <p:ph type="title"/>
          </p:nvPr>
        </p:nvSpPr>
        <p:spPr>
          <a:xfrm>
            <a:off x="619415" y="452718"/>
            <a:ext cx="9404723" cy="1400530"/>
          </a:xfrm>
        </p:spPr>
        <p:txBody>
          <a:bodyPr/>
          <a:lstStyle/>
          <a:p>
            <a:r>
              <a:rPr lang="en-US" dirty="0" smtClean="0"/>
              <a:t>Functions</a:t>
            </a:r>
            <a:endParaRPr lang="en-CA" dirty="0"/>
          </a:p>
        </p:txBody>
      </p:sp>
      <p:sp>
        <p:nvSpPr>
          <p:cNvPr id="3" name="Content Placeholder 2"/>
          <p:cNvSpPr>
            <a:spLocks noGrp="1"/>
          </p:cNvSpPr>
          <p:nvPr>
            <p:ph idx="1"/>
          </p:nvPr>
        </p:nvSpPr>
        <p:spPr>
          <a:xfrm>
            <a:off x="8387579" y="2447513"/>
            <a:ext cx="3505884" cy="2681895"/>
          </a:xfrm>
        </p:spPr>
        <p:txBody>
          <a:bodyPr>
            <a:normAutofit fontScale="92500" lnSpcReduction="10000"/>
          </a:bodyPr>
          <a:lstStyle/>
          <a:p>
            <a:pPr marL="0" indent="0">
              <a:buNone/>
            </a:pPr>
            <a:r>
              <a:rPr lang="en-US" dirty="0" smtClean="0"/>
              <a:t>When referencing a global variable from a function, the actual memory location is addressed.</a:t>
            </a:r>
          </a:p>
          <a:p>
            <a:pPr marL="0" indent="0">
              <a:buNone/>
            </a:pPr>
            <a:r>
              <a:rPr lang="en-US" dirty="0" smtClean="0"/>
              <a:t>However, if you want to modify the contents of a global variable from a function, you must take one additional step.</a:t>
            </a:r>
          </a:p>
          <a:p>
            <a:pPr marL="0" indent="0">
              <a:buNone/>
            </a:pPr>
            <a:endParaRPr lang="en-US" dirty="0"/>
          </a:p>
          <a:p>
            <a:pPr marL="0" indent="0">
              <a:buNone/>
            </a:pPr>
            <a:endParaRPr lang="en-US" dirty="0"/>
          </a:p>
          <a:p>
            <a:pPr marL="0" indent="0">
              <a:buNone/>
            </a:pPr>
            <a:endParaRPr lang="en-US" dirty="0" smtClean="0">
              <a:solidFill>
                <a:schemeClr val="tx1">
                  <a:lumMod val="85000"/>
                </a:schemeClr>
              </a:solidFill>
            </a:endParaRPr>
          </a:p>
          <a:p>
            <a:pPr marL="0" indent="0">
              <a:buNone/>
            </a:pPr>
            <a:endParaRPr lang="en-US" dirty="0">
              <a:solidFill>
                <a:schemeClr val="tx1">
                  <a:lumMod val="85000"/>
                </a:schemeClr>
              </a:solidFill>
            </a:endParaRPr>
          </a:p>
          <a:p>
            <a:pPr marL="0" indent="0">
              <a:buNone/>
            </a:pPr>
            <a:endParaRPr lang="en-CA" dirty="0"/>
          </a:p>
          <a:p>
            <a:pPr marL="0" indent="0">
              <a:buNone/>
            </a:pPr>
            <a:endParaRPr lang="en-US" dirty="0" smtClean="0"/>
          </a:p>
        </p:txBody>
      </p:sp>
      <p:sp>
        <p:nvSpPr>
          <p:cNvPr id="10" name="Subtitle 2"/>
          <p:cNvSpPr txBox="1">
            <a:spLocks/>
          </p:cNvSpPr>
          <p:nvPr/>
        </p:nvSpPr>
        <p:spPr>
          <a:xfrm>
            <a:off x="646111" y="1046983"/>
            <a:ext cx="8825658" cy="86142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US" dirty="0" smtClean="0">
                <a:solidFill>
                  <a:srgbClr val="92D050"/>
                </a:solidFill>
              </a:rPr>
              <a:t>INFORMATION SHARING BETWEEN GLOBAL AND LOCAL SCOPE</a:t>
            </a:r>
            <a:endParaRPr lang="en-CA" dirty="0">
              <a:solidFill>
                <a:srgbClr val="92D050"/>
              </a:solidFill>
            </a:endParaRPr>
          </a:p>
        </p:txBody>
      </p:sp>
      <p:sp>
        <p:nvSpPr>
          <p:cNvPr id="5" name="Content Placeholder 2"/>
          <p:cNvSpPr txBox="1">
            <a:spLocks/>
          </p:cNvSpPr>
          <p:nvPr/>
        </p:nvSpPr>
        <p:spPr>
          <a:xfrm>
            <a:off x="8136157" y="1908403"/>
            <a:ext cx="3637578" cy="441230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endParaRPr lang="en-US" sz="1800" dirty="0" smtClean="0"/>
          </a:p>
          <a:p>
            <a:pPr marL="0" indent="0">
              <a:buFont typeface="Wingdings 3" charset="2"/>
              <a:buNone/>
            </a:pPr>
            <a:endParaRPr lang="en-US" sz="1800" dirty="0" smtClean="0">
              <a:solidFill>
                <a:schemeClr val="tx1">
                  <a:lumMod val="85000"/>
                </a:schemeClr>
              </a:solidFill>
            </a:endParaRPr>
          </a:p>
          <a:p>
            <a:pPr marL="0" indent="0">
              <a:buFont typeface="Wingdings 3" charset="2"/>
              <a:buNone/>
            </a:pPr>
            <a:endParaRPr lang="en-US" sz="1800" dirty="0" smtClean="0">
              <a:solidFill>
                <a:schemeClr val="tx1">
                  <a:lumMod val="85000"/>
                </a:schemeClr>
              </a:solidFill>
            </a:endParaRPr>
          </a:p>
          <a:p>
            <a:pPr marL="0" indent="0">
              <a:buFont typeface="Wingdings 3" charset="2"/>
              <a:buNone/>
            </a:pPr>
            <a:endParaRPr lang="en-CA" sz="1800" dirty="0" smtClean="0"/>
          </a:p>
          <a:p>
            <a:pPr marL="0" indent="0">
              <a:buFont typeface="Wingdings 3" charset="2"/>
              <a:buNone/>
            </a:pPr>
            <a:endParaRPr lang="en-US" sz="1800" dirty="0" smtClean="0"/>
          </a:p>
        </p:txBody>
      </p:sp>
    </p:spTree>
    <p:extLst>
      <p:ext uri="{BB962C8B-B14F-4D97-AF65-F5344CB8AC3E}">
        <p14:creationId xmlns:p14="http://schemas.microsoft.com/office/powerpoint/2010/main" val="387597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2248" y="1487736"/>
            <a:ext cx="8254148" cy="6188427"/>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2746" y="1324719"/>
            <a:ext cx="9420269" cy="7062710"/>
          </a:xfrm>
          <a:prstGeom prst="rect">
            <a:avLst/>
          </a:prstGeom>
        </p:spPr>
      </p:pic>
      <p:sp>
        <p:nvSpPr>
          <p:cNvPr id="2" name="Title 1"/>
          <p:cNvSpPr>
            <a:spLocks noGrp="1"/>
          </p:cNvSpPr>
          <p:nvPr>
            <p:ph type="title"/>
          </p:nvPr>
        </p:nvSpPr>
        <p:spPr>
          <a:xfrm>
            <a:off x="619415" y="452718"/>
            <a:ext cx="9404723" cy="1400530"/>
          </a:xfrm>
        </p:spPr>
        <p:txBody>
          <a:bodyPr/>
          <a:lstStyle/>
          <a:p>
            <a:r>
              <a:rPr lang="en-US" dirty="0" smtClean="0"/>
              <a:t>Functions</a:t>
            </a:r>
            <a:endParaRPr lang="en-CA" dirty="0"/>
          </a:p>
        </p:txBody>
      </p:sp>
      <p:sp>
        <p:nvSpPr>
          <p:cNvPr id="3" name="Content Placeholder 2"/>
          <p:cNvSpPr>
            <a:spLocks noGrp="1"/>
          </p:cNvSpPr>
          <p:nvPr>
            <p:ph idx="1"/>
          </p:nvPr>
        </p:nvSpPr>
        <p:spPr>
          <a:xfrm>
            <a:off x="8339672" y="2718452"/>
            <a:ext cx="3505884" cy="1387143"/>
          </a:xfrm>
        </p:spPr>
        <p:txBody>
          <a:bodyPr>
            <a:normAutofit/>
          </a:bodyPr>
          <a:lstStyle/>
          <a:p>
            <a:pPr marL="0" indent="0">
              <a:buNone/>
            </a:pPr>
            <a:r>
              <a:rPr lang="en-US" sz="1600" dirty="0" smtClean="0"/>
              <a:t>Using the </a:t>
            </a:r>
            <a:r>
              <a:rPr lang="en-US" sz="1600" b="1" dirty="0" smtClean="0"/>
              <a:t>global</a:t>
            </a:r>
            <a:r>
              <a:rPr lang="en-US" sz="1600" dirty="0" smtClean="0"/>
              <a:t> keyword in a function indicates that the global variable will be used in the function, and may be modified.</a:t>
            </a:r>
          </a:p>
          <a:p>
            <a:pPr marL="0" indent="0">
              <a:buNone/>
            </a:pPr>
            <a:endParaRPr lang="en-US" dirty="0"/>
          </a:p>
          <a:p>
            <a:pPr marL="0" indent="0">
              <a:buNone/>
            </a:pPr>
            <a:endParaRPr lang="en-US" dirty="0"/>
          </a:p>
          <a:p>
            <a:pPr marL="0" indent="0">
              <a:buNone/>
            </a:pPr>
            <a:endParaRPr lang="en-US" dirty="0" smtClean="0">
              <a:solidFill>
                <a:schemeClr val="tx1">
                  <a:lumMod val="85000"/>
                </a:schemeClr>
              </a:solidFill>
            </a:endParaRPr>
          </a:p>
          <a:p>
            <a:pPr marL="0" indent="0">
              <a:buNone/>
            </a:pPr>
            <a:endParaRPr lang="en-US" dirty="0">
              <a:solidFill>
                <a:schemeClr val="tx1">
                  <a:lumMod val="85000"/>
                </a:schemeClr>
              </a:solidFill>
            </a:endParaRPr>
          </a:p>
          <a:p>
            <a:pPr marL="0" indent="0">
              <a:buNone/>
            </a:pPr>
            <a:endParaRPr lang="en-CA" dirty="0"/>
          </a:p>
          <a:p>
            <a:pPr marL="0" indent="0">
              <a:buNone/>
            </a:pPr>
            <a:endParaRPr lang="en-US" dirty="0" smtClean="0"/>
          </a:p>
        </p:txBody>
      </p:sp>
      <p:sp>
        <p:nvSpPr>
          <p:cNvPr id="10" name="Subtitle 2"/>
          <p:cNvSpPr txBox="1">
            <a:spLocks/>
          </p:cNvSpPr>
          <p:nvPr/>
        </p:nvSpPr>
        <p:spPr>
          <a:xfrm>
            <a:off x="646111" y="1046983"/>
            <a:ext cx="8825658" cy="86142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US" dirty="0" smtClean="0">
                <a:solidFill>
                  <a:srgbClr val="92D050"/>
                </a:solidFill>
              </a:rPr>
              <a:t>INFORMATION SHARING BETWEEN GLOBAL AND LOCAL SCOPE</a:t>
            </a:r>
            <a:endParaRPr lang="en-CA" dirty="0">
              <a:solidFill>
                <a:srgbClr val="92D050"/>
              </a:solidFill>
            </a:endParaRPr>
          </a:p>
        </p:txBody>
      </p:sp>
      <p:sp>
        <p:nvSpPr>
          <p:cNvPr id="5" name="Content Placeholder 2"/>
          <p:cNvSpPr txBox="1">
            <a:spLocks/>
          </p:cNvSpPr>
          <p:nvPr/>
        </p:nvSpPr>
        <p:spPr>
          <a:xfrm>
            <a:off x="8136157" y="1908403"/>
            <a:ext cx="3637578" cy="441230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endParaRPr lang="en-US" sz="1800" dirty="0" smtClean="0"/>
          </a:p>
          <a:p>
            <a:pPr marL="0" indent="0">
              <a:buFont typeface="Wingdings 3" charset="2"/>
              <a:buNone/>
            </a:pPr>
            <a:endParaRPr lang="en-US" sz="1800" dirty="0" smtClean="0">
              <a:solidFill>
                <a:schemeClr val="tx1">
                  <a:lumMod val="85000"/>
                </a:schemeClr>
              </a:solidFill>
            </a:endParaRPr>
          </a:p>
          <a:p>
            <a:pPr marL="0" indent="0">
              <a:buFont typeface="Wingdings 3" charset="2"/>
              <a:buNone/>
            </a:pPr>
            <a:endParaRPr lang="en-US" sz="1800" dirty="0" smtClean="0">
              <a:solidFill>
                <a:schemeClr val="tx1">
                  <a:lumMod val="85000"/>
                </a:schemeClr>
              </a:solidFill>
            </a:endParaRPr>
          </a:p>
          <a:p>
            <a:pPr marL="0" indent="0">
              <a:buFont typeface="Wingdings 3" charset="2"/>
              <a:buNone/>
            </a:pPr>
            <a:endParaRPr lang="en-CA" sz="1800" dirty="0" smtClean="0"/>
          </a:p>
          <a:p>
            <a:pPr marL="0" indent="0">
              <a:buFont typeface="Wingdings 3" charset="2"/>
              <a:buNone/>
            </a:pPr>
            <a:endParaRPr lang="en-US" sz="1800" dirty="0" smtClean="0"/>
          </a:p>
        </p:txBody>
      </p:sp>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6196" y="1388652"/>
            <a:ext cx="9282463" cy="6959392"/>
          </a:xfrm>
          <a:prstGeom prst="rect">
            <a:avLst/>
          </a:prstGeom>
        </p:spPr>
      </p:pic>
      <p:sp>
        <p:nvSpPr>
          <p:cNvPr id="12" name="Content Placeholder 2"/>
          <p:cNvSpPr txBox="1">
            <a:spLocks/>
          </p:cNvSpPr>
          <p:nvPr/>
        </p:nvSpPr>
        <p:spPr>
          <a:xfrm>
            <a:off x="4186707" y="4870124"/>
            <a:ext cx="3505884" cy="138714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sz="1600" dirty="0" smtClean="0">
                <a:solidFill>
                  <a:srgbClr val="FFFF00"/>
                </a:solidFill>
              </a:rPr>
              <a:t>When this line is reached, the value stored in </a:t>
            </a:r>
            <a:r>
              <a:rPr lang="en-US" sz="1600" b="1" dirty="0" smtClean="0">
                <a:solidFill>
                  <a:srgbClr val="FFFF00"/>
                </a:solidFill>
              </a:rPr>
              <a:t>name</a:t>
            </a:r>
            <a:r>
              <a:rPr lang="en-US" sz="1600" dirty="0" smtClean="0">
                <a:solidFill>
                  <a:srgbClr val="FFFF00"/>
                </a:solidFill>
              </a:rPr>
              <a:t> will have been modified (with “Mr. “ prepended to it)</a:t>
            </a:r>
            <a:br>
              <a:rPr lang="en-US" sz="1600" dirty="0" smtClean="0">
                <a:solidFill>
                  <a:srgbClr val="FFFF00"/>
                </a:solidFill>
              </a:rPr>
            </a:br>
            <a:endParaRPr lang="en-US" dirty="0" smtClean="0">
              <a:solidFill>
                <a:srgbClr val="FFFF00"/>
              </a:solidFill>
            </a:endParaRPr>
          </a:p>
        </p:txBody>
      </p:sp>
      <p:sp>
        <p:nvSpPr>
          <p:cNvPr id="13" name="Line Callout 1 (Accent Bar) 12"/>
          <p:cNvSpPr/>
          <p:nvPr/>
        </p:nvSpPr>
        <p:spPr>
          <a:xfrm>
            <a:off x="1655245" y="3619663"/>
            <a:ext cx="840504" cy="360421"/>
          </a:xfrm>
          <a:prstGeom prst="accentCallout1">
            <a:avLst>
              <a:gd name="adj1" fmla="val 16083"/>
              <a:gd name="adj2" fmla="val 106746"/>
              <a:gd name="adj3" fmla="val 420827"/>
              <a:gd name="adj4" fmla="val 299551"/>
            </a:avLst>
          </a:prstGeom>
          <a:solidFill>
            <a:srgbClr val="FFFF00">
              <a:alpha val="32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Tree>
    <p:extLst>
      <p:ext uri="{BB962C8B-B14F-4D97-AF65-F5344CB8AC3E}">
        <p14:creationId xmlns:p14="http://schemas.microsoft.com/office/powerpoint/2010/main" val="903778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animEffect transition="in" filter="fade">
                                      <p:cBhvr>
                                        <p:cTn id="27" dur="500"/>
                                        <p:tgtEl>
                                          <p:spTgt spid="12">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415" y="452718"/>
            <a:ext cx="9404723" cy="1400530"/>
          </a:xfrm>
        </p:spPr>
        <p:txBody>
          <a:bodyPr/>
          <a:lstStyle/>
          <a:p>
            <a:r>
              <a:rPr lang="en-US" dirty="0" smtClean="0"/>
              <a:t>Functions</a:t>
            </a:r>
            <a:endParaRPr lang="en-CA" dirty="0"/>
          </a:p>
        </p:txBody>
      </p:sp>
      <p:sp>
        <p:nvSpPr>
          <p:cNvPr id="3" name="Content Placeholder 2"/>
          <p:cNvSpPr>
            <a:spLocks noGrp="1"/>
          </p:cNvSpPr>
          <p:nvPr>
            <p:ph idx="1"/>
          </p:nvPr>
        </p:nvSpPr>
        <p:spPr>
          <a:xfrm>
            <a:off x="585670" y="1908403"/>
            <a:ext cx="7668478" cy="4412304"/>
          </a:xfrm>
        </p:spPr>
        <p:txBody>
          <a:bodyPr>
            <a:normAutofit/>
          </a:bodyPr>
          <a:lstStyle/>
          <a:p>
            <a:pPr marL="457200" indent="-457200">
              <a:buAutoNum type="arabicPeriod"/>
            </a:pPr>
            <a:r>
              <a:rPr lang="en-US" dirty="0" smtClean="0"/>
              <a:t>Create a program that asks the user for two numbers, store this input in two variables: </a:t>
            </a:r>
            <a:r>
              <a:rPr lang="en-US" b="1" dirty="0" smtClean="0"/>
              <a:t>num1 </a:t>
            </a:r>
            <a:r>
              <a:rPr lang="en-US" dirty="0" smtClean="0"/>
              <a:t>and </a:t>
            </a:r>
            <a:r>
              <a:rPr lang="en-US" b="1" dirty="0" smtClean="0"/>
              <a:t>num2</a:t>
            </a:r>
          </a:p>
          <a:p>
            <a:pPr marL="457200" indent="-457200">
              <a:buAutoNum type="arabicPeriod"/>
            </a:pPr>
            <a:r>
              <a:rPr lang="en-US" dirty="0" smtClean="0"/>
              <a:t>Create a third variable – </a:t>
            </a:r>
            <a:r>
              <a:rPr lang="en-US" b="1" dirty="0" smtClean="0"/>
              <a:t>sum</a:t>
            </a:r>
            <a:r>
              <a:rPr lang="en-US" dirty="0" smtClean="0"/>
              <a:t> – and give it an initial value of 0.</a:t>
            </a:r>
          </a:p>
          <a:p>
            <a:pPr marL="457200" indent="-457200">
              <a:buAutoNum type="arabicPeriod"/>
            </a:pPr>
            <a:r>
              <a:rPr lang="en-US" dirty="0" smtClean="0"/>
              <a:t>Create a function called </a:t>
            </a:r>
            <a:r>
              <a:rPr lang="en-US" b="1" dirty="0" err="1" smtClean="0"/>
              <a:t>add_numbers</a:t>
            </a:r>
            <a:r>
              <a:rPr lang="en-US" b="1" dirty="0" smtClean="0"/>
              <a:t>()</a:t>
            </a:r>
            <a:r>
              <a:rPr lang="en-US" dirty="0" smtClean="0"/>
              <a:t> which will access the global variables </a:t>
            </a:r>
            <a:r>
              <a:rPr lang="en-US" b="1" dirty="0" smtClean="0"/>
              <a:t>num1</a:t>
            </a:r>
            <a:r>
              <a:rPr lang="en-US" dirty="0" smtClean="0"/>
              <a:t> and </a:t>
            </a:r>
            <a:r>
              <a:rPr lang="en-US" b="1" dirty="0" smtClean="0"/>
              <a:t>num2</a:t>
            </a:r>
            <a:r>
              <a:rPr lang="en-US" dirty="0" smtClean="0"/>
              <a:t>, add them together and store the result in </a:t>
            </a:r>
            <a:r>
              <a:rPr lang="en-US" b="1" dirty="0" smtClean="0"/>
              <a:t>sum.</a:t>
            </a:r>
            <a:endParaRPr lang="en-US" dirty="0" smtClean="0"/>
          </a:p>
          <a:p>
            <a:pPr marL="457200" indent="-457200">
              <a:buAutoNum type="arabicPeriod"/>
            </a:pPr>
            <a:r>
              <a:rPr lang="en-US" dirty="0" smtClean="0"/>
              <a:t>Call the </a:t>
            </a:r>
            <a:r>
              <a:rPr lang="en-US" b="1" dirty="0" err="1" smtClean="0"/>
              <a:t>add_numbers</a:t>
            </a:r>
            <a:r>
              <a:rPr lang="en-US" b="1" dirty="0" smtClean="0"/>
              <a:t>() </a:t>
            </a:r>
            <a:r>
              <a:rPr lang="en-US" dirty="0" smtClean="0"/>
              <a:t>function. After this function is complete, have the program print out the updated value in </a:t>
            </a:r>
            <a:r>
              <a:rPr lang="en-US" b="1" dirty="0" smtClean="0"/>
              <a:t>sum</a:t>
            </a:r>
            <a:r>
              <a:rPr lang="en-US" dirty="0" smtClean="0"/>
              <a:t>.</a:t>
            </a:r>
            <a:endParaRPr lang="en-US" dirty="0"/>
          </a:p>
          <a:p>
            <a:pPr marL="0" indent="0">
              <a:buNone/>
            </a:pPr>
            <a:endParaRPr lang="en-US" dirty="0" smtClean="0">
              <a:solidFill>
                <a:schemeClr val="tx1">
                  <a:lumMod val="85000"/>
                </a:schemeClr>
              </a:solidFill>
            </a:endParaRPr>
          </a:p>
          <a:p>
            <a:pPr marL="0" indent="0">
              <a:buNone/>
            </a:pPr>
            <a:endParaRPr lang="en-US" dirty="0">
              <a:solidFill>
                <a:schemeClr val="tx1">
                  <a:lumMod val="85000"/>
                </a:schemeClr>
              </a:solidFill>
            </a:endParaRPr>
          </a:p>
          <a:p>
            <a:pPr marL="0" indent="0">
              <a:buNone/>
            </a:pPr>
            <a:endParaRPr lang="en-CA" dirty="0"/>
          </a:p>
          <a:p>
            <a:pPr marL="0" indent="0">
              <a:buNone/>
            </a:pPr>
            <a:endParaRPr lang="en-US" dirty="0" smtClean="0"/>
          </a:p>
        </p:txBody>
      </p:sp>
      <p:sp>
        <p:nvSpPr>
          <p:cNvPr id="10" name="Subtitle 2"/>
          <p:cNvSpPr txBox="1">
            <a:spLocks/>
          </p:cNvSpPr>
          <p:nvPr/>
        </p:nvSpPr>
        <p:spPr>
          <a:xfrm>
            <a:off x="646111" y="1046983"/>
            <a:ext cx="8825658" cy="86142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US" dirty="0" smtClean="0">
                <a:solidFill>
                  <a:srgbClr val="92D050"/>
                </a:solidFill>
              </a:rPr>
              <a:t>EXERCISE AS A CLASS</a:t>
            </a:r>
            <a:endParaRPr lang="en-CA" dirty="0">
              <a:solidFill>
                <a:srgbClr val="92D050"/>
              </a:solidFill>
            </a:endParaRPr>
          </a:p>
        </p:txBody>
      </p:sp>
      <p:sp>
        <p:nvSpPr>
          <p:cNvPr id="5" name="Content Placeholder 2"/>
          <p:cNvSpPr txBox="1">
            <a:spLocks/>
          </p:cNvSpPr>
          <p:nvPr/>
        </p:nvSpPr>
        <p:spPr>
          <a:xfrm>
            <a:off x="8136157" y="1908403"/>
            <a:ext cx="3637578" cy="441230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sz="1700" b="1" dirty="0" smtClean="0">
                <a:solidFill>
                  <a:srgbClr val="92D050"/>
                </a:solidFill>
              </a:rPr>
              <a:t>Sample Run Example:</a:t>
            </a:r>
          </a:p>
          <a:p>
            <a:pPr marL="0" indent="0">
              <a:buNone/>
            </a:pPr>
            <a:r>
              <a:rPr lang="en-US" sz="1700" dirty="0">
                <a:solidFill>
                  <a:srgbClr val="92D050"/>
                </a:solidFill>
              </a:rPr>
              <a:t>&gt;&gt;&gt;</a:t>
            </a:r>
            <a:r>
              <a:rPr lang="en-US" sz="1700" dirty="0">
                <a:solidFill>
                  <a:schemeClr val="tx2">
                    <a:lumMod val="90000"/>
                  </a:schemeClr>
                </a:solidFill>
              </a:rPr>
              <a:t> Enter a </a:t>
            </a:r>
            <a:r>
              <a:rPr lang="en-US" sz="1700" dirty="0" smtClean="0">
                <a:solidFill>
                  <a:schemeClr val="tx2">
                    <a:lumMod val="90000"/>
                  </a:schemeClr>
                </a:solidFill>
              </a:rPr>
              <a:t>number:  </a:t>
            </a:r>
            <a:r>
              <a:rPr lang="en-US" sz="1700" dirty="0" smtClean="0">
                <a:solidFill>
                  <a:schemeClr val="accent1">
                    <a:lumMod val="60000"/>
                    <a:lumOff val="40000"/>
                  </a:schemeClr>
                </a:solidFill>
              </a:rPr>
              <a:t>13</a:t>
            </a:r>
          </a:p>
          <a:p>
            <a:pPr marL="0" indent="0">
              <a:buNone/>
            </a:pPr>
            <a:r>
              <a:rPr lang="en-US" sz="1800" dirty="0" smtClean="0">
                <a:solidFill>
                  <a:srgbClr val="92D050"/>
                </a:solidFill>
              </a:rPr>
              <a:t>&gt;&gt;&gt;</a:t>
            </a:r>
            <a:r>
              <a:rPr lang="en-US" sz="1800" dirty="0" smtClean="0">
                <a:solidFill>
                  <a:schemeClr val="tx2">
                    <a:lumMod val="90000"/>
                  </a:schemeClr>
                </a:solidFill>
              </a:rPr>
              <a:t> </a:t>
            </a:r>
            <a:r>
              <a:rPr lang="en-US" sz="1800" dirty="0">
                <a:solidFill>
                  <a:schemeClr val="tx2">
                    <a:lumMod val="90000"/>
                  </a:schemeClr>
                </a:solidFill>
              </a:rPr>
              <a:t>Enter a </a:t>
            </a:r>
            <a:r>
              <a:rPr lang="en-US" sz="1800" dirty="0" smtClean="0">
                <a:solidFill>
                  <a:schemeClr val="tx2">
                    <a:lumMod val="90000"/>
                  </a:schemeClr>
                </a:solidFill>
              </a:rPr>
              <a:t>number:  </a:t>
            </a:r>
            <a:r>
              <a:rPr lang="en-US" sz="1800" dirty="0" smtClean="0">
                <a:solidFill>
                  <a:schemeClr val="accent1">
                    <a:lumMod val="60000"/>
                    <a:lumOff val="40000"/>
                  </a:schemeClr>
                </a:solidFill>
              </a:rPr>
              <a:t>11</a:t>
            </a:r>
            <a:endParaRPr lang="en-US" sz="1800" dirty="0">
              <a:solidFill>
                <a:schemeClr val="accent1">
                  <a:lumMod val="60000"/>
                  <a:lumOff val="40000"/>
                </a:schemeClr>
              </a:solidFill>
            </a:endParaRPr>
          </a:p>
          <a:p>
            <a:pPr marL="0" indent="0">
              <a:buNone/>
            </a:pPr>
            <a:r>
              <a:rPr lang="en-US" sz="1800" dirty="0">
                <a:solidFill>
                  <a:srgbClr val="92D050"/>
                </a:solidFill>
              </a:rPr>
              <a:t>&gt;&gt;&gt;</a:t>
            </a:r>
            <a:r>
              <a:rPr lang="en-US" sz="1800" dirty="0">
                <a:solidFill>
                  <a:schemeClr val="tx2">
                    <a:lumMod val="90000"/>
                  </a:schemeClr>
                </a:solidFill>
              </a:rPr>
              <a:t> </a:t>
            </a:r>
            <a:r>
              <a:rPr lang="en-US" sz="1800" dirty="0" smtClean="0">
                <a:solidFill>
                  <a:schemeClr val="tx2">
                    <a:lumMod val="90000"/>
                  </a:schemeClr>
                </a:solidFill>
              </a:rPr>
              <a:t>Computing…</a:t>
            </a:r>
            <a:endParaRPr lang="en-US" sz="1800" dirty="0">
              <a:solidFill>
                <a:schemeClr val="tx2">
                  <a:lumMod val="90000"/>
                </a:schemeClr>
              </a:solidFill>
            </a:endParaRPr>
          </a:p>
          <a:p>
            <a:pPr marL="0" indent="0">
              <a:buNone/>
            </a:pPr>
            <a:r>
              <a:rPr lang="en-US" sz="1800" dirty="0" smtClean="0">
                <a:solidFill>
                  <a:srgbClr val="92D050"/>
                </a:solidFill>
              </a:rPr>
              <a:t>&gt;&gt;&gt;</a:t>
            </a:r>
            <a:r>
              <a:rPr lang="en-US" sz="1800" dirty="0" smtClean="0">
                <a:solidFill>
                  <a:schemeClr val="tx2">
                    <a:lumMod val="90000"/>
                  </a:schemeClr>
                </a:solidFill>
              </a:rPr>
              <a:t> The sum is:  24</a:t>
            </a:r>
            <a:endParaRPr lang="en-US" sz="1800" dirty="0">
              <a:solidFill>
                <a:schemeClr val="tx2">
                  <a:lumMod val="90000"/>
                </a:schemeClr>
              </a:solidFill>
            </a:endParaRPr>
          </a:p>
          <a:p>
            <a:pPr marL="0" indent="0">
              <a:buNone/>
            </a:pPr>
            <a:r>
              <a:rPr lang="en-US" sz="1800" dirty="0">
                <a:solidFill>
                  <a:srgbClr val="92D050"/>
                </a:solidFill>
              </a:rPr>
              <a:t>&gt;&gt;&gt;</a:t>
            </a:r>
            <a:r>
              <a:rPr lang="en-US" sz="1800" dirty="0">
                <a:solidFill>
                  <a:schemeClr val="tx2">
                    <a:lumMod val="90000"/>
                  </a:schemeClr>
                </a:solidFill>
              </a:rPr>
              <a:t> </a:t>
            </a:r>
            <a:r>
              <a:rPr lang="en-US" sz="1800" dirty="0" smtClean="0">
                <a:solidFill>
                  <a:schemeClr val="tx2">
                    <a:lumMod val="90000"/>
                  </a:schemeClr>
                </a:solidFill>
              </a:rPr>
              <a:t>Program complete.</a:t>
            </a:r>
            <a:endParaRPr lang="en-US" sz="1800" dirty="0">
              <a:solidFill>
                <a:schemeClr val="tx2">
                  <a:lumMod val="90000"/>
                </a:schemeClr>
              </a:solidFill>
            </a:endParaRPr>
          </a:p>
          <a:p>
            <a:pPr marL="0" indent="0">
              <a:buFont typeface="Wingdings 3" charset="2"/>
              <a:buNone/>
            </a:pPr>
            <a:endParaRPr lang="en-US" sz="1800" dirty="0" smtClean="0"/>
          </a:p>
          <a:p>
            <a:pPr marL="0" indent="0">
              <a:buFont typeface="Wingdings 3" charset="2"/>
              <a:buNone/>
            </a:pPr>
            <a:endParaRPr lang="en-US" sz="1800" dirty="0" smtClean="0">
              <a:solidFill>
                <a:schemeClr val="tx1">
                  <a:lumMod val="85000"/>
                </a:schemeClr>
              </a:solidFill>
            </a:endParaRPr>
          </a:p>
          <a:p>
            <a:pPr marL="0" indent="0">
              <a:buFont typeface="Wingdings 3" charset="2"/>
              <a:buNone/>
            </a:pPr>
            <a:endParaRPr lang="en-US" sz="1800" dirty="0" smtClean="0">
              <a:solidFill>
                <a:schemeClr val="tx1">
                  <a:lumMod val="85000"/>
                </a:schemeClr>
              </a:solidFill>
            </a:endParaRPr>
          </a:p>
          <a:p>
            <a:pPr marL="0" indent="0">
              <a:buFont typeface="Wingdings 3" charset="2"/>
              <a:buNone/>
            </a:pPr>
            <a:endParaRPr lang="en-CA" sz="1800" dirty="0" smtClean="0"/>
          </a:p>
          <a:p>
            <a:pPr marL="0" indent="0">
              <a:buFont typeface="Wingdings 3" charset="2"/>
              <a:buNone/>
            </a:pPr>
            <a:endParaRPr lang="en-US" sz="1800" dirty="0" smtClean="0"/>
          </a:p>
        </p:txBody>
      </p:sp>
    </p:spTree>
    <p:extLst>
      <p:ext uri="{BB962C8B-B14F-4D97-AF65-F5344CB8AC3E}">
        <p14:creationId xmlns:p14="http://schemas.microsoft.com/office/powerpoint/2010/main" val="33814469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415" y="452718"/>
            <a:ext cx="9404723" cy="762391"/>
          </a:xfrm>
        </p:spPr>
        <p:txBody>
          <a:bodyPr/>
          <a:lstStyle/>
          <a:p>
            <a:r>
              <a:rPr lang="en-US" dirty="0" smtClean="0"/>
              <a:t>Functions</a:t>
            </a:r>
            <a:endParaRPr lang="en-CA" dirty="0"/>
          </a:p>
        </p:txBody>
      </p:sp>
      <p:sp>
        <p:nvSpPr>
          <p:cNvPr id="3" name="Content Placeholder 2"/>
          <p:cNvSpPr>
            <a:spLocks noGrp="1"/>
          </p:cNvSpPr>
          <p:nvPr>
            <p:ph idx="1"/>
          </p:nvPr>
        </p:nvSpPr>
        <p:spPr>
          <a:xfrm>
            <a:off x="585670" y="1908403"/>
            <a:ext cx="7668478" cy="4412304"/>
          </a:xfrm>
        </p:spPr>
        <p:txBody>
          <a:bodyPr>
            <a:normAutofit/>
          </a:bodyPr>
          <a:lstStyle/>
          <a:p>
            <a:pPr marL="457200" indent="-457200">
              <a:buAutoNum type="arabicPeriod"/>
            </a:pPr>
            <a:r>
              <a:rPr lang="en-US" dirty="0" smtClean="0"/>
              <a:t>Create a program that asks the user for three numbers, store this input in three variables: </a:t>
            </a:r>
            <a:r>
              <a:rPr lang="en-US" b="1" dirty="0" smtClean="0"/>
              <a:t>num1, num2 </a:t>
            </a:r>
            <a:r>
              <a:rPr lang="en-US" dirty="0" smtClean="0"/>
              <a:t>and </a:t>
            </a:r>
            <a:r>
              <a:rPr lang="en-US" b="1" dirty="0" smtClean="0"/>
              <a:t>num3</a:t>
            </a:r>
          </a:p>
          <a:p>
            <a:pPr marL="457200" indent="-457200">
              <a:buAutoNum type="arabicPeriod"/>
            </a:pPr>
            <a:r>
              <a:rPr lang="en-US" dirty="0" smtClean="0"/>
              <a:t>Create another variable called </a:t>
            </a:r>
            <a:r>
              <a:rPr lang="en-US" b="1" dirty="0" smtClean="0"/>
              <a:t>result</a:t>
            </a:r>
            <a:r>
              <a:rPr lang="en-US" dirty="0" smtClean="0"/>
              <a:t>, and initialize it to 0</a:t>
            </a:r>
          </a:p>
          <a:p>
            <a:pPr marL="457200" indent="-457200">
              <a:buAutoNum type="arabicPeriod"/>
            </a:pPr>
            <a:r>
              <a:rPr lang="en-US" dirty="0" smtClean="0"/>
              <a:t>Create a function called </a:t>
            </a:r>
            <a:r>
              <a:rPr lang="en-US" b="1" dirty="0" err="1" smtClean="0"/>
              <a:t>strange_math</a:t>
            </a:r>
            <a:r>
              <a:rPr lang="en-US" b="1" dirty="0" smtClean="0"/>
              <a:t> </a:t>
            </a:r>
            <a:r>
              <a:rPr lang="en-US" dirty="0" smtClean="0"/>
              <a:t>that will multiply the first two numbers, then divide the result by the third number. Store this value in the global variable </a:t>
            </a:r>
            <a:r>
              <a:rPr lang="en-US" b="1" dirty="0" smtClean="0"/>
              <a:t>result.</a:t>
            </a:r>
          </a:p>
          <a:p>
            <a:pPr marL="457200" indent="-457200">
              <a:buAutoNum type="arabicPeriod"/>
            </a:pPr>
            <a:r>
              <a:rPr lang="en-US" dirty="0" smtClean="0"/>
              <a:t>After the function call, print out the updated value of </a:t>
            </a:r>
            <a:r>
              <a:rPr lang="en-US" b="1" dirty="0" smtClean="0"/>
              <a:t>result.</a:t>
            </a:r>
            <a:endParaRPr lang="en-US" dirty="0" smtClean="0"/>
          </a:p>
          <a:p>
            <a:pPr marL="0" indent="0">
              <a:buNone/>
            </a:pPr>
            <a:endParaRPr lang="en-US" dirty="0">
              <a:solidFill>
                <a:schemeClr val="tx1">
                  <a:lumMod val="85000"/>
                </a:schemeClr>
              </a:solidFill>
            </a:endParaRPr>
          </a:p>
          <a:p>
            <a:pPr marL="0" indent="0">
              <a:buNone/>
            </a:pPr>
            <a:endParaRPr lang="en-CA" dirty="0"/>
          </a:p>
          <a:p>
            <a:pPr marL="0" indent="0">
              <a:buNone/>
            </a:pPr>
            <a:endParaRPr lang="en-US" dirty="0" smtClean="0"/>
          </a:p>
        </p:txBody>
      </p:sp>
      <p:sp>
        <p:nvSpPr>
          <p:cNvPr id="10" name="Subtitle 2"/>
          <p:cNvSpPr txBox="1">
            <a:spLocks/>
          </p:cNvSpPr>
          <p:nvPr/>
        </p:nvSpPr>
        <p:spPr>
          <a:xfrm>
            <a:off x="646111" y="1046983"/>
            <a:ext cx="8825658" cy="86142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US" dirty="0" smtClean="0">
                <a:solidFill>
                  <a:srgbClr val="92D050"/>
                </a:solidFill>
              </a:rPr>
              <a:t>EXERCISES ON YOUR OWN</a:t>
            </a:r>
            <a:endParaRPr lang="en-CA" dirty="0">
              <a:solidFill>
                <a:srgbClr val="92D050"/>
              </a:solidFill>
            </a:endParaRPr>
          </a:p>
        </p:txBody>
      </p:sp>
      <p:sp>
        <p:nvSpPr>
          <p:cNvPr id="5" name="Content Placeholder 2"/>
          <p:cNvSpPr txBox="1">
            <a:spLocks/>
          </p:cNvSpPr>
          <p:nvPr/>
        </p:nvSpPr>
        <p:spPr>
          <a:xfrm>
            <a:off x="8136157" y="1908403"/>
            <a:ext cx="3637578" cy="441230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sz="1700" b="1" dirty="0" smtClean="0">
                <a:solidFill>
                  <a:srgbClr val="92D050"/>
                </a:solidFill>
              </a:rPr>
              <a:t>Sample Run Example:</a:t>
            </a:r>
          </a:p>
          <a:p>
            <a:pPr marL="0" indent="0">
              <a:buNone/>
            </a:pPr>
            <a:r>
              <a:rPr lang="en-US" sz="1700" dirty="0">
                <a:solidFill>
                  <a:srgbClr val="92D050"/>
                </a:solidFill>
              </a:rPr>
              <a:t>&gt;&gt;&gt;</a:t>
            </a:r>
            <a:r>
              <a:rPr lang="en-US" sz="1700" dirty="0">
                <a:solidFill>
                  <a:schemeClr val="tx2">
                    <a:lumMod val="90000"/>
                  </a:schemeClr>
                </a:solidFill>
              </a:rPr>
              <a:t> Enter a </a:t>
            </a:r>
            <a:r>
              <a:rPr lang="en-US" sz="1700" dirty="0" smtClean="0">
                <a:solidFill>
                  <a:schemeClr val="tx2">
                    <a:lumMod val="90000"/>
                  </a:schemeClr>
                </a:solidFill>
              </a:rPr>
              <a:t>number:  </a:t>
            </a:r>
            <a:r>
              <a:rPr lang="en-US" sz="1700" dirty="0" smtClean="0">
                <a:solidFill>
                  <a:schemeClr val="accent1">
                    <a:lumMod val="60000"/>
                    <a:lumOff val="40000"/>
                  </a:schemeClr>
                </a:solidFill>
              </a:rPr>
              <a:t>6</a:t>
            </a:r>
          </a:p>
          <a:p>
            <a:pPr marL="0" indent="0">
              <a:buNone/>
            </a:pPr>
            <a:r>
              <a:rPr lang="en-US" sz="1800" dirty="0">
                <a:solidFill>
                  <a:srgbClr val="92D050"/>
                </a:solidFill>
              </a:rPr>
              <a:t>&gt;&gt;&gt;</a:t>
            </a:r>
            <a:r>
              <a:rPr lang="en-US" sz="1800" dirty="0">
                <a:solidFill>
                  <a:schemeClr val="tx2">
                    <a:lumMod val="90000"/>
                  </a:schemeClr>
                </a:solidFill>
              </a:rPr>
              <a:t> Enter a number:  </a:t>
            </a:r>
            <a:r>
              <a:rPr lang="en-US" sz="1800" dirty="0">
                <a:solidFill>
                  <a:schemeClr val="accent1">
                    <a:lumMod val="60000"/>
                    <a:lumOff val="40000"/>
                  </a:schemeClr>
                </a:solidFill>
              </a:rPr>
              <a:t>7</a:t>
            </a:r>
          </a:p>
          <a:p>
            <a:pPr marL="0" indent="0">
              <a:buNone/>
            </a:pPr>
            <a:r>
              <a:rPr lang="en-US" sz="1800" dirty="0">
                <a:solidFill>
                  <a:srgbClr val="92D050"/>
                </a:solidFill>
              </a:rPr>
              <a:t>&gt;&gt;&gt;</a:t>
            </a:r>
            <a:r>
              <a:rPr lang="en-US" sz="1800" dirty="0">
                <a:solidFill>
                  <a:schemeClr val="tx2">
                    <a:lumMod val="90000"/>
                  </a:schemeClr>
                </a:solidFill>
              </a:rPr>
              <a:t> Enter a number:  </a:t>
            </a:r>
            <a:r>
              <a:rPr lang="en-US" sz="1800" dirty="0" smtClean="0">
                <a:solidFill>
                  <a:schemeClr val="accent1">
                    <a:lumMod val="60000"/>
                    <a:lumOff val="40000"/>
                  </a:schemeClr>
                </a:solidFill>
              </a:rPr>
              <a:t>21</a:t>
            </a:r>
            <a:endParaRPr lang="en-US" sz="1800" dirty="0">
              <a:solidFill>
                <a:schemeClr val="accent1">
                  <a:lumMod val="60000"/>
                  <a:lumOff val="40000"/>
                </a:schemeClr>
              </a:solidFill>
            </a:endParaRPr>
          </a:p>
          <a:p>
            <a:pPr marL="0" indent="0">
              <a:buNone/>
            </a:pPr>
            <a:r>
              <a:rPr lang="en-US" sz="1800" dirty="0" smtClean="0">
                <a:solidFill>
                  <a:srgbClr val="92D050"/>
                </a:solidFill>
              </a:rPr>
              <a:t>&gt;&gt;&gt;</a:t>
            </a:r>
            <a:r>
              <a:rPr lang="en-US" sz="1800" dirty="0" smtClean="0">
                <a:solidFill>
                  <a:schemeClr val="tx2">
                    <a:lumMod val="90000"/>
                  </a:schemeClr>
                </a:solidFill>
              </a:rPr>
              <a:t> Computing…</a:t>
            </a:r>
            <a:endParaRPr lang="en-US" sz="1800" dirty="0">
              <a:solidFill>
                <a:schemeClr val="tx2">
                  <a:lumMod val="90000"/>
                </a:schemeClr>
              </a:solidFill>
            </a:endParaRPr>
          </a:p>
          <a:p>
            <a:pPr marL="0" indent="0">
              <a:buNone/>
            </a:pPr>
            <a:r>
              <a:rPr lang="en-US" sz="1800" dirty="0" smtClean="0">
                <a:solidFill>
                  <a:srgbClr val="92D050"/>
                </a:solidFill>
              </a:rPr>
              <a:t>&gt;&gt;&gt;</a:t>
            </a:r>
            <a:r>
              <a:rPr lang="en-US" sz="1800" dirty="0" smtClean="0">
                <a:solidFill>
                  <a:schemeClr val="tx2">
                    <a:lumMod val="90000"/>
                  </a:schemeClr>
                </a:solidFill>
              </a:rPr>
              <a:t> Strange Math is:  2</a:t>
            </a:r>
            <a:endParaRPr lang="en-US" sz="1800" dirty="0">
              <a:solidFill>
                <a:schemeClr val="tx2">
                  <a:lumMod val="90000"/>
                </a:schemeClr>
              </a:solidFill>
            </a:endParaRPr>
          </a:p>
          <a:p>
            <a:pPr marL="0" indent="0">
              <a:buNone/>
            </a:pPr>
            <a:r>
              <a:rPr lang="en-US" sz="1800" dirty="0">
                <a:solidFill>
                  <a:srgbClr val="92D050"/>
                </a:solidFill>
              </a:rPr>
              <a:t>&gt;&gt;&gt;</a:t>
            </a:r>
            <a:r>
              <a:rPr lang="en-US" sz="1800" dirty="0">
                <a:solidFill>
                  <a:schemeClr val="tx2">
                    <a:lumMod val="90000"/>
                  </a:schemeClr>
                </a:solidFill>
              </a:rPr>
              <a:t> </a:t>
            </a:r>
            <a:r>
              <a:rPr lang="en-US" sz="1800" dirty="0" smtClean="0">
                <a:solidFill>
                  <a:schemeClr val="tx2">
                    <a:lumMod val="90000"/>
                  </a:schemeClr>
                </a:solidFill>
              </a:rPr>
              <a:t>Program complete.</a:t>
            </a:r>
            <a:endParaRPr lang="en-US" sz="1800" dirty="0">
              <a:solidFill>
                <a:schemeClr val="tx2">
                  <a:lumMod val="90000"/>
                </a:schemeClr>
              </a:solidFill>
            </a:endParaRPr>
          </a:p>
          <a:p>
            <a:pPr marL="0" indent="0">
              <a:buFont typeface="Wingdings 3" charset="2"/>
              <a:buNone/>
            </a:pPr>
            <a:endParaRPr lang="en-US" sz="1800" dirty="0" smtClean="0"/>
          </a:p>
          <a:p>
            <a:pPr marL="0" indent="0">
              <a:buFont typeface="Wingdings 3" charset="2"/>
              <a:buNone/>
            </a:pPr>
            <a:endParaRPr lang="en-US" sz="1800" dirty="0" smtClean="0">
              <a:solidFill>
                <a:schemeClr val="tx1">
                  <a:lumMod val="85000"/>
                </a:schemeClr>
              </a:solidFill>
            </a:endParaRPr>
          </a:p>
          <a:p>
            <a:pPr marL="0" indent="0">
              <a:buFont typeface="Wingdings 3" charset="2"/>
              <a:buNone/>
            </a:pPr>
            <a:endParaRPr lang="en-US" sz="1800" dirty="0" smtClean="0">
              <a:solidFill>
                <a:schemeClr val="tx1">
                  <a:lumMod val="85000"/>
                </a:schemeClr>
              </a:solidFill>
            </a:endParaRPr>
          </a:p>
          <a:p>
            <a:pPr marL="0" indent="0">
              <a:buFont typeface="Wingdings 3" charset="2"/>
              <a:buNone/>
            </a:pPr>
            <a:endParaRPr lang="en-CA" sz="1800" dirty="0" smtClean="0"/>
          </a:p>
          <a:p>
            <a:pPr marL="0" indent="0">
              <a:buFont typeface="Wingdings 3" charset="2"/>
              <a:buNone/>
            </a:pPr>
            <a:endParaRPr lang="en-US" sz="1800" dirty="0" smtClean="0"/>
          </a:p>
        </p:txBody>
      </p:sp>
    </p:spTree>
    <p:extLst>
      <p:ext uri="{BB962C8B-B14F-4D97-AF65-F5344CB8AC3E}">
        <p14:creationId xmlns:p14="http://schemas.microsoft.com/office/powerpoint/2010/main" val="38290214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docProps/app.xml><?xml version="1.0" encoding="utf-8"?>
<Properties xmlns="http://schemas.openxmlformats.org/officeDocument/2006/extended-properties" xmlns:vt="http://schemas.openxmlformats.org/officeDocument/2006/docPropsVTypes">
  <Template>Ion</Template>
  <TotalTime>11210</TotalTime>
  <Words>960</Words>
  <Application>Microsoft Office PowerPoint</Application>
  <PresentationFormat>Widescreen</PresentationFormat>
  <Paragraphs>168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 Gothic</vt:lpstr>
      <vt:lpstr>Wingdings 3</vt:lpstr>
      <vt:lpstr>Ion</vt:lpstr>
      <vt:lpstr>Computer Science 20</vt:lpstr>
      <vt:lpstr>Functions</vt:lpstr>
      <vt:lpstr>Functions</vt:lpstr>
      <vt:lpstr>Functions</vt:lpstr>
      <vt:lpstr>Functions</vt:lpstr>
      <vt:lpstr>Functions</vt:lpstr>
      <vt:lpstr>Functions</vt:lpstr>
      <vt:lpstr>Functions</vt:lpstr>
      <vt:lpstr>Functions</vt:lpstr>
      <vt:lpstr>Functions</vt:lpstr>
      <vt:lpstr>Functions</vt:lpstr>
      <vt:lpstr>Functions</vt:lpstr>
    </vt:vector>
  </TitlesOfParts>
  <Company>Saskatoon Public Schools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Science 20</dc:title>
  <dc:creator>Scott, Stefan Graham (Stefan)</dc:creator>
  <cp:lastModifiedBy>Scott, Stefan Graham (Stefan)</cp:lastModifiedBy>
  <cp:revision>131</cp:revision>
  <dcterms:created xsi:type="dcterms:W3CDTF">2016-08-31T14:32:10Z</dcterms:created>
  <dcterms:modified xsi:type="dcterms:W3CDTF">2017-11-14T00:07:20Z</dcterms:modified>
</cp:coreProperties>
</file>