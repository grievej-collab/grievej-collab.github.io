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876bdd8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876bdd8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86e0fd3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486e0fd3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86e0fd3cc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486e0fd3cc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86e0fd3c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486e0fd3cc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731e742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731e742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731e742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4731e7427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731e742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731e742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Lead through very simple demo using: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Move</a:t>
            </a:r>
            <a:b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If on edge, bounce    (forever loop)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Color change / wait / in a forever loop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Pressing left/right → turn left/right   (events)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  -could have a little video showing playback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8979a0a29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8979a0a29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731e7427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this slide, jump to Scratch and show moving a sprite around by just using the X,Y fields in the sprite info palette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Also, how to toggle visibility and modify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4731e74278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731e7427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4731e74278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731e7427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4731e74278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731e7427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731e742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8979a0a29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8979a0a29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27484" y="1539688"/>
            <a:ext cx="67101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Started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Welcome to the course; let’s get started!</a:t>
            </a:r>
            <a:endParaRPr/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0" y="483575"/>
            <a:ext cx="23583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3"/>
                </a:solidFill>
              </a:rPr>
              <a:t>Computer Science </a:t>
            </a:r>
            <a:r>
              <a:rPr lang="en-GB" sz="900">
                <a:solidFill>
                  <a:schemeClr val="dk1"/>
                </a:solidFill>
              </a:rPr>
              <a:t>Coding and Robotics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Why study computing?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827475" y="1539696"/>
            <a:ext cx="66696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Develop new set of problem solving skills</a:t>
            </a:r>
            <a:endParaRPr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Improve logical thinking</a:t>
            </a:r>
            <a:endParaRPr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Strengthen mathematical abilities</a:t>
            </a:r>
            <a:endParaRPr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Gain deeper fluency  with technology</a:t>
            </a:r>
            <a:endParaRPr/>
          </a:p>
          <a:p>
            <a:pPr indent="-222250" lvl="1" marL="5588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Not just use, but to create</a:t>
            </a:r>
            <a:endParaRPr/>
          </a:p>
          <a:p>
            <a:pPr indent="-222250" lvl="1" marL="5588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See how we can use computing to accomplish some amazing things!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What will we be doing?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827475" y="1539696"/>
            <a:ext cx="66696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course we will investigate the potential of computing:</a:t>
            </a:r>
            <a:br>
              <a:rPr lang="en-GB"/>
            </a:br>
            <a:endParaRPr/>
          </a:p>
          <a:p>
            <a:pPr indent="-222250" lvl="1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Software → by learning a few </a:t>
            </a:r>
            <a:r>
              <a:rPr i="1" lang="en-GB"/>
              <a:t>Programming Languages</a:t>
            </a:r>
            <a:br>
              <a:rPr i="1" lang="en-GB"/>
            </a:br>
            <a:endParaRPr i="1"/>
          </a:p>
          <a:p>
            <a:pPr indent="-222250" lvl="1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Electronics → circuit-building and electricity</a:t>
            </a:r>
            <a:br>
              <a:rPr lang="en-GB"/>
            </a:br>
            <a:endParaRPr/>
          </a:p>
          <a:p>
            <a:pPr indent="-222250" lvl="1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Physical Computing → combining coding and electronics to create more sophisticated projects</a:t>
            </a:r>
            <a:br>
              <a:rPr lang="en-GB"/>
            </a:br>
            <a:r>
              <a:rPr lang="en-GB"/>
              <a:t>                                                    and robotics applications.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Visual Programming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827475" y="1539696"/>
            <a:ext cx="66696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We’ll begin the class by learning </a:t>
            </a:r>
            <a:r>
              <a:rPr b="1" lang="en-GB"/>
              <a:t>block-based</a:t>
            </a:r>
            <a:r>
              <a:rPr lang="en-GB"/>
              <a:t> (or visual) programming, using </a:t>
            </a:r>
            <a:r>
              <a:rPr b="1" lang="en-GB"/>
              <a:t>Scratch</a:t>
            </a:r>
            <a:endParaRPr b="1"/>
          </a:p>
          <a:p>
            <a:pPr indent="-228600" lvl="1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</a:pPr>
            <a:r>
              <a:rPr lang="en-GB"/>
              <a:t>This tool was developed at the MIT media lab</a:t>
            </a:r>
            <a:br>
              <a:rPr lang="en-GB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Programming instructions are represented as </a:t>
            </a:r>
            <a:r>
              <a:rPr b="1" lang="en-GB"/>
              <a:t>blocks</a:t>
            </a:r>
            <a:r>
              <a:rPr lang="en-GB"/>
              <a:t>, which can snap together</a:t>
            </a:r>
            <a:br>
              <a:rPr lang="en-GB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Large community with an emphasis on sharing and collaboration</a:t>
            </a:r>
            <a:br>
              <a:rPr lang="en-GB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ceiling and low floor</a:t>
            </a:r>
            <a:br>
              <a:rPr lang="en-GB"/>
            </a:br>
            <a:endParaRPr/>
          </a:p>
          <a:p>
            <a:pPr indent="-222250" lvl="1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An excellent starting place for novices</a:t>
            </a:r>
            <a:br>
              <a:rPr lang="en-GB"/>
            </a:br>
            <a:endParaRPr/>
          </a:p>
          <a:p>
            <a:pPr indent="-222250" lvl="1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However, is aIso capable of creating quite complex projects</a:t>
            </a:r>
            <a:endParaRPr/>
          </a:p>
        </p:txBody>
      </p:sp>
      <p:sp>
        <p:nvSpPr>
          <p:cNvPr id="113" name="Google Shape;113;p17"/>
          <p:cNvSpPr txBox="1"/>
          <p:nvPr>
            <p:ph type="title"/>
          </p:nvPr>
        </p:nvSpPr>
        <p:spPr>
          <a:xfrm>
            <a:off x="522500" y="742425"/>
            <a:ext cx="2358300" cy="2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3"/>
                </a:solidFill>
              </a:rPr>
              <a:t>Scratch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6375" y="0"/>
            <a:ext cx="1525126" cy="152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299" y="2039875"/>
            <a:ext cx="2278550" cy="17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95750" y="2034800"/>
            <a:ext cx="75930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we are trying to solve a problem, typically we can do so by </a:t>
            </a:r>
            <a:r>
              <a:rPr b="1" lang="en-GB"/>
              <a:t>constructing an algorithm</a:t>
            </a:r>
            <a:r>
              <a:rPr lang="en-GB"/>
              <a:t>.</a:t>
            </a:r>
            <a:br>
              <a:rPr lang="en-GB"/>
            </a:br>
            <a:br>
              <a:rPr lang="en-GB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With algorithms, we take the idea of how to solve a problem, and break it into a list of </a:t>
            </a:r>
            <a:r>
              <a:rPr b="1" lang="en-GB"/>
              <a:t>individual steps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You already use algorithms, for day-to-day tasks like </a:t>
            </a:r>
            <a:r>
              <a:rPr b="1" lang="en-GB"/>
              <a:t>making lunch,</a:t>
            </a:r>
            <a:br>
              <a:rPr b="1" lang="en-GB"/>
            </a:br>
            <a:r>
              <a:rPr b="1" lang="en-GB"/>
              <a:t>h</a:t>
            </a:r>
            <a:r>
              <a:rPr b="1" lang="en-GB"/>
              <a:t>ow to wrap a present, or getting ready in the morning.</a:t>
            </a:r>
            <a:endParaRPr b="1"/>
          </a:p>
        </p:txBody>
      </p:sp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Big Idea: </a:t>
            </a:r>
            <a:r>
              <a:rPr lang="en-GB">
                <a:solidFill>
                  <a:schemeClr val="dk1"/>
                </a:solidFill>
              </a:rPr>
              <a:t>Algorithms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175" y="3230425"/>
            <a:ext cx="1984093" cy="18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3547250" y="2943250"/>
            <a:ext cx="2033700" cy="19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3572550" y="2919275"/>
            <a:ext cx="2064600" cy="2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Most instructions will happen almost instantaneously. Notable exceptions are: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Blocks that last for a certain number of seconds.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Blocks that have the “until done” modifier. In this case the program will wait until the sound file has played through fully before moving on.</a:t>
            </a:r>
            <a:endParaRPr sz="1000"/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Sequential Instructions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827475" y="1260701"/>
            <a:ext cx="67101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 for completing a task often include a sequence of instructions that are completed one after another.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/>
              <a:t>The program will move on to the next instruction only when the current one is ‘complete’.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962" y="2279491"/>
            <a:ext cx="2626682" cy="274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75" y="2514225"/>
            <a:ext cx="2773100" cy="2789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9"/>
          <p:cNvCxnSpPr>
            <a:stCxn id="128" idx="1"/>
          </p:cNvCxnSpPr>
          <p:nvPr/>
        </p:nvCxnSpPr>
        <p:spPr>
          <a:xfrm rot="10800000">
            <a:off x="3158850" y="3894725"/>
            <a:ext cx="413700" cy="7680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9"/>
          <p:cNvCxnSpPr/>
          <p:nvPr/>
        </p:nvCxnSpPr>
        <p:spPr>
          <a:xfrm flipH="1">
            <a:off x="3158975" y="4328600"/>
            <a:ext cx="445800" cy="2637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Scratch Program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729450" y="2551600"/>
            <a:ext cx="4617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Let’s jump right in and create a first program in Scratch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5879325" y="1147000"/>
            <a:ext cx="2676300" cy="3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Lead through very simple demo using: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Move</a:t>
            </a:r>
            <a:b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If on edge, bounce    (forever loop)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Color change / wait / in a forever loop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Pressing left/right → turn left/right   (events)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  -could have a little video showing playback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about Motion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Location, Direction, Data</a:t>
            </a:r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0" y="483575"/>
            <a:ext cx="23583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3"/>
                </a:solidFill>
              </a:rPr>
              <a:t>Computer Science </a:t>
            </a:r>
            <a:r>
              <a:rPr lang="en-GB" sz="900">
                <a:solidFill>
                  <a:schemeClr val="dk1"/>
                </a:solidFill>
              </a:rPr>
              <a:t>Coding and Robotics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Coordinate Systems</a:t>
            </a:r>
            <a:endParaRPr/>
          </a:p>
        </p:txBody>
      </p:sp>
      <p:pic>
        <p:nvPicPr>
          <p:cNvPr id="154" name="Google Shape;154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83" y="1261002"/>
            <a:ext cx="3638100" cy="36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4319000" y="1389850"/>
            <a:ext cx="4510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  <a:t>There are several different systems for describing a visual location in space.</a:t>
            </a:r>
            <a:b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</a:br>
            <a:b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  <a:t>Scratch uses the Cartesian Coordinate System, where the origin (0,0) is located in the very middle of the stage.</a:t>
            </a:r>
            <a:b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</a:br>
            <a:b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  <a:t>Stage size is 480x360 pixels.</a:t>
            </a:r>
            <a:endParaRPr i="0" sz="1300" u="none" cap="none" strike="noStrike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3816350" y="3259075"/>
            <a:ext cx="684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</a:rPr>
              <a:t>+240</a:t>
            </a:r>
            <a:endParaRPr>
              <a:solidFill>
                <a:srgbClr val="BF9000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219975" y="3259075"/>
            <a:ext cx="684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</a:rPr>
              <a:t>-</a:t>
            </a:r>
            <a:r>
              <a:rPr lang="en-GB">
                <a:solidFill>
                  <a:srgbClr val="BF9000"/>
                </a:solidFill>
              </a:rPr>
              <a:t>240</a:t>
            </a:r>
            <a:endParaRPr>
              <a:solidFill>
                <a:srgbClr val="BF9000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2341550" y="1159775"/>
            <a:ext cx="684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C78D8"/>
                </a:solidFill>
              </a:rPr>
              <a:t>+180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2341550" y="4578750"/>
            <a:ext cx="684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C78D8"/>
                </a:solidFill>
              </a:rPr>
              <a:t>-</a:t>
            </a:r>
            <a:r>
              <a:rPr lang="en-GB">
                <a:solidFill>
                  <a:srgbClr val="3C78D8"/>
                </a:solidFill>
              </a:rPr>
              <a:t>180</a:t>
            </a:r>
            <a:endParaRPr>
              <a:solidFill>
                <a:srgbClr val="3C78D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Directions</a:t>
            </a:r>
            <a:endParaRPr/>
          </a:p>
        </p:txBody>
      </p:sp>
      <p:pic>
        <p:nvPicPr>
          <p:cNvPr id="165" name="Google Shape;16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83" y="1491069"/>
            <a:ext cx="3134400" cy="314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4299250" y="599200"/>
            <a:ext cx="396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  <a:t>Directions in Scratch are described using the following compass angles:</a:t>
            </a:r>
            <a:b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</a:br>
            <a:endParaRPr i="0" sz="1300" u="none" cap="none" strike="noStrike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8358" y="1462314"/>
            <a:ext cx="3169813" cy="3448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3"/>
          <p:cNvCxnSpPr/>
          <p:nvPr/>
        </p:nvCxnSpPr>
        <p:spPr>
          <a:xfrm rot="10800000">
            <a:off x="5781000" y="4563250"/>
            <a:ext cx="1145700" cy="17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3"/>
          <p:cNvSpPr txBox="1"/>
          <p:nvPr/>
        </p:nvSpPr>
        <p:spPr>
          <a:xfrm>
            <a:off x="6989025" y="4453225"/>
            <a:ext cx="18552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When setting angles, this tool helps to visually determine appropriate values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Knowing where a sprite is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484570" y="1277064"/>
            <a:ext cx="67101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Each sprite has the following motion properties:</a:t>
            </a:r>
            <a:endParaRPr>
              <a:solidFill>
                <a:srgbClr val="000000"/>
              </a:solidFill>
            </a:endParaRPr>
          </a:p>
          <a:p>
            <a:pPr indent="-222250" lvl="1" marL="5588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▪"/>
            </a:pPr>
            <a:r>
              <a:rPr lang="en-GB">
                <a:solidFill>
                  <a:srgbClr val="000000"/>
                </a:solidFill>
              </a:rPr>
              <a:t>X position – the sprite’s horizontal location.</a:t>
            </a:r>
            <a:endParaRPr>
              <a:solidFill>
                <a:srgbClr val="000000"/>
              </a:solidFill>
            </a:endParaRPr>
          </a:p>
          <a:p>
            <a:pPr indent="-222250" lvl="1" marL="5588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▪"/>
            </a:pPr>
            <a:r>
              <a:rPr lang="en-GB">
                <a:solidFill>
                  <a:srgbClr val="000000"/>
                </a:solidFill>
              </a:rPr>
              <a:t>Y position – the sprite’s vertical location.</a:t>
            </a:r>
            <a:endParaRPr>
              <a:solidFill>
                <a:srgbClr val="000000"/>
              </a:solidFill>
            </a:endParaRPr>
          </a:p>
          <a:p>
            <a:pPr indent="-222250" lvl="1" marL="5588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▪"/>
            </a:pPr>
            <a:r>
              <a:rPr lang="en-GB">
                <a:solidFill>
                  <a:srgbClr val="000000"/>
                </a:solidFill>
              </a:rPr>
              <a:t>Direction – the current way that the sprite is facing.</a:t>
            </a:r>
            <a:endParaRPr>
              <a:solidFill>
                <a:srgbClr val="000000"/>
              </a:solidFill>
            </a:endParaRPr>
          </a:p>
          <a:p>
            <a:pPr indent="-152400" lvl="1" marL="558800" rtl="0" algn="l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488875" y="3460300"/>
            <a:ext cx="49959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  <a:t>Toggling the checkbox will display the current value on the stage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6858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GB" sz="1100" u="none" cap="none" strike="noStrike">
                <a:latin typeface="Lato"/>
                <a:ea typeface="Lato"/>
                <a:cs typeface="Lato"/>
                <a:sym typeface="Lato"/>
              </a:rPr>
              <a:t>Good for debugging!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GB" sz="1300" u="none" cap="none" strike="noStrike">
                <a:latin typeface="Lato"/>
                <a:ea typeface="Lato"/>
                <a:cs typeface="Lato"/>
                <a:sym typeface="Lato"/>
              </a:rPr>
              <a:t>These blocks can also be used inside certain other blocks…</a:t>
            </a:r>
            <a:endParaRPr i="0" sz="1300" u="none" cap="none" strike="noStrike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200" y="991150"/>
            <a:ext cx="2502175" cy="17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575" y="3014850"/>
            <a:ext cx="2175300" cy="19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it True?</a:t>
            </a:r>
            <a:endParaRPr/>
          </a:p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729450" y="2078875"/>
            <a:ext cx="76887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Many times we will want to compare two pieces of data. Scratch provides some basic comparison operator blocks which are perfect for this:</a:t>
            </a:r>
            <a:endParaRPr/>
          </a:p>
        </p:txBody>
      </p:sp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771925"/>
            <a:ext cx="2041836" cy="22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490950" y="3399500"/>
            <a:ext cx="30804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You can either type values into the empty fields, or drag in data blocks like these:</a:t>
            </a:r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 rotWithShape="1">
          <a:blip r:embed="rId4">
            <a:alphaModFix/>
          </a:blip>
          <a:srcRect b="0" l="13417" r="37396" t="0"/>
          <a:stretch/>
        </p:blipFill>
        <p:spPr>
          <a:xfrm>
            <a:off x="6691025" y="3211525"/>
            <a:ext cx="904600" cy="12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Shrinking the sides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729450" y="2078875"/>
            <a:ext cx="7688700" cy="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Comparison blocks are </a:t>
            </a:r>
            <a:r>
              <a:rPr b="1" lang="en-GB"/>
              <a:t>hexagonal</a:t>
            </a:r>
            <a:r>
              <a:rPr lang="en-GB"/>
              <a:t> in shape. Look through the different blocks and see where this shape can fit in.</a:t>
            </a:r>
            <a:endParaRPr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876600"/>
            <a:ext cx="1655525" cy="18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2733025" y="2885300"/>
            <a:ext cx="42945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Typically these are used in Scratch for </a:t>
            </a:r>
            <a:r>
              <a:rPr b="1" lang="en-GB"/>
              <a:t>making decisions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4500" y="2706850"/>
            <a:ext cx="2419250" cy="19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2733025" y="3441825"/>
            <a:ext cx="4035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One example is an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IF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statement.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2733025" y="3900775"/>
            <a:ext cx="41034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Let’s try a simple demo where instead of bouncing off the walls, we have a sprite that bounces off of a smaller, invisible boundary.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