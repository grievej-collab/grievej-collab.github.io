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FF"/>
    <a:srgbClr val="FF6600"/>
    <a:srgbClr val="66FFFF"/>
    <a:srgbClr val="81DEFF"/>
    <a:srgbClr val="66FF99"/>
    <a:srgbClr val="C0E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F3AE29-98C9-4918-A8FD-AA3436631618}" v="323" dt="2023-12-07T05:36:28.6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434" autoAdjust="0"/>
  </p:normalViewPr>
  <p:slideViewPr>
    <p:cSldViewPr snapToGrid="0">
      <p:cViewPr varScale="1">
        <p:scale>
          <a:sx n="78" d="100"/>
          <a:sy n="78" d="100"/>
        </p:scale>
        <p:origin x="787" y="5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2023-12-07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6719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2023-12-07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2800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2023-12-07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8014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2023-12-07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9367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2023-12-07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70849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2023-12-07</a:t>
            </a:fld>
            <a:endParaRPr lang="en-CA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32943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2023-12-07</a:t>
            </a:fld>
            <a:endParaRPr lang="en-CA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63430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2023-12-07</a:t>
            </a:fld>
            <a:endParaRPr lang="en-CA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83902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2023-12-07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2162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2023-12-07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62898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2023-12-07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414373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2023-12-07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031409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2023-12-07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373195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2023-12-07</a:t>
            </a:fld>
            <a:endParaRPr lang="en-C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905188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2023-12-07</a:t>
            </a:fld>
            <a:endParaRPr lang="en-C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758904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2023-12-07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917296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2023-12-07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3018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03FDC43-65FB-4098-9D7F-4570BC948176}" type="datetimeFigureOut">
              <a:rPr lang="en-CA" smtClean="0"/>
              <a:t>2023-12-07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237906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dirty="0"/>
              <a:t>Computer Science 20</a:t>
            </a:r>
            <a:endParaRPr lang="en-CA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Brief introduction to </a:t>
            </a:r>
            <a:r>
              <a:rPr lang="en-US" dirty="0" err="1"/>
              <a:t>LIsts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29301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18882"/>
          </a:xfrm>
        </p:spPr>
        <p:txBody>
          <a:bodyPr/>
          <a:lstStyle/>
          <a:p>
            <a:r>
              <a:rPr lang="en-US" dirty="0"/>
              <a:t>Variables</a:t>
            </a:r>
            <a:endParaRPr lang="en-CA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03311" y="3181654"/>
            <a:ext cx="6178937" cy="12623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9"/>
            <a:ext cx="8946541" cy="2287728"/>
          </a:xfrm>
        </p:spPr>
        <p:txBody>
          <a:bodyPr/>
          <a:lstStyle/>
          <a:p>
            <a:r>
              <a:rPr lang="en-US" dirty="0"/>
              <a:t>So far, we have been working with the idea that variables are </a:t>
            </a:r>
            <a:r>
              <a:rPr lang="en-US" b="1" dirty="0"/>
              <a:t>containers that hold one piece of information at a time</a:t>
            </a:r>
            <a:r>
              <a:rPr lang="en-US" dirty="0"/>
              <a:t>.</a:t>
            </a:r>
          </a:p>
          <a:p>
            <a:r>
              <a:rPr lang="en-US" dirty="0"/>
              <a:t>We also know that there are different </a:t>
            </a:r>
            <a:r>
              <a:rPr lang="en-US" b="1" dirty="0"/>
              <a:t>types </a:t>
            </a:r>
            <a:r>
              <a:rPr lang="en-US" dirty="0"/>
              <a:t>of information. Some basic types are: </a:t>
            </a:r>
            <a:r>
              <a:rPr lang="en-US" b="1" dirty="0"/>
              <a:t>String, Boolean, </a:t>
            </a:r>
            <a:r>
              <a:rPr lang="en-US" b="1" dirty="0" err="1"/>
              <a:t>Int</a:t>
            </a:r>
            <a:r>
              <a:rPr lang="en-US" b="1" dirty="0"/>
              <a:t>, Float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91517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18882"/>
          </a:xfrm>
        </p:spPr>
        <p:txBody>
          <a:bodyPr/>
          <a:lstStyle/>
          <a:p>
            <a:r>
              <a:rPr lang="en-US" dirty="0"/>
              <a:t>The Need for More</a:t>
            </a:r>
            <a:endParaRPr lang="en-CA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03311" y="3181654"/>
            <a:ext cx="6178937" cy="12623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103311" y="1601228"/>
            <a:ext cx="8946541" cy="1128735"/>
          </a:xfrm>
        </p:spPr>
        <p:txBody>
          <a:bodyPr/>
          <a:lstStyle/>
          <a:p>
            <a:r>
              <a:rPr lang="en-US" dirty="0"/>
              <a:t>However, this system is not always the best way to model information. Take, for instance, a system that is keeping information on a high school class:</a:t>
            </a:r>
            <a:endParaRPr lang="en-CA" dirty="0"/>
          </a:p>
        </p:txBody>
      </p:sp>
      <p:sp>
        <p:nvSpPr>
          <p:cNvPr id="4" name="TextBox 3"/>
          <p:cNvSpPr txBox="1"/>
          <p:nvPr/>
        </p:nvSpPr>
        <p:spPr>
          <a:xfrm>
            <a:off x="1103311" y="2977678"/>
            <a:ext cx="313980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student1 = “Jason”</a:t>
            </a:r>
          </a:p>
          <a:p>
            <a:r>
              <a:rPr lang="en-US" dirty="0"/>
              <a:t>student2 = “</a:t>
            </a:r>
            <a:r>
              <a:rPr lang="en-US" dirty="0" err="1"/>
              <a:t>Skender</a:t>
            </a:r>
            <a:r>
              <a:rPr lang="en-US" dirty="0"/>
              <a:t>”</a:t>
            </a:r>
            <a:endParaRPr lang="en-CA" dirty="0"/>
          </a:p>
          <a:p>
            <a:r>
              <a:rPr lang="en-US" dirty="0"/>
              <a:t>student3 = “Chase”</a:t>
            </a:r>
            <a:endParaRPr lang="en-CA" dirty="0"/>
          </a:p>
          <a:p>
            <a:r>
              <a:rPr lang="en-US" dirty="0"/>
              <a:t>student4 = “Wilson”</a:t>
            </a:r>
            <a:endParaRPr lang="en-CA" dirty="0"/>
          </a:p>
          <a:p>
            <a:r>
              <a:rPr lang="en-US" dirty="0"/>
              <a:t>student5 = “Kolten”</a:t>
            </a:r>
            <a:endParaRPr lang="en-CA" dirty="0"/>
          </a:p>
          <a:p>
            <a:r>
              <a:rPr lang="en-US" dirty="0"/>
              <a:t>student6 = “</a:t>
            </a:r>
            <a:r>
              <a:rPr lang="en-US" dirty="0" err="1"/>
              <a:t>Yekta</a:t>
            </a:r>
            <a:r>
              <a:rPr lang="en-US" dirty="0"/>
              <a:t>”</a:t>
            </a:r>
            <a:endParaRPr lang="en-CA" dirty="0"/>
          </a:p>
          <a:p>
            <a:r>
              <a:rPr lang="en-US" dirty="0"/>
              <a:t>student7 = “</a:t>
            </a:r>
            <a:r>
              <a:rPr lang="en-US" dirty="0" err="1"/>
              <a:t>Kade</a:t>
            </a:r>
            <a:r>
              <a:rPr lang="en-US" dirty="0"/>
              <a:t>”</a:t>
            </a:r>
            <a:endParaRPr lang="en-CA" dirty="0"/>
          </a:p>
          <a:p>
            <a:r>
              <a:rPr lang="en-US" dirty="0"/>
              <a:t>student8 = “Dakota”</a:t>
            </a:r>
            <a:endParaRPr lang="en-CA" dirty="0"/>
          </a:p>
          <a:p>
            <a:r>
              <a:rPr lang="en-US" dirty="0"/>
              <a:t>student9 = “Shirley”</a:t>
            </a:r>
          </a:p>
          <a:p>
            <a:r>
              <a:rPr lang="en-US" dirty="0"/>
              <a:t>student10 = “Corbin”</a:t>
            </a:r>
            <a:endParaRPr lang="en-CA" dirty="0"/>
          </a:p>
          <a:p>
            <a:r>
              <a:rPr lang="en-US" dirty="0"/>
              <a:t>student11 = “James”</a:t>
            </a:r>
          </a:p>
          <a:p>
            <a:r>
              <a:rPr lang="en-US" b="1" dirty="0"/>
              <a:t>and so on….</a:t>
            </a:r>
            <a:endParaRPr lang="en-CA" b="1" dirty="0"/>
          </a:p>
          <a:p>
            <a:endParaRPr lang="en-CA" dirty="0"/>
          </a:p>
          <a:p>
            <a:endParaRPr lang="en-CA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4439586" y="2977678"/>
            <a:ext cx="6378979" cy="313668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dirty="0"/>
              <a:t>Using a separate variable for each student’s name requires a large number of variables.</a:t>
            </a:r>
          </a:p>
          <a:p>
            <a:r>
              <a:rPr lang="en-US" dirty="0"/>
              <a:t>Imagine a condition that checks to see if “Tristen” is part of the class: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CCFFFF"/>
                </a:solidFill>
              </a:rPr>
              <a:t>If (student1 == “Tristen” OR student2 == “Tristen” OR student3 == “Tristen” OR student4 = “Tristen” OR student5 == “Tristen” OR</a:t>
            </a:r>
            <a:r>
              <a:rPr lang="en-US" dirty="0">
                <a:solidFill>
                  <a:srgbClr val="FFC000"/>
                </a:solidFill>
              </a:rPr>
              <a:t>…</a:t>
            </a:r>
            <a:r>
              <a:rPr lang="en-US" dirty="0" err="1">
                <a:solidFill>
                  <a:srgbClr val="FFC000"/>
                </a:solidFill>
              </a:rPr>
              <a:t>etc</a:t>
            </a:r>
            <a:r>
              <a:rPr lang="en-US" dirty="0">
                <a:solidFill>
                  <a:srgbClr val="FFC000"/>
                </a:solidFill>
              </a:rPr>
              <a:t>…</a:t>
            </a:r>
            <a:r>
              <a:rPr lang="en-US" dirty="0">
                <a:solidFill>
                  <a:srgbClr val="CCFFFF"/>
                </a:solidFill>
              </a:rPr>
              <a:t>):</a:t>
            </a:r>
          </a:p>
          <a:p>
            <a:pPr marL="0" indent="0">
              <a:buNone/>
            </a:pPr>
            <a:r>
              <a:rPr lang="en-US" dirty="0"/>
              <a:t>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49024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build="p"/>
      <p:bldP spid="4" grpId="0"/>
      <p:bldP spid="10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18882"/>
          </a:xfrm>
        </p:spPr>
        <p:txBody>
          <a:bodyPr/>
          <a:lstStyle/>
          <a:p>
            <a:r>
              <a:rPr lang="en-US" dirty="0"/>
              <a:t>Compound Data Structures</a:t>
            </a:r>
            <a:endParaRPr lang="en-CA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03311" y="3181654"/>
            <a:ext cx="6178937" cy="12623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9"/>
            <a:ext cx="8946541" cy="2034340"/>
          </a:xfrm>
        </p:spPr>
        <p:txBody>
          <a:bodyPr/>
          <a:lstStyle/>
          <a:p>
            <a:r>
              <a:rPr lang="en-US" dirty="0"/>
              <a:t>Computer Scientists have developed several more complex structures for organizing information. In Python, one powerful option is the </a:t>
            </a:r>
            <a:r>
              <a:rPr lang="en-US" b="1" dirty="0"/>
              <a:t>list.</a:t>
            </a:r>
          </a:p>
          <a:p>
            <a:r>
              <a:rPr lang="en-US" b="1" dirty="0"/>
              <a:t>A List</a:t>
            </a:r>
            <a:r>
              <a:rPr lang="en-US" dirty="0"/>
              <a:t> is a sequential collection of (ordered) data elements.</a:t>
            </a:r>
          </a:p>
          <a:p>
            <a:r>
              <a:rPr lang="en-US" dirty="0"/>
              <a:t>names = [“Cameron”, “Silvia”, “Stefan”]</a:t>
            </a:r>
            <a:endParaRPr lang="en-C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777" y="3525398"/>
            <a:ext cx="8481076" cy="30262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7693A5-BCCC-4BA8-A9C3-78A8F6FD1867}"/>
              </a:ext>
            </a:extLst>
          </p:cNvPr>
          <p:cNvSpPr txBox="1"/>
          <p:nvPr/>
        </p:nvSpPr>
        <p:spPr>
          <a:xfrm>
            <a:off x="3968318" y="6169981"/>
            <a:ext cx="4847208" cy="372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-3                          -2                             -1           </a:t>
            </a:r>
          </a:p>
        </p:txBody>
      </p:sp>
    </p:spTree>
    <p:extLst>
      <p:ext uri="{BB962C8B-B14F-4D97-AF65-F5344CB8AC3E}">
        <p14:creationId xmlns:p14="http://schemas.microsoft.com/office/powerpoint/2010/main" val="936129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 build="p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18882"/>
          </a:xfrm>
        </p:spPr>
        <p:txBody>
          <a:bodyPr/>
          <a:lstStyle/>
          <a:p>
            <a:r>
              <a:rPr lang="en-US" dirty="0"/>
              <a:t>Accessing Elements</a:t>
            </a:r>
            <a:endParaRPr lang="en-CA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03311" y="3181654"/>
            <a:ext cx="6178937" cy="12623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820" y="744685"/>
            <a:ext cx="6758994" cy="2411773"/>
          </a:xfrm>
          <a:prstGeom prst="rect">
            <a:avLst/>
          </a:prstGeom>
        </p:spPr>
      </p:pic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875201" y="2991205"/>
            <a:ext cx="8946541" cy="4195481"/>
          </a:xfrm>
        </p:spPr>
        <p:txBody>
          <a:bodyPr/>
          <a:lstStyle/>
          <a:p>
            <a:r>
              <a:rPr lang="en-US" dirty="0"/>
              <a:t>Each element in the list </a:t>
            </a:r>
            <a:r>
              <a:rPr lang="en-US" b="1" dirty="0"/>
              <a:t>names</a:t>
            </a:r>
            <a:r>
              <a:rPr lang="en-US" dirty="0"/>
              <a:t> has an </a:t>
            </a:r>
            <a:r>
              <a:rPr lang="en-US" b="1" dirty="0"/>
              <a:t>index, </a:t>
            </a:r>
            <a:r>
              <a:rPr lang="en-US" dirty="0"/>
              <a:t>which can be used to access it:</a:t>
            </a:r>
          </a:p>
          <a:p>
            <a:endParaRPr lang="en-US" sz="1000" dirty="0"/>
          </a:p>
          <a:p>
            <a:pPr marL="0" indent="0">
              <a:buNone/>
            </a:pPr>
            <a:r>
              <a:rPr lang="en-US" dirty="0"/>
              <a:t>print(names[1])				</a:t>
            </a:r>
            <a:r>
              <a:rPr lang="en-US" dirty="0">
                <a:solidFill>
                  <a:srgbClr val="C0E399"/>
                </a:solidFill>
              </a:rPr>
              <a:t>#prints “Silvia”</a:t>
            </a:r>
          </a:p>
          <a:p>
            <a:pPr marL="0" indent="0">
              <a:buNone/>
            </a:pPr>
            <a:r>
              <a:rPr lang="en-US" dirty="0"/>
              <a:t>print(“Hello, “ + names[2])		</a:t>
            </a:r>
            <a:r>
              <a:rPr lang="en-US" dirty="0">
                <a:solidFill>
                  <a:srgbClr val="C0E399"/>
                </a:solidFill>
              </a:rPr>
              <a:t>#prints “Hello, Stefan”</a:t>
            </a:r>
          </a:p>
          <a:p>
            <a:endParaRPr lang="en-US" dirty="0"/>
          </a:p>
          <a:p>
            <a:r>
              <a:rPr lang="en-US" dirty="0"/>
              <a:t>To see the contents of a list, you can print the entire list: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print (names)					</a:t>
            </a:r>
            <a:r>
              <a:rPr lang="en-US" dirty="0">
                <a:solidFill>
                  <a:srgbClr val="C0E399"/>
                </a:solidFill>
              </a:rPr>
              <a:t>#prints [“Cameron”, “Silvia”, Stefan”]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43947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Elements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546142"/>
            <a:ext cx="9329661" cy="504194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Lists can be created as </a:t>
            </a:r>
            <a:r>
              <a:rPr lang="en-US" b="1" dirty="0"/>
              <a:t>empty lists: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favourite_food</a:t>
            </a:r>
            <a:r>
              <a:rPr lang="en-US" dirty="0"/>
              <a:t> = []			</a:t>
            </a:r>
            <a:r>
              <a:rPr lang="en-US" dirty="0">
                <a:solidFill>
                  <a:srgbClr val="C0E399"/>
                </a:solidFill>
              </a:rPr>
              <a:t>#creates an empty list called </a:t>
            </a:r>
            <a:r>
              <a:rPr lang="en-US" dirty="0" err="1">
                <a:solidFill>
                  <a:srgbClr val="C0E399"/>
                </a:solidFill>
              </a:rPr>
              <a:t>favourite</a:t>
            </a:r>
            <a:r>
              <a:rPr lang="en-US" dirty="0">
                <a:solidFill>
                  <a:srgbClr val="C0E399"/>
                </a:solidFill>
              </a:rPr>
              <a:t> food</a:t>
            </a:r>
          </a:p>
          <a:p>
            <a:endParaRPr lang="en-US" dirty="0"/>
          </a:p>
          <a:p>
            <a:r>
              <a:rPr lang="en-US" dirty="0"/>
              <a:t>Elements can be added to a list by using the .append() </a:t>
            </a:r>
            <a:r>
              <a:rPr lang="en-US" b="1" dirty="0"/>
              <a:t>list function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List functions can be used on any List</a:t>
            </a:r>
            <a:br>
              <a:rPr lang="en-US" dirty="0"/>
            </a:br>
            <a:endParaRPr lang="en-US" dirty="0"/>
          </a:p>
          <a:p>
            <a:pPr marL="457200" lvl="1" indent="0">
              <a:buNone/>
            </a:pPr>
            <a:r>
              <a:rPr lang="en-US" dirty="0" err="1"/>
              <a:t>favourite_food.append</a:t>
            </a:r>
            <a:r>
              <a:rPr lang="en-US" dirty="0"/>
              <a:t>(“</a:t>
            </a:r>
            <a:r>
              <a:rPr lang="en-US" dirty="0" err="1"/>
              <a:t>Perogies</a:t>
            </a:r>
            <a:r>
              <a:rPr lang="en-US" dirty="0"/>
              <a:t>”)</a:t>
            </a:r>
          </a:p>
          <a:p>
            <a:pPr marL="457200" lvl="1" indent="0">
              <a:buNone/>
            </a:pPr>
            <a:r>
              <a:rPr lang="en-US" dirty="0" err="1"/>
              <a:t>favourite_food.append</a:t>
            </a:r>
            <a:r>
              <a:rPr lang="en-US" dirty="0"/>
              <a:t>(“Eggs Benedict”)</a:t>
            </a:r>
          </a:p>
          <a:p>
            <a:pPr marL="457200" lvl="1" indent="0">
              <a:buNone/>
            </a:pPr>
            <a:r>
              <a:rPr lang="en-US" dirty="0"/>
              <a:t>print(</a:t>
            </a:r>
            <a:r>
              <a:rPr lang="en-US" dirty="0" err="1"/>
              <a:t>favourite_food</a:t>
            </a:r>
            <a:r>
              <a:rPr lang="en-US" dirty="0"/>
              <a:t>)		</a:t>
            </a:r>
            <a:r>
              <a:rPr lang="en-US" dirty="0">
                <a:solidFill>
                  <a:srgbClr val="C0E399"/>
                </a:solidFill>
              </a:rPr>
              <a:t>#prints [“</a:t>
            </a:r>
            <a:r>
              <a:rPr lang="en-US" dirty="0" err="1">
                <a:solidFill>
                  <a:srgbClr val="C0E399"/>
                </a:solidFill>
              </a:rPr>
              <a:t>Perogies</a:t>
            </a:r>
            <a:r>
              <a:rPr lang="en-US" dirty="0">
                <a:solidFill>
                  <a:srgbClr val="C0E399"/>
                </a:solidFill>
              </a:rPr>
              <a:t>”, “Eggs Benedict”]</a:t>
            </a:r>
            <a:br>
              <a:rPr lang="en-US" dirty="0">
                <a:solidFill>
                  <a:srgbClr val="C0E399"/>
                </a:solidFill>
              </a:rPr>
            </a:br>
            <a:endParaRPr lang="en-US" dirty="0">
              <a:solidFill>
                <a:srgbClr val="C0E399"/>
              </a:solidFill>
            </a:endParaRPr>
          </a:p>
          <a:p>
            <a:r>
              <a:rPr lang="en-US" dirty="0"/>
              <a:t>Exercise: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Create a list called </a:t>
            </a:r>
            <a:r>
              <a:rPr lang="en-US" b="1"/>
              <a:t>favourite_places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Add six different elements (Strings) to this list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Print out the list.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70465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Removing Elements</a:t>
            </a:r>
            <a:endParaRPr lang="en-CA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3797039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pop() method</a:t>
            </a:r>
            <a:r>
              <a:rPr lang="en-US" dirty="0"/>
              <a:t> can be used to remove an element at a specific index position:</a:t>
            </a:r>
            <a:br>
              <a:rPr lang="en-CA" b="1" dirty="0"/>
            </a:br>
            <a:br>
              <a:rPr lang="en-CA" b="1" dirty="0"/>
            </a:br>
            <a:r>
              <a:rPr lang="en-CA" b="1" dirty="0" err="1"/>
              <a:t>my_list</a:t>
            </a:r>
            <a:r>
              <a:rPr lang="en-CA" b="1" dirty="0"/>
              <a:t> </a:t>
            </a:r>
            <a:r>
              <a:rPr lang="en-CA" dirty="0"/>
              <a:t>= [“Banana”, 5, True, True, 3.14]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my_list.pop</a:t>
            </a:r>
            <a:r>
              <a:rPr lang="en-US" dirty="0"/>
              <a:t>(1)</a:t>
            </a:r>
            <a:br>
              <a:rPr lang="en-US" dirty="0"/>
            </a:br>
            <a:r>
              <a:rPr lang="en-US" dirty="0" err="1"/>
              <a:t>my_list.pop</a:t>
            </a:r>
            <a:r>
              <a:rPr lang="en-US" dirty="0"/>
              <a:t>(3)</a:t>
            </a:r>
            <a:br>
              <a:rPr lang="en-US" dirty="0"/>
            </a:br>
            <a:r>
              <a:rPr lang="en-US" dirty="0" err="1"/>
              <a:t>my_list.pop</a:t>
            </a:r>
            <a:r>
              <a:rPr lang="en-US" dirty="0"/>
              <a:t>(-1)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print</a:t>
            </a:r>
            <a:r>
              <a:rPr lang="en-US" dirty="0"/>
              <a:t> (</a:t>
            </a:r>
            <a:r>
              <a:rPr lang="en-US" dirty="0" err="1"/>
              <a:t>my_list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6582" y="4781320"/>
            <a:ext cx="45830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E399"/>
                </a:solidFill>
              </a:rPr>
              <a:t>#prints [“Banana”, True]</a:t>
            </a:r>
            <a:endParaRPr lang="en-CA" sz="2400" dirty="0">
              <a:solidFill>
                <a:srgbClr val="C0E3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9683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25239"/>
          </a:xfrm>
        </p:spPr>
        <p:txBody>
          <a:bodyPr/>
          <a:lstStyle/>
          <a:p>
            <a:r>
              <a:rPr lang="en-US" dirty="0"/>
              <a:t>List Exercise</a:t>
            </a:r>
            <a:endParaRPr lang="en-CA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646111" y="1091663"/>
            <a:ext cx="8825658" cy="5939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FFC000"/>
                </a:solidFill>
              </a:rPr>
              <a:t>ADD AND REMOVE</a:t>
            </a:r>
            <a:endParaRPr lang="en-CA" dirty="0">
              <a:solidFill>
                <a:srgbClr val="FFC000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28268" y="1916902"/>
            <a:ext cx="7006629" cy="4195481"/>
          </a:xfrm>
        </p:spPr>
        <p:txBody>
          <a:bodyPr/>
          <a:lstStyle/>
          <a:p>
            <a:r>
              <a:rPr lang="en-US" dirty="0"/>
              <a:t>Design a program that does the following: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Creates an empty list called </a:t>
            </a:r>
            <a:r>
              <a:rPr lang="en-US" b="1" dirty="0"/>
              <a:t>things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Using </a:t>
            </a:r>
            <a:r>
              <a:rPr lang="en-US" b="1" dirty="0"/>
              <a:t>input</a:t>
            </a:r>
            <a:r>
              <a:rPr lang="en-US" dirty="0"/>
              <a:t>, ask the user to enter 5 strings and </a:t>
            </a:r>
            <a:r>
              <a:rPr lang="en-US" b="1" dirty="0"/>
              <a:t>append</a:t>
            </a:r>
            <a:r>
              <a:rPr lang="en-US" dirty="0"/>
              <a:t> them to </a:t>
            </a:r>
            <a:r>
              <a:rPr lang="en-US" b="1" dirty="0"/>
              <a:t>things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Print</a:t>
            </a:r>
            <a:r>
              <a:rPr lang="en-US" dirty="0"/>
              <a:t> the list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Using input, ask the user to enter 2 different numbers </a:t>
            </a:r>
            <a:r>
              <a:rPr lang="en-US" u="sng" dirty="0"/>
              <a:t>between 0 and 4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With the </a:t>
            </a:r>
            <a:r>
              <a:rPr lang="en-US" b="1" dirty="0"/>
              <a:t>pop </a:t>
            </a:r>
            <a:r>
              <a:rPr lang="en-US" dirty="0"/>
              <a:t>function, remove the elements at the indices of those two numbers.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Print </a:t>
            </a:r>
            <a:r>
              <a:rPr lang="en-US" dirty="0"/>
              <a:t>the modified list.</a:t>
            </a:r>
            <a:endParaRPr lang="en-US" b="1" dirty="0"/>
          </a:p>
          <a:p>
            <a:pPr marL="0" indent="0">
              <a:buNone/>
            </a:pPr>
            <a:endParaRPr lang="en-CA" dirty="0"/>
          </a:p>
        </p:txBody>
      </p:sp>
      <p:sp>
        <p:nvSpPr>
          <p:cNvPr id="5" name="Rectangle 4"/>
          <p:cNvSpPr/>
          <p:nvPr/>
        </p:nvSpPr>
        <p:spPr>
          <a:xfrm>
            <a:off x="7134897" y="1518886"/>
            <a:ext cx="5057103" cy="5339114"/>
          </a:xfrm>
          <a:prstGeom prst="rect">
            <a:avLst/>
          </a:prstGeom>
          <a:solidFill>
            <a:schemeClr val="tx2">
              <a:lumMod val="75000"/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7314310" y="1685580"/>
            <a:ext cx="4698276" cy="5046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LISTS CHEAT SHEET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my_list</a:t>
            </a:r>
            <a:r>
              <a:rPr lang="en-US" dirty="0"/>
              <a:t> = </a:t>
            </a:r>
            <a:r>
              <a:rPr lang="en-CA" dirty="0"/>
              <a:t>[]</a:t>
            </a:r>
            <a:br>
              <a:rPr lang="en-US" dirty="0"/>
            </a:br>
            <a:r>
              <a:rPr lang="en-US" dirty="0"/>
              <a:t>     </a:t>
            </a:r>
            <a:r>
              <a:rPr lang="en-US" dirty="0">
                <a:solidFill>
                  <a:srgbClr val="CCFFFF"/>
                </a:solidFill>
              </a:rPr>
              <a:t>creates an empty list called </a:t>
            </a:r>
            <a:r>
              <a:rPr lang="en-US" dirty="0" err="1">
                <a:solidFill>
                  <a:srgbClr val="CCFFFF"/>
                </a:solidFill>
              </a:rPr>
              <a:t>my_list</a:t>
            </a:r>
            <a:br>
              <a:rPr lang="en-US" dirty="0">
                <a:solidFill>
                  <a:srgbClr val="CCFFFF"/>
                </a:solidFill>
              </a:rPr>
            </a:br>
            <a:br>
              <a:rPr lang="en-US" dirty="0"/>
            </a:br>
            <a:r>
              <a:rPr lang="en-US" dirty="0" err="1"/>
              <a:t>my_list.append</a:t>
            </a:r>
            <a:r>
              <a:rPr lang="en-US" dirty="0"/>
              <a:t>(</a:t>
            </a:r>
            <a:r>
              <a:rPr lang="en-US" dirty="0">
                <a:solidFill>
                  <a:srgbClr val="66FF99"/>
                </a:solidFill>
              </a:rPr>
              <a:t>“apple”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     </a:t>
            </a:r>
            <a:r>
              <a:rPr lang="en-US" dirty="0">
                <a:solidFill>
                  <a:srgbClr val="CCFFFF"/>
                </a:solidFill>
              </a:rPr>
              <a:t>adds something (like a string) to the </a:t>
            </a:r>
            <a:br>
              <a:rPr lang="en-US" dirty="0">
                <a:solidFill>
                  <a:srgbClr val="CCFFFF"/>
                </a:solidFill>
              </a:rPr>
            </a:br>
            <a:r>
              <a:rPr lang="en-US" dirty="0">
                <a:solidFill>
                  <a:srgbClr val="CCFFFF"/>
                </a:solidFill>
              </a:rPr>
              <a:t>     end of a list.</a:t>
            </a:r>
          </a:p>
          <a:p>
            <a:pPr marL="0" indent="0">
              <a:buNone/>
            </a:pPr>
            <a:endParaRPr lang="en-US" dirty="0">
              <a:solidFill>
                <a:srgbClr val="CCFFFF"/>
              </a:solidFill>
            </a:endParaRPr>
          </a:p>
          <a:p>
            <a:r>
              <a:rPr lang="en-US" dirty="0" err="1"/>
              <a:t>my_list.pop</a:t>
            </a:r>
            <a:r>
              <a:rPr lang="en-US" dirty="0"/>
              <a:t>(</a:t>
            </a:r>
            <a:r>
              <a:rPr lang="en-US" i="1" dirty="0">
                <a:solidFill>
                  <a:srgbClr val="FFC000"/>
                </a:solidFill>
              </a:rPr>
              <a:t>index)</a:t>
            </a:r>
            <a:br>
              <a:rPr lang="en-US" dirty="0"/>
            </a:br>
            <a:r>
              <a:rPr lang="en-US" dirty="0"/>
              <a:t>     </a:t>
            </a:r>
            <a:r>
              <a:rPr lang="en-US" dirty="0">
                <a:solidFill>
                  <a:srgbClr val="CCFFFF"/>
                </a:solidFill>
              </a:rPr>
              <a:t>removes the item stored at position</a:t>
            </a:r>
            <a:r>
              <a:rPr lang="en-US" i="1" dirty="0">
                <a:solidFill>
                  <a:srgbClr val="CCFFFF"/>
                </a:solidFill>
              </a:rPr>
              <a:t> </a:t>
            </a:r>
            <a:br>
              <a:rPr lang="en-US" i="1" dirty="0">
                <a:solidFill>
                  <a:srgbClr val="CCFFFF"/>
                </a:solidFill>
              </a:rPr>
            </a:br>
            <a:r>
              <a:rPr lang="en-US" i="1" dirty="0">
                <a:solidFill>
                  <a:srgbClr val="CCFFFF"/>
                </a:solidFill>
              </a:rPr>
              <a:t>     index</a:t>
            </a:r>
            <a:r>
              <a:rPr lang="en-US" dirty="0">
                <a:solidFill>
                  <a:srgbClr val="CCFFFF"/>
                </a:solidFill>
              </a:rPr>
              <a:t> in an array.</a:t>
            </a:r>
            <a:br>
              <a:rPr lang="en-US" dirty="0">
                <a:solidFill>
                  <a:srgbClr val="CCFFFF"/>
                </a:solidFill>
              </a:rPr>
            </a:br>
            <a:br>
              <a:rPr lang="en-US" dirty="0">
                <a:solidFill>
                  <a:srgbClr val="CCFFFF"/>
                </a:solidFill>
              </a:rPr>
            </a:br>
            <a:r>
              <a:rPr lang="en-US" dirty="0">
                <a:solidFill>
                  <a:srgbClr val="CCFFFF"/>
                </a:solidFill>
              </a:rPr>
              <a:t>     all trailing items will be shifted left.</a:t>
            </a:r>
            <a:br>
              <a:rPr lang="en-US" dirty="0">
                <a:solidFill>
                  <a:srgbClr val="CCFFFF"/>
                </a:solidFill>
              </a:rPr>
            </a:br>
            <a:br>
              <a:rPr lang="en-US" dirty="0"/>
            </a:br>
            <a:r>
              <a:rPr lang="en-US" dirty="0" err="1"/>
              <a:t>len</a:t>
            </a:r>
            <a:r>
              <a:rPr lang="en-US" dirty="0"/>
              <a:t>(</a:t>
            </a:r>
            <a:r>
              <a:rPr lang="en-US" dirty="0" err="1"/>
              <a:t>my_list</a:t>
            </a:r>
            <a:r>
              <a:rPr lang="en-US" dirty="0"/>
              <a:t>)</a:t>
            </a:r>
          </a:p>
          <a:p>
            <a:r>
              <a:rPr lang="en-US" dirty="0">
                <a:solidFill>
                  <a:srgbClr val="CCFFFF"/>
                </a:solidFill>
              </a:rPr>
              <a:t>     returns the number of items in a list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3038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083C8-7EAD-44B5-9803-5CC4552AB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6C287-1F6B-4877-A868-987B253D9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9"/>
            <a:ext cx="8946541" cy="995082"/>
          </a:xfrm>
        </p:spPr>
        <p:txBody>
          <a:bodyPr/>
          <a:lstStyle/>
          <a:p>
            <a:r>
              <a:rPr lang="en-US" dirty="0"/>
              <a:t>There will be times that we want to access a </a:t>
            </a:r>
            <a:r>
              <a:rPr lang="en-US" b="1" dirty="0"/>
              <a:t>sub-list </a:t>
            </a:r>
            <a:r>
              <a:rPr lang="en-US" dirty="0"/>
              <a:t>(part of a list).</a:t>
            </a:r>
          </a:p>
          <a:p>
            <a:r>
              <a:rPr lang="en-US" dirty="0"/>
              <a:t>In python, we can achieve this through </a:t>
            </a:r>
            <a:r>
              <a:rPr lang="en-US" b="1" dirty="0"/>
              <a:t>the slicing operator.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31E471-6DCC-4F10-9DD0-80AD50588094}"/>
              </a:ext>
            </a:extLst>
          </p:cNvPr>
          <p:cNvSpPr txBox="1"/>
          <p:nvPr/>
        </p:nvSpPr>
        <p:spPr>
          <a:xfrm>
            <a:off x="646111" y="3740727"/>
            <a:ext cx="105622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err="1"/>
              <a:t>sub_list</a:t>
            </a:r>
            <a:r>
              <a:rPr lang="en-US" sz="4400" dirty="0"/>
              <a:t> = </a:t>
            </a:r>
            <a:r>
              <a:rPr lang="en-US" sz="4400" dirty="0" err="1"/>
              <a:t>original_list</a:t>
            </a:r>
            <a:r>
              <a:rPr lang="en-US" sz="4400" dirty="0"/>
              <a:t>[ </a:t>
            </a:r>
            <a:r>
              <a:rPr lang="en-US" sz="4400" i="1" dirty="0"/>
              <a:t>start</a:t>
            </a:r>
            <a:r>
              <a:rPr lang="en-US" sz="4400" dirty="0"/>
              <a:t> : </a:t>
            </a:r>
            <a:r>
              <a:rPr lang="en-US" sz="4400" i="1" dirty="0"/>
              <a:t>end</a:t>
            </a:r>
            <a:r>
              <a:rPr lang="en-US" sz="4400" dirty="0"/>
              <a:t> ]</a:t>
            </a:r>
          </a:p>
        </p:txBody>
      </p:sp>
      <p:sp>
        <p:nvSpPr>
          <p:cNvPr id="5" name="Line Callout 1 (Accent Bar) 12">
            <a:extLst>
              <a:ext uri="{FF2B5EF4-FFF2-40B4-BE49-F238E27FC236}">
                <a16:creationId xmlns:a16="http://schemas.microsoft.com/office/drawing/2014/main" id="{D327E395-7C4A-4227-96CE-4289230751AE}"/>
              </a:ext>
            </a:extLst>
          </p:cNvPr>
          <p:cNvSpPr/>
          <p:nvPr/>
        </p:nvSpPr>
        <p:spPr>
          <a:xfrm>
            <a:off x="646110" y="3765026"/>
            <a:ext cx="1944689" cy="745142"/>
          </a:xfrm>
          <a:prstGeom prst="accentCallout1">
            <a:avLst>
              <a:gd name="adj1" fmla="val 105331"/>
              <a:gd name="adj2" fmla="val -5105"/>
              <a:gd name="adj3" fmla="val 162382"/>
              <a:gd name="adj4" fmla="val 18854"/>
            </a:avLst>
          </a:prstGeom>
          <a:solidFill>
            <a:srgbClr val="FFFF00">
              <a:alpha val="32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AC08E71-A976-4577-A6B0-2B3B1E12557E}"/>
              </a:ext>
            </a:extLst>
          </p:cNvPr>
          <p:cNvSpPr txBox="1">
            <a:spLocks/>
          </p:cNvSpPr>
          <p:nvPr/>
        </p:nvSpPr>
        <p:spPr>
          <a:xfrm>
            <a:off x="459834" y="5202894"/>
            <a:ext cx="2130965" cy="13871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sz="1600" dirty="0">
                <a:solidFill>
                  <a:srgbClr val="FFFF00"/>
                </a:solidFill>
              </a:rPr>
              <a:t>New list to store the resulting </a:t>
            </a:r>
            <a:r>
              <a:rPr lang="en-US" sz="1600" dirty="0" err="1">
                <a:solidFill>
                  <a:srgbClr val="FFFF00"/>
                </a:solidFill>
              </a:rPr>
              <a:t>sublist</a:t>
            </a:r>
            <a:r>
              <a:rPr lang="en-US" sz="1600" dirty="0">
                <a:solidFill>
                  <a:srgbClr val="FFFF00"/>
                </a:solidFill>
              </a:rPr>
              <a:t>.</a:t>
            </a:r>
            <a:br>
              <a:rPr lang="en-US" sz="1600" dirty="0">
                <a:solidFill>
                  <a:srgbClr val="FFFF00"/>
                </a:solidFill>
              </a:rPr>
            </a:b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7" name="Line Callout 1 (Accent Bar) 12">
            <a:extLst>
              <a:ext uri="{FF2B5EF4-FFF2-40B4-BE49-F238E27FC236}">
                <a16:creationId xmlns:a16="http://schemas.microsoft.com/office/drawing/2014/main" id="{F951E656-A36E-46D7-8BC5-86E7A3D46192}"/>
              </a:ext>
            </a:extLst>
          </p:cNvPr>
          <p:cNvSpPr/>
          <p:nvPr/>
        </p:nvSpPr>
        <p:spPr>
          <a:xfrm>
            <a:off x="3223056" y="3765026"/>
            <a:ext cx="2872944" cy="745142"/>
          </a:xfrm>
          <a:prstGeom prst="accentCallout1">
            <a:avLst>
              <a:gd name="adj1" fmla="val 105331"/>
              <a:gd name="adj2" fmla="val -5105"/>
              <a:gd name="adj3" fmla="val 208865"/>
              <a:gd name="adj4" fmla="val 12585"/>
            </a:avLst>
          </a:prstGeom>
          <a:solidFill>
            <a:srgbClr val="FFFF00">
              <a:alpha val="32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85A2490-4541-4831-92A0-E909448B3875}"/>
              </a:ext>
            </a:extLst>
          </p:cNvPr>
          <p:cNvSpPr txBox="1">
            <a:spLocks/>
          </p:cNvSpPr>
          <p:nvPr/>
        </p:nvSpPr>
        <p:spPr>
          <a:xfrm>
            <a:off x="3244597" y="5450587"/>
            <a:ext cx="2130965" cy="13871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sz="1600" dirty="0">
                <a:solidFill>
                  <a:srgbClr val="FFFF00"/>
                </a:solidFill>
              </a:rPr>
              <a:t>Source list from which to get the </a:t>
            </a:r>
            <a:r>
              <a:rPr lang="en-US" sz="1600" dirty="0" err="1">
                <a:solidFill>
                  <a:srgbClr val="FFFF00"/>
                </a:solidFill>
              </a:rPr>
              <a:t>sublist</a:t>
            </a:r>
            <a:r>
              <a:rPr lang="en-US" sz="1600" dirty="0">
                <a:solidFill>
                  <a:srgbClr val="FFFF00"/>
                </a:solidFill>
              </a:rPr>
              <a:t>.</a:t>
            </a:r>
            <a:br>
              <a:rPr lang="en-US" sz="1600" dirty="0">
                <a:solidFill>
                  <a:srgbClr val="FFFF00"/>
                </a:solidFill>
              </a:rPr>
            </a:b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0" name="Line Callout 1 (Accent Bar) 12">
            <a:extLst>
              <a:ext uri="{FF2B5EF4-FFF2-40B4-BE49-F238E27FC236}">
                <a16:creationId xmlns:a16="http://schemas.microsoft.com/office/drawing/2014/main" id="{719B9892-6972-44AA-BA80-5B445B04A519}"/>
              </a:ext>
            </a:extLst>
          </p:cNvPr>
          <p:cNvSpPr/>
          <p:nvPr/>
        </p:nvSpPr>
        <p:spPr>
          <a:xfrm>
            <a:off x="6095999" y="3738817"/>
            <a:ext cx="318655" cy="795649"/>
          </a:xfrm>
          <a:prstGeom prst="accentCallout1">
            <a:avLst>
              <a:gd name="adj1" fmla="val 105331"/>
              <a:gd name="adj2" fmla="val -5105"/>
              <a:gd name="adj3" fmla="val 174039"/>
              <a:gd name="adj4" fmla="val -30893"/>
            </a:avLst>
          </a:prstGeom>
          <a:solidFill>
            <a:srgbClr val="66FFFF">
              <a:alpha val="32000"/>
            </a:srgbClr>
          </a:solidFill>
          <a:ln>
            <a:solidFill>
              <a:srgbClr val="81DE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 dirty="0"/>
          </a:p>
        </p:txBody>
      </p:sp>
      <p:sp>
        <p:nvSpPr>
          <p:cNvPr id="11" name="Line Callout 1 (Accent Bar) 12">
            <a:extLst>
              <a:ext uri="{FF2B5EF4-FFF2-40B4-BE49-F238E27FC236}">
                <a16:creationId xmlns:a16="http://schemas.microsoft.com/office/drawing/2014/main" id="{2E8D1A0A-C026-4B10-998C-1C9154C1F83C}"/>
              </a:ext>
            </a:extLst>
          </p:cNvPr>
          <p:cNvSpPr/>
          <p:nvPr/>
        </p:nvSpPr>
        <p:spPr>
          <a:xfrm>
            <a:off x="9307445" y="3752876"/>
            <a:ext cx="318655" cy="795649"/>
          </a:xfrm>
          <a:prstGeom prst="accentCallout1">
            <a:avLst>
              <a:gd name="adj1" fmla="val 105331"/>
              <a:gd name="adj2" fmla="val -5105"/>
              <a:gd name="adj3" fmla="val 100905"/>
              <a:gd name="adj4" fmla="val 8237"/>
            </a:avLst>
          </a:prstGeom>
          <a:solidFill>
            <a:srgbClr val="66FFFF">
              <a:alpha val="32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1F892C3-425E-4C60-9AF9-2D2958FC5B71}"/>
              </a:ext>
            </a:extLst>
          </p:cNvPr>
          <p:cNvSpPr txBox="1">
            <a:spLocks/>
          </p:cNvSpPr>
          <p:nvPr/>
        </p:nvSpPr>
        <p:spPr>
          <a:xfrm>
            <a:off x="5189843" y="5325896"/>
            <a:ext cx="1363357" cy="13871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sz="1600" dirty="0">
                <a:solidFill>
                  <a:srgbClr val="66FFFF"/>
                </a:solidFill>
              </a:rPr>
              <a:t>Square brackets – the index operator</a:t>
            </a:r>
            <a:br>
              <a:rPr lang="en-US" sz="1600" dirty="0">
                <a:solidFill>
                  <a:srgbClr val="FFFF00"/>
                </a:solidFill>
              </a:rPr>
            </a:b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3" name="Line Callout 1 (Accent Bar) 12">
            <a:extLst>
              <a:ext uri="{FF2B5EF4-FFF2-40B4-BE49-F238E27FC236}">
                <a16:creationId xmlns:a16="http://schemas.microsoft.com/office/drawing/2014/main" id="{F8E4D444-94C1-47D8-B954-E22910A79F77}"/>
              </a:ext>
            </a:extLst>
          </p:cNvPr>
          <p:cNvSpPr/>
          <p:nvPr/>
        </p:nvSpPr>
        <p:spPr>
          <a:xfrm>
            <a:off x="6456219" y="3782452"/>
            <a:ext cx="1153950" cy="745142"/>
          </a:xfrm>
          <a:prstGeom prst="accentCallout1">
            <a:avLst>
              <a:gd name="adj1" fmla="val 97894"/>
              <a:gd name="adj2" fmla="val -725"/>
              <a:gd name="adj3" fmla="val 175397"/>
              <a:gd name="adj4" fmla="val 27913"/>
            </a:avLst>
          </a:prstGeom>
          <a:solidFill>
            <a:srgbClr val="FF6600">
              <a:alpha val="32000"/>
            </a:srgbClr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80720FB-FDA4-4B29-BE64-77CAB615A02D}"/>
              </a:ext>
            </a:extLst>
          </p:cNvPr>
          <p:cNvSpPr txBox="1">
            <a:spLocks/>
          </p:cNvSpPr>
          <p:nvPr/>
        </p:nvSpPr>
        <p:spPr>
          <a:xfrm>
            <a:off x="6678322" y="5175027"/>
            <a:ext cx="1363357" cy="13871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Start at this index.</a:t>
            </a:r>
            <a:br>
              <a:rPr lang="en-US" sz="1600" dirty="0">
                <a:solidFill>
                  <a:srgbClr val="FFFF00"/>
                </a:solidFill>
              </a:rPr>
            </a:b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9" name="Line Callout 1 (Accent Bar) 12">
            <a:extLst>
              <a:ext uri="{FF2B5EF4-FFF2-40B4-BE49-F238E27FC236}">
                <a16:creationId xmlns:a16="http://schemas.microsoft.com/office/drawing/2014/main" id="{C5367991-F6C8-B04C-38AD-089F99DEB84E}"/>
              </a:ext>
            </a:extLst>
          </p:cNvPr>
          <p:cNvSpPr/>
          <p:nvPr/>
        </p:nvSpPr>
        <p:spPr>
          <a:xfrm>
            <a:off x="8041679" y="3752876"/>
            <a:ext cx="1292260" cy="745142"/>
          </a:xfrm>
          <a:prstGeom prst="accentCallout1">
            <a:avLst>
              <a:gd name="adj1" fmla="val 97894"/>
              <a:gd name="adj2" fmla="val -725"/>
              <a:gd name="adj3" fmla="val 176717"/>
              <a:gd name="adj4" fmla="val 48441"/>
            </a:avLst>
          </a:prstGeom>
          <a:solidFill>
            <a:srgbClr val="FF6600">
              <a:alpha val="32000"/>
            </a:srgbClr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DAD6969-3D88-12B2-68B1-A82BBBE85109}"/>
              </a:ext>
            </a:extLst>
          </p:cNvPr>
          <p:cNvSpPr txBox="1">
            <a:spLocks/>
          </p:cNvSpPr>
          <p:nvPr/>
        </p:nvSpPr>
        <p:spPr>
          <a:xfrm>
            <a:off x="8785095" y="5009936"/>
            <a:ext cx="1363357" cy="13871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Up to (but not including) this index.</a:t>
            </a:r>
            <a:br>
              <a:rPr lang="en-US" sz="1600" dirty="0">
                <a:solidFill>
                  <a:srgbClr val="FFFF00"/>
                </a:solidFill>
              </a:rPr>
            </a:b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7270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0" grpId="0" animBg="1"/>
      <p:bldP spid="11" grpId="0" animBg="1"/>
      <p:bldP spid="13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083C8-7EAD-44B5-9803-5CC4552AB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608" y="117689"/>
            <a:ext cx="1810058" cy="756914"/>
          </a:xfrm>
        </p:spPr>
        <p:txBody>
          <a:bodyPr/>
          <a:lstStyle/>
          <a:p>
            <a:r>
              <a:rPr lang="en-US" dirty="0"/>
              <a:t>Slicing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6C287-1F6B-4877-A868-987B253D9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276" y="1194553"/>
            <a:ext cx="8946541" cy="442657"/>
          </a:xfrm>
        </p:spPr>
        <p:txBody>
          <a:bodyPr/>
          <a:lstStyle/>
          <a:p>
            <a:pPr marL="0" indent="0">
              <a:buNone/>
            </a:pPr>
            <a:r>
              <a:rPr lang="en-CA" dirty="0" err="1"/>
              <a:t>my_list</a:t>
            </a:r>
            <a:r>
              <a:rPr lang="en-CA" dirty="0"/>
              <a:t> = [“a”, “f”, 99, “apple”, True, “c”]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31E471-6DCC-4F10-9DD0-80AD50588094}"/>
              </a:ext>
            </a:extLst>
          </p:cNvPr>
          <p:cNvSpPr txBox="1"/>
          <p:nvPr/>
        </p:nvSpPr>
        <p:spPr>
          <a:xfrm>
            <a:off x="775277" y="2231885"/>
            <a:ext cx="15988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my_list</a:t>
            </a:r>
            <a:r>
              <a:rPr lang="en-US" sz="2000" dirty="0"/>
              <a:t>[1:4] </a:t>
            </a:r>
          </a:p>
        </p:txBody>
      </p:sp>
      <p:sp>
        <p:nvSpPr>
          <p:cNvPr id="5" name="Line Callout 1 (Accent Bar) 12">
            <a:extLst>
              <a:ext uri="{FF2B5EF4-FFF2-40B4-BE49-F238E27FC236}">
                <a16:creationId xmlns:a16="http://schemas.microsoft.com/office/drawing/2014/main" id="{D327E395-7C4A-4227-96CE-4289230751AE}"/>
              </a:ext>
            </a:extLst>
          </p:cNvPr>
          <p:cNvSpPr/>
          <p:nvPr/>
        </p:nvSpPr>
        <p:spPr>
          <a:xfrm>
            <a:off x="1662877" y="3727913"/>
            <a:ext cx="200411" cy="335056"/>
          </a:xfrm>
          <a:prstGeom prst="accentCallout1">
            <a:avLst>
              <a:gd name="adj1" fmla="val 105331"/>
              <a:gd name="adj2" fmla="val -5105"/>
              <a:gd name="adj3" fmla="val 135458"/>
              <a:gd name="adj4" fmla="val 57728"/>
            </a:avLst>
          </a:prstGeom>
          <a:solidFill>
            <a:srgbClr val="FFFF00">
              <a:alpha val="32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AC08E71-A976-4577-A6B0-2B3B1E12557E}"/>
              </a:ext>
            </a:extLst>
          </p:cNvPr>
          <p:cNvSpPr txBox="1">
            <a:spLocks/>
          </p:cNvSpPr>
          <p:nvPr/>
        </p:nvSpPr>
        <p:spPr>
          <a:xfrm>
            <a:off x="888547" y="4187660"/>
            <a:ext cx="2651299" cy="794646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sz="1600" dirty="0">
                <a:solidFill>
                  <a:srgbClr val="FFFF00"/>
                </a:solidFill>
              </a:rPr>
              <a:t>If first value is omitted, the slice will begin at the </a:t>
            </a:r>
            <a:r>
              <a:rPr lang="en-US" sz="1600" b="1" dirty="0">
                <a:solidFill>
                  <a:srgbClr val="FFFF00"/>
                </a:solidFill>
              </a:rPr>
              <a:t>start of the list.</a:t>
            </a:r>
            <a:br>
              <a:rPr lang="en-US" sz="1600" dirty="0">
                <a:solidFill>
                  <a:srgbClr val="FFFF00"/>
                </a:solidFill>
              </a:rPr>
            </a:b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7" name="Line Callout 1 (Accent Bar) 12">
            <a:extLst>
              <a:ext uri="{FF2B5EF4-FFF2-40B4-BE49-F238E27FC236}">
                <a16:creationId xmlns:a16="http://schemas.microsoft.com/office/drawing/2014/main" id="{F951E656-A36E-46D7-8BC5-86E7A3D46192}"/>
              </a:ext>
            </a:extLst>
          </p:cNvPr>
          <p:cNvSpPr/>
          <p:nvPr/>
        </p:nvSpPr>
        <p:spPr>
          <a:xfrm>
            <a:off x="2374161" y="4888009"/>
            <a:ext cx="176317" cy="278241"/>
          </a:xfrm>
          <a:prstGeom prst="accentCallout1">
            <a:avLst>
              <a:gd name="adj1" fmla="val 105331"/>
              <a:gd name="adj2" fmla="val -5105"/>
              <a:gd name="adj3" fmla="val 194128"/>
              <a:gd name="adj4" fmla="val 126540"/>
            </a:avLst>
          </a:prstGeom>
          <a:solidFill>
            <a:srgbClr val="FFFF00">
              <a:alpha val="32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85A2490-4541-4831-92A0-E909448B3875}"/>
              </a:ext>
            </a:extLst>
          </p:cNvPr>
          <p:cNvSpPr txBox="1">
            <a:spLocks/>
          </p:cNvSpPr>
          <p:nvPr/>
        </p:nvSpPr>
        <p:spPr>
          <a:xfrm>
            <a:off x="2144532" y="5430086"/>
            <a:ext cx="2394663" cy="6918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sz="1200" dirty="0">
                <a:solidFill>
                  <a:srgbClr val="FFFF00"/>
                </a:solidFill>
              </a:rPr>
              <a:t>If second value is omitted, the slice will go up to (and include) </a:t>
            </a:r>
            <a:r>
              <a:rPr lang="en-US" sz="1200" b="1" dirty="0">
                <a:solidFill>
                  <a:srgbClr val="FFFF00"/>
                </a:solidFill>
              </a:rPr>
              <a:t>the last list element.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8C1485C-D533-CD8B-9C96-F4267E0F6A0B}"/>
              </a:ext>
            </a:extLst>
          </p:cNvPr>
          <p:cNvSpPr txBox="1">
            <a:spLocks/>
          </p:cNvSpPr>
          <p:nvPr/>
        </p:nvSpPr>
        <p:spPr>
          <a:xfrm>
            <a:off x="2144533" y="1479065"/>
            <a:ext cx="3604295" cy="2585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CA" sz="1050" dirty="0">
                <a:solidFill>
                  <a:srgbClr val="FFFF00"/>
                </a:solidFill>
              </a:rPr>
              <a:t>0           1           2                  3                       4               5</a:t>
            </a:r>
            <a:endParaRPr lang="en-US" sz="1050" dirty="0">
              <a:solidFill>
                <a:srgbClr val="FFFF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455205-4C64-00B7-A4D4-AC96F4DE4ADC}"/>
              </a:ext>
            </a:extLst>
          </p:cNvPr>
          <p:cNvSpPr txBox="1"/>
          <p:nvPr/>
        </p:nvSpPr>
        <p:spPr>
          <a:xfrm>
            <a:off x="2653966" y="2231885"/>
            <a:ext cx="42019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CFFFF"/>
                </a:solidFill>
              </a:rPr>
              <a:t>Gives us:  [“f”, 99, “apple”]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080131-3D66-A0A2-D2C5-7F16F7388E32}"/>
              </a:ext>
            </a:extLst>
          </p:cNvPr>
          <p:cNvSpPr txBox="1"/>
          <p:nvPr/>
        </p:nvSpPr>
        <p:spPr>
          <a:xfrm>
            <a:off x="775277" y="2969746"/>
            <a:ext cx="17752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my_list</a:t>
            </a:r>
            <a:r>
              <a:rPr lang="en-US" sz="2000" dirty="0"/>
              <a:t>[-4:-1]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00423D-D3DB-4A27-1105-1955148C6CCE}"/>
              </a:ext>
            </a:extLst>
          </p:cNvPr>
          <p:cNvSpPr txBox="1"/>
          <p:nvPr/>
        </p:nvSpPr>
        <p:spPr>
          <a:xfrm>
            <a:off x="2781080" y="2960298"/>
            <a:ext cx="42019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CFFFF"/>
                </a:solidFill>
              </a:rPr>
              <a:t>Gives us:  [99, “apple”, True]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EEA29C38-E19A-6705-BC5E-EB1D4841DFCA}"/>
              </a:ext>
            </a:extLst>
          </p:cNvPr>
          <p:cNvSpPr txBox="1">
            <a:spLocks/>
          </p:cNvSpPr>
          <p:nvPr/>
        </p:nvSpPr>
        <p:spPr>
          <a:xfrm>
            <a:off x="2111728" y="1673109"/>
            <a:ext cx="3604295" cy="2585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CA" sz="105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-6          -5          -4                 -3                      -2              -1</a:t>
            </a:r>
            <a:endParaRPr lang="en-US" sz="105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D66ECA-7D21-CED6-1E53-80457951F48C}"/>
              </a:ext>
            </a:extLst>
          </p:cNvPr>
          <p:cNvSpPr txBox="1"/>
          <p:nvPr/>
        </p:nvSpPr>
        <p:spPr>
          <a:xfrm>
            <a:off x="775276" y="3662859"/>
            <a:ext cx="17752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my_list</a:t>
            </a:r>
            <a:r>
              <a:rPr lang="en-US" sz="2000" dirty="0"/>
              <a:t>[:2]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0BC7A1-20A8-9BC5-72A4-48277BB5424E}"/>
              </a:ext>
            </a:extLst>
          </p:cNvPr>
          <p:cNvSpPr txBox="1"/>
          <p:nvPr/>
        </p:nvSpPr>
        <p:spPr>
          <a:xfrm>
            <a:off x="2781080" y="3636853"/>
            <a:ext cx="30169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CFFFF"/>
                </a:solidFill>
              </a:rPr>
              <a:t>Gives us:  [“a”, “f”]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A6C77B-8761-BFD2-443A-E1817E3D63D4}"/>
              </a:ext>
            </a:extLst>
          </p:cNvPr>
          <p:cNvSpPr txBox="1"/>
          <p:nvPr/>
        </p:nvSpPr>
        <p:spPr>
          <a:xfrm>
            <a:off x="1267631" y="4822389"/>
            <a:ext cx="17752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my_list</a:t>
            </a:r>
            <a:r>
              <a:rPr lang="en-US" sz="2000" dirty="0"/>
              <a:t>[4:]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E4D755-CF02-4A9B-91CB-F37F30C24909}"/>
              </a:ext>
            </a:extLst>
          </p:cNvPr>
          <p:cNvSpPr txBox="1"/>
          <p:nvPr/>
        </p:nvSpPr>
        <p:spPr>
          <a:xfrm>
            <a:off x="3137899" y="4765381"/>
            <a:ext cx="30169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CFFFF"/>
                </a:solidFill>
              </a:rPr>
              <a:t>Gives us:  [True, “c”]</a:t>
            </a:r>
          </a:p>
        </p:txBody>
      </p:sp>
    </p:spTree>
    <p:extLst>
      <p:ext uri="{BB962C8B-B14F-4D97-AF65-F5344CB8AC3E}">
        <p14:creationId xmlns:p14="http://schemas.microsoft.com/office/powerpoint/2010/main" val="1876088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7" grpId="0" animBg="1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Orange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4894</TotalTime>
  <Words>951</Words>
  <Application>Microsoft Office PowerPoint</Application>
  <PresentationFormat>Widescreen</PresentationFormat>
  <Paragraphs>96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Ion</vt:lpstr>
      <vt:lpstr>Computer Science 20</vt:lpstr>
      <vt:lpstr>Variables</vt:lpstr>
      <vt:lpstr>The Need for More</vt:lpstr>
      <vt:lpstr>Compound Data Structures</vt:lpstr>
      <vt:lpstr>Accessing Elements</vt:lpstr>
      <vt:lpstr>Adding Elements</vt:lpstr>
      <vt:lpstr>Removing Elements</vt:lpstr>
      <vt:lpstr>List Exercise</vt:lpstr>
      <vt:lpstr>Slicing</vt:lpstr>
      <vt:lpstr>Slicing</vt:lpstr>
    </vt:vector>
  </TitlesOfParts>
  <Company>Saskatoon Public Schools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Science 20</dc:title>
  <dc:creator>Scott, Stefan Graham (Stefan)</dc:creator>
  <cp:lastModifiedBy>Scott, Stefan</cp:lastModifiedBy>
  <cp:revision>119</cp:revision>
  <dcterms:created xsi:type="dcterms:W3CDTF">2016-08-31T14:32:10Z</dcterms:created>
  <dcterms:modified xsi:type="dcterms:W3CDTF">2023-12-07T16:39:21Z</dcterms:modified>
</cp:coreProperties>
</file>