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876bdd8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876bdd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Liken workflow patterns to ‘common practices’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eaaabd4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4eaaabd47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eaaabd47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‘centralizing’</a:t>
            </a:r>
            <a:endParaRPr/>
          </a:p>
        </p:txBody>
      </p:sp>
      <p:sp>
        <p:nvSpPr>
          <p:cNvPr id="106" name="Google Shape;106;g4eaaabd475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eaaabd47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4eaaabd475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4eaaabd47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Since scripts can run concurrently, it can be tricky to verify what code is happening when. Race condition...</a:t>
            </a:r>
            <a:endParaRPr/>
          </a:p>
        </p:txBody>
      </p:sp>
      <p:sp>
        <p:nvSpPr>
          <p:cNvPr id="124" name="Google Shape;124;g4eaaabd475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dd4feb5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Control Flow Demo - using broadcasts to allow the program to be repeated based on user choice...mimic the type of pvp cvc in RPS.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Have we shown the backpack yet?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134" name="Google Shape;134;g4dd4feb513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eaaabd47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4eaaabd475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eaaabd47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4eaaabd475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eaaabd47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4eaaabd475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eaaabd47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Stop here to demonstrate creating a function block for Gauss’ sum of a series.</a:t>
            </a:r>
            <a:endParaRPr/>
          </a:p>
        </p:txBody>
      </p:sp>
      <p:sp>
        <p:nvSpPr>
          <p:cNvPr id="189" name="Google Shape;189;g4eaaabd475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c1ccb97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Spirographs - use pattern of regular polygon to generate a function block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198" name="Google Shape;198;g4c1ccb978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d4feb51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Clones Demo - raincatcher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Show the situation where clones make clones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Better process - one hidden sprite to spawn all clones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203" name="Google Shape;203;g4dd4feb51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7484" y="1539688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Patterns</a:t>
            </a:r>
            <a:r>
              <a:rPr lang="en-GB"/>
              <a:t> and </a:t>
            </a:r>
            <a:r>
              <a:rPr lang="en-GB">
                <a:solidFill>
                  <a:schemeClr val="dk1"/>
                </a:solidFill>
              </a:rPr>
              <a:t>Pattern Recognition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0" y="483575"/>
            <a:ext cx="2358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Computer Science </a:t>
            </a:r>
            <a:r>
              <a:rPr lang="en-GB" sz="900">
                <a:solidFill>
                  <a:schemeClr val="dk1"/>
                </a:solidFill>
              </a:rPr>
              <a:t>Coding and Robotics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29450" y="2292000"/>
            <a:ext cx="7125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When working on increasingly complex programs, there are some useful workflow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patterns 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that we can use to </a:t>
            </a:r>
            <a:r>
              <a:rPr i="1" lang="en-GB">
                <a:latin typeface="Lato"/>
                <a:ea typeface="Lato"/>
                <a:cs typeface="Lato"/>
                <a:sym typeface="Lato"/>
              </a:rPr>
              <a:t>increase efficiency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and </a:t>
            </a:r>
            <a:r>
              <a:rPr i="1" lang="en-GB">
                <a:latin typeface="Lato"/>
                <a:ea typeface="Lato"/>
                <a:cs typeface="Lato"/>
                <a:sym typeface="Lato"/>
              </a:rPr>
              <a:t>improve correctness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latin typeface="Lato"/>
                <a:ea typeface="Lato"/>
                <a:cs typeface="Lato"/>
                <a:sym typeface="Lato"/>
              </a:rPr>
            </a:br>
            <a:r>
              <a:rPr lang="en-GB">
                <a:latin typeface="Lato"/>
                <a:ea typeface="Lato"/>
                <a:cs typeface="Lato"/>
                <a:sym typeface="Lato"/>
              </a:rPr>
              <a:t>One area of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Computational Thinking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that is incredibly useful for solving problems is </a:t>
            </a:r>
            <a:r>
              <a:rPr b="1" lang="en-GB">
                <a:latin typeface="Lato"/>
                <a:ea typeface="Lato"/>
                <a:cs typeface="Lato"/>
                <a:sym typeface="Lato"/>
              </a:rPr>
              <a:t>pattern recognition.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Workflow Patterns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868575" y="1228125"/>
            <a:ext cx="6899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programs grow in </a:t>
            </a:r>
            <a:r>
              <a:rPr b="1" lang="en-GB"/>
              <a:t>scale </a:t>
            </a:r>
            <a:r>
              <a:rPr lang="en-GB"/>
              <a:t>and </a:t>
            </a:r>
            <a:r>
              <a:rPr b="1" lang="en-GB"/>
              <a:t>complexity,</a:t>
            </a:r>
            <a:r>
              <a:rPr lang="en-GB"/>
              <a:t> it becomes difficult to remember all the details.</a:t>
            </a:r>
            <a:br>
              <a:rPr lang="en-GB"/>
            </a:br>
            <a:endParaRPr/>
          </a:p>
          <a:p>
            <a:pPr indent="0" lvl="0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Commenting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868575" y="1735425"/>
            <a:ext cx="68997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address this, we add </a:t>
            </a:r>
            <a:r>
              <a:rPr b="1" lang="en-GB"/>
              <a:t>comments</a:t>
            </a:r>
            <a:r>
              <a:rPr lang="en-GB"/>
              <a:t> into our programs.</a:t>
            </a:r>
            <a:br>
              <a:rPr lang="en-GB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These are notes to ourselves (or others) that we leave throughout the code</a:t>
            </a:r>
            <a:br>
              <a:rPr lang="en-GB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Comments are only for humans; the computer will ignore them</a:t>
            </a:r>
            <a:br>
              <a:rPr lang="en-GB"/>
            </a:br>
            <a:endParaRPr/>
          </a:p>
          <a:p>
            <a:pPr indent="0" lvl="0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350" y="2895075"/>
            <a:ext cx="5094104" cy="23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Workflow Patterns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868575" y="1228125"/>
            <a:ext cx="6899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instructions in our code apply to the </a:t>
            </a:r>
            <a:r>
              <a:rPr i="1" lang="en-GB"/>
              <a:t>whole program</a:t>
            </a:r>
            <a:r>
              <a:rPr lang="en-GB"/>
              <a:t> rather than a specific sprite.</a:t>
            </a:r>
            <a:br>
              <a:rPr lang="en-GB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Play background music while the program is running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If the timer runs out, stop the program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If a certain score is reached, signal the winning screen</a:t>
            </a:r>
            <a:endParaRPr/>
          </a:p>
          <a:p>
            <a:pPr indent="0" lvl="0" marL="55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Code Organization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844975" y="2661475"/>
            <a:ext cx="64515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these instances, build these scripts for the </a:t>
            </a:r>
            <a:r>
              <a:rPr b="1" lang="en-GB"/>
              <a:t>stage</a:t>
            </a:r>
            <a:r>
              <a:rPr lang="en-GB"/>
              <a:t> rather than for a </a:t>
            </a:r>
            <a:r>
              <a:rPr b="1" lang="en-GB"/>
              <a:t>sprite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Click on the stage icon to make it active, and a scripts area will appear for it.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812" y="3653975"/>
            <a:ext cx="688888" cy="13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171" y="3653971"/>
            <a:ext cx="2189825" cy="13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Workflow Patterns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868575" y="1228125"/>
            <a:ext cx="7082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Ensuring that a program works correctly is difficult. An important part of this process is </a:t>
            </a:r>
            <a:r>
              <a:rPr b="1" lang="en-GB"/>
              <a:t>testing.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Testing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84575" y="1651600"/>
            <a:ext cx="7951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Think carefully about all the things your program is supposed to do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Individually test each one to verify it does actually work</a:t>
            </a:r>
            <a:b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Also as important is to think all the ways a user could possibly break your program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As the creator of the program, you know how to use your program properly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Think about all the potential mistakes a user to make, and how your program would react</a:t>
            </a:r>
            <a:b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Test often!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Be careful to test frequently. Each time you add a new script, spend some time testing before moving on to the next task.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the program no longer works the way you’d expect, it will help narrow down what scripts to look through for the problem.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Workflow Patterns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868575" y="1228125"/>
            <a:ext cx="70827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programs increase in scale, often these will be </a:t>
            </a:r>
            <a:r>
              <a:rPr b="1" lang="en-GB"/>
              <a:t>more sprites</a:t>
            </a:r>
            <a:r>
              <a:rPr lang="en-GB"/>
              <a:t> and coordinating them all can become a major challenge.</a:t>
            </a:r>
            <a:br>
              <a:rPr lang="en-GB"/>
            </a:b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Control Flow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871500" y="2861050"/>
            <a:ext cx="74010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</a:t>
            </a:r>
            <a:r>
              <a:rPr b="1" lang="en-GB"/>
              <a:t>Broadcasts</a:t>
            </a:r>
            <a:r>
              <a:rPr lang="en-GB"/>
              <a:t> effectively is a very powerful way to control </a:t>
            </a:r>
            <a:r>
              <a:rPr i="1" lang="en-GB"/>
              <a:t>what scripts happen, and when!</a:t>
            </a:r>
            <a:endParaRPr i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300" y="3097127"/>
            <a:ext cx="6860624" cy="19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773475" y="1735750"/>
            <a:ext cx="7272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the level or scene changes, how do all the sprites know this change has occurred?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When the program is done, how do you stop all the sprites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you want to play again, can you restart the program without using the green flag?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84575" y="339544"/>
            <a:ext cx="7053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Pattern Identification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862675" y="2248550"/>
            <a:ext cx="70827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Solving one problem is good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Solving all types of similar problem is better!</a:t>
            </a:r>
            <a:br>
              <a:rPr lang="en-GB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Generalization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862675" y="3309050"/>
            <a:ext cx="71712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skill of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Identifying Patterns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in a problem can allow us to find relationships between similar problems, and often create a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general solution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that can be reused in different contexts.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862675" y="1731200"/>
            <a:ext cx="70134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One of the main goals of this course is to look at different ways to solve problems.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4387525" y="4419625"/>
            <a:ext cx="2660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sum 	    =	100 * 101   →  5050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          2</a:t>
            </a:r>
            <a:endParaRPr/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484575" y="339544"/>
            <a:ext cx="7053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Pattern Identification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868575" y="1228125"/>
            <a:ext cx="70827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Story of Carl Friedrich Gauss, asked as a child to sum up the values from 1 to 100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/>
              <a:t>Solved it very quickly: 5050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Generalization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868575" y="2147975"/>
            <a:ext cx="7082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Scratch was around, it would have helped:</a:t>
            </a:r>
            <a:endParaRPr/>
          </a:p>
        </p:txBody>
      </p:sp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025" y="1629550"/>
            <a:ext cx="1575900" cy="15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868575" y="2855175"/>
            <a:ext cx="7082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instead, Gauss saw a pattern: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57" name="Google Shape;157;p21"/>
          <p:cNvCxnSpPr/>
          <p:nvPr/>
        </p:nvCxnSpPr>
        <p:spPr>
          <a:xfrm>
            <a:off x="5402550" y="4707003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844981" y="3781562"/>
            <a:ext cx="70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1"/>
          <p:cNvSpPr txBox="1"/>
          <p:nvPr/>
        </p:nvSpPr>
        <p:spPr>
          <a:xfrm>
            <a:off x="925100" y="3224025"/>
            <a:ext cx="76512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sum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	   =	1 	+	2 	+	3 	+ 	…	+ 	98	+ 	99 	+	100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sum	   =	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100	+	99	+	98	+ 	…	+	3	+	2	+	1	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925100" y="3899225"/>
            <a:ext cx="80406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2*sum   =	101	+	101	+	101	+	…	+	101	+	101	+	101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1615225" y="4419625"/>
            <a:ext cx="27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2*sum    =	100 * 101 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3058400" y="3550900"/>
            <a:ext cx="2489100" cy="99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4600825" y="2312228"/>
            <a:ext cx="312600" cy="232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4128950" y="2306325"/>
            <a:ext cx="348000" cy="232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3160628" y="2315956"/>
            <a:ext cx="348000" cy="232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2711397" y="2251250"/>
            <a:ext cx="3108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sum (100)	    =	100 * 101  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                       2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1411225" y="3043625"/>
            <a:ext cx="1372800" cy="619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 txBox="1"/>
          <p:nvPr>
            <p:ph type="title"/>
          </p:nvPr>
        </p:nvSpPr>
        <p:spPr>
          <a:xfrm>
            <a:off x="484575" y="339544"/>
            <a:ext cx="7053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A Second Pattern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68575" y="1228125"/>
            <a:ext cx="70827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Gauss’ solution was great for that one problem (sum 1 to 100), but in fact there was another pattern that could be observed to allow the solution to be </a:t>
            </a:r>
            <a:r>
              <a:rPr b="1" lang="en-GB"/>
              <a:t>generalized.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Generalization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5" name="Google Shape;175;p22"/>
          <p:cNvCxnSpPr/>
          <p:nvPr/>
        </p:nvCxnSpPr>
        <p:spPr>
          <a:xfrm>
            <a:off x="4174497" y="2538628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2"/>
          <p:cNvSpPr txBox="1"/>
          <p:nvPr/>
        </p:nvSpPr>
        <p:spPr>
          <a:xfrm>
            <a:off x="3266325" y="3811125"/>
            <a:ext cx="2860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um (n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       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	         n (n+1)  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	               2</a:t>
            </a:r>
            <a:endParaRPr/>
          </a:p>
        </p:txBody>
      </p:sp>
      <p:cxnSp>
        <p:nvCxnSpPr>
          <p:cNvPr id="177" name="Google Shape;177;p22"/>
          <p:cNvCxnSpPr/>
          <p:nvPr/>
        </p:nvCxnSpPr>
        <p:spPr>
          <a:xfrm>
            <a:off x="4481700" y="4098503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2"/>
          <p:cNvCxnSpPr>
            <a:stCxn id="169" idx="2"/>
            <a:endCxn id="171" idx="0"/>
          </p:cNvCxnSpPr>
          <p:nvPr/>
        </p:nvCxnSpPr>
        <p:spPr>
          <a:xfrm flipH="1">
            <a:off x="2097728" y="2548156"/>
            <a:ext cx="1236900" cy="4956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2"/>
          <p:cNvCxnSpPr>
            <a:stCxn id="168" idx="1"/>
            <a:endCxn id="171" idx="0"/>
          </p:cNvCxnSpPr>
          <p:nvPr/>
        </p:nvCxnSpPr>
        <p:spPr>
          <a:xfrm flipH="1">
            <a:off x="2097650" y="2422425"/>
            <a:ext cx="2031300" cy="6213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2"/>
          <p:cNvSpPr txBox="1"/>
          <p:nvPr/>
        </p:nvSpPr>
        <p:spPr>
          <a:xfrm>
            <a:off x="1411225" y="3014075"/>
            <a:ext cx="1372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Lato"/>
                <a:ea typeface="Lato"/>
                <a:cs typeface="Lato"/>
                <a:sym typeface="Lato"/>
              </a:rPr>
              <a:t>These values are connected! </a:t>
            </a:r>
            <a:r>
              <a:rPr i="1" lang="en-GB" sz="1000">
                <a:latin typeface="Lato"/>
                <a:ea typeface="Lato"/>
                <a:cs typeface="Lato"/>
                <a:sym typeface="Lato"/>
              </a:rPr>
              <a:t>(number of items to sum)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1" name="Google Shape;181;p22"/>
          <p:cNvCxnSpPr>
            <a:stCxn id="167" idx="3"/>
            <a:endCxn id="182" idx="0"/>
          </p:cNvCxnSpPr>
          <p:nvPr/>
        </p:nvCxnSpPr>
        <p:spPr>
          <a:xfrm>
            <a:off x="4913425" y="2428328"/>
            <a:ext cx="1716000" cy="231000"/>
          </a:xfrm>
          <a:prstGeom prst="straightConnector1">
            <a:avLst/>
          </a:prstGeom>
          <a:noFill/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2"/>
          <p:cNvSpPr/>
          <p:nvPr/>
        </p:nvSpPr>
        <p:spPr>
          <a:xfrm>
            <a:off x="5927025" y="2659268"/>
            <a:ext cx="1404900" cy="744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943075" y="2692125"/>
            <a:ext cx="1372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Lato"/>
                <a:ea typeface="Lato"/>
                <a:cs typeface="Lato"/>
                <a:sym typeface="Lato"/>
              </a:rPr>
              <a:t>Value of item to sum will be one more than </a:t>
            </a:r>
            <a:r>
              <a:rPr i="1" lang="en-GB" sz="1000">
                <a:latin typeface="Lato"/>
                <a:ea typeface="Lato"/>
                <a:cs typeface="Lato"/>
                <a:sym typeface="Lato"/>
              </a:rPr>
              <a:t>the number of items</a:t>
            </a:r>
            <a:endParaRPr i="1" sz="10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" name="Google Shape;184;p22"/>
          <p:cNvCxnSpPr/>
          <p:nvPr/>
        </p:nvCxnSpPr>
        <p:spPr>
          <a:xfrm>
            <a:off x="7609075" y="3138725"/>
            <a:ext cx="1301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2"/>
          <p:cNvSpPr txBox="1"/>
          <p:nvPr/>
        </p:nvSpPr>
        <p:spPr>
          <a:xfrm>
            <a:off x="7576625" y="2581200"/>
            <a:ext cx="20151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1 	+	2 </a:t>
            </a:r>
            <a:endParaRPr sz="1300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100	+	99	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7576625" y="3138725"/>
            <a:ext cx="17724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101	+	101	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484575" y="339544"/>
            <a:ext cx="7053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Creating Reusable Solutions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80350" y="1410975"/>
            <a:ext cx="70827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previous example was a mathematics problem, but the idea of </a:t>
            </a:r>
            <a:r>
              <a:rPr b="1" lang="en-GB"/>
              <a:t>generalization</a:t>
            </a:r>
            <a:r>
              <a:rPr lang="en-GB"/>
              <a:t> can be applied in all sorts of problem domains.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Generalized solutions are typically created as </a:t>
            </a:r>
            <a:r>
              <a:rPr b="1" lang="en-GB"/>
              <a:t>functions.</a:t>
            </a:r>
            <a:r>
              <a:rPr lang="en-GB"/>
              <a:t> In Scratch, we can implement functions with </a:t>
            </a:r>
            <a:r>
              <a:rPr b="1" lang="en-GB"/>
              <a:t>M</a:t>
            </a:r>
            <a:r>
              <a:rPr b="1" lang="en-GB"/>
              <a:t>y Blocks.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484575" y="679250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Functions</a:t>
            </a:r>
            <a:r>
              <a:rPr b="1" lang="en-GB" sz="12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125" y="2983625"/>
            <a:ext cx="2230600" cy="8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100" y="2571750"/>
            <a:ext cx="4359200" cy="19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